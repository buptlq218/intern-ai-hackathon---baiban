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6" r:id="rId3"/>
    <p:sldId id="258" r:id="rId4"/>
    <p:sldId id="260" r:id="rId5"/>
    <p:sldId id="265" r:id="rId6"/>
    <p:sldId id="261" r:id="rId7"/>
    <p:sldId id="262" r:id="rId8"/>
    <p:sldId id="263" r:id="rId9"/>
    <p:sldId id="264" r:id="rId10"/>
    <p:sldId id="266" r:id="rId1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39"/>
    <p:restoredTop sz="94667"/>
  </p:normalViewPr>
  <p:slideViewPr>
    <p:cSldViewPr snapToGrid="0">
      <p:cViewPr>
        <p:scale>
          <a:sx n="119" d="100"/>
          <a:sy n="119" d="100"/>
        </p:scale>
        <p:origin x="-8" y="2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44C8CD-23DF-F14B-AD98-0511B6257393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28134-2B02-8D4A-8AEF-A733AA1A5452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5973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1F9876A-B6C6-8D81-508F-7772BEED0B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2B03D5C-C7A0-990B-17A8-51701CD36B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2CB989F-7244-E2C1-07BF-7EAC3DCA8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249B-A3A3-5242-A075-0232862DE362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FB1B50-38D2-6CA8-B995-87958117E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ABE7CB2-F0E8-F1FD-9DAC-CD4DD9ED9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7EE8-51FB-4341-92C8-0F2C5B5AA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33088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0246EAC-06B4-8607-2B16-F9DD1F49A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AE6839F-E510-05D8-2492-92F0A11959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B9C0ABA-8CCF-82CF-707E-CE37B753F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249B-A3A3-5242-A075-0232862DE362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535BC4B-F43E-DBA8-5641-7C211BBAD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E4E0DA-7656-E56C-4BE4-CE7D377FDD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7EE8-51FB-4341-92C8-0F2C5B5AA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77959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76E2ED-B9F0-4D99-9E6E-D089A8D8D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B06B91-575C-6B20-C67A-66CD4CB5C1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B05C51A-76FF-2140-52A3-AA1BEF28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249B-A3A3-5242-A075-0232862DE362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29D939D-3984-20F3-1A27-E14A1804A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9EF927-4456-61A9-310A-4195E011A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7EE8-51FB-4341-92C8-0F2C5B5AA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2373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AE326A-E833-50C3-C5E6-239274696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5356AC2-03C8-4928-6004-459B378551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6A799D0-C6DC-5FA4-EDC4-D1AE2BB6DF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778B71B-3168-A366-646E-FCAE5183CC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249B-A3A3-5242-A075-0232862DE362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F34D72A-84BD-D325-0E3C-1E33AC4D8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CD1FD1-35F7-F588-F6F9-179EE8323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7EE8-51FB-4341-92C8-0F2C5B5AA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11972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8B47F8B-3555-972F-4E14-84BD85AD9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4C4AB34-CCB6-859C-A5FD-15FE931142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18A3D3-A26D-6DE3-EFF3-543EBBA16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D164F5B-B3D6-7051-D6FC-41C77407BC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6AAEFDA-3720-CBF4-82AF-E1E68E2B9A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AFA66C1-BA57-0062-1115-AB7DC1D84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249B-A3A3-5242-A075-0232862DE362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B9CD4FF-FF9A-5022-44A3-E369D18C92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90908A9-6111-A551-B311-0115CF89D8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7EE8-51FB-4341-92C8-0F2C5B5AA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575571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30EA70-A862-9185-C49E-D9B4EF40C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CBBB1EC-641F-0613-CF70-8291401EFC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249B-A3A3-5242-A075-0232862DE362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D361A26-009D-B94A-A801-1FDEF2D53B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3A457E1-DE5A-DB9B-E590-AAAC606F7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7EE8-51FB-4341-92C8-0F2C5B5AA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672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74DB119-8AD3-0A75-1059-CA691F6A7F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249B-A3A3-5242-A075-0232862DE362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6C019BF-DFED-D5D5-FAD7-16029EAB4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25569955-F83A-F7E8-5DF0-6FCB501E65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7EE8-51FB-4341-92C8-0F2C5B5AA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228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E81DE8-222E-407C-B076-5B49372DE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5B265-B27A-9366-62A4-A8A28D5E1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D6DF435-3B18-6ECE-A8B4-DDEB240D6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EE6776-B610-151D-7155-ABCE21C89B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249B-A3A3-5242-A075-0232862DE362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C111269-A27C-29DD-C88A-B31D5358D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8C5B2E2-82BE-B25B-AB89-147D8F178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7EE8-51FB-4341-92C8-0F2C5B5AA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5424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702F17-7CC2-9F9A-9FA3-77CC59922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2E95EBC-AC5D-A881-1314-5F329D8351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4FF6EC-8085-2C5E-7253-50F447883E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25C7985-D896-0ED7-64A7-4D1A5B8E45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249B-A3A3-5242-A075-0232862DE362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0DF19BC-F347-0536-5619-661F66899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99145B8-0F4D-02B7-ADDE-C3D6062774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7EE8-51FB-4341-92C8-0F2C5B5AA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5120777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64CE3B-8127-703B-00C4-295708C70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53051CB-7206-2D48-31AC-8CDB53EAF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FF2FF8-74BA-C617-FCE2-2AE8ED8B24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249B-A3A3-5242-A075-0232862DE362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071EB3D-5F72-C34F-4871-08FD3B761B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CA07800-D519-82C4-1B2E-CA200AFA9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7EE8-51FB-4341-92C8-0F2C5B5AA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52925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6C3DB62-319A-16A9-6A70-41EB7D3382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E6B49A9-FE5C-AEF0-8B9E-CDD75321E1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E67345-CFB3-C832-4C12-A3F1AC9F4E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9C249B-A3A3-5242-A075-0232862DE362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B17C97B-4358-CBB4-2EC7-8A06D65FD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7DE5185-9A44-B23C-DB14-B17614445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7C7EE8-51FB-4341-92C8-0F2C5B5AA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11322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VER_IVORY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544151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_IVORY">
    <p:bg>
      <p:bgPr>
        <a:solidFill>
          <a:srgbClr val="FCFA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73237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A9032C-BE34-8C77-7DED-C7477E6220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4F7CAF6-9A76-902C-EDFA-EEB28F343B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491BA41-5FC6-195A-D92C-9B6D5652280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B9C249B-A3A3-5242-A075-0232862DE362}" type="datetimeFigureOut">
              <a:rPr kumimoji="1" lang="zh-CN" altLang="en-US" smtClean="0"/>
              <a:t>2026/7/23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8D32A6A-19F9-CBEA-A269-B0611445FF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F681196-6921-BDB8-EFF2-DF2CE83BFF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07C7EE8-51FB-4341-92C8-0F2C5B5AAB6C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01111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13" Type="http://schemas.openxmlformats.org/officeDocument/2006/relationships/image" Target="../media/image19.png"/><Relationship Id="rId18" Type="http://schemas.openxmlformats.org/officeDocument/2006/relationships/image" Target="../media/image24.svg"/><Relationship Id="rId26" Type="http://schemas.openxmlformats.org/officeDocument/2006/relationships/image" Target="../media/image30.svg"/><Relationship Id="rId3" Type="http://schemas.openxmlformats.org/officeDocument/2006/relationships/image" Target="../media/image9.png"/><Relationship Id="rId21" Type="http://schemas.openxmlformats.org/officeDocument/2006/relationships/image" Target="../media/image25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17" Type="http://schemas.openxmlformats.org/officeDocument/2006/relationships/image" Target="../media/image23.png"/><Relationship Id="rId25" Type="http://schemas.openxmlformats.org/officeDocument/2006/relationships/image" Target="../media/image29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22.svg"/><Relationship Id="rId20" Type="http://schemas.openxmlformats.org/officeDocument/2006/relationships/image" Target="../media/image8.svg"/><Relationship Id="rId29" Type="http://schemas.openxmlformats.org/officeDocument/2006/relationships/image" Target="../media/image3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24" Type="http://schemas.openxmlformats.org/officeDocument/2006/relationships/image" Target="../media/image28.svg"/><Relationship Id="rId5" Type="http://schemas.openxmlformats.org/officeDocument/2006/relationships/image" Target="../media/image11.png"/><Relationship Id="rId15" Type="http://schemas.openxmlformats.org/officeDocument/2006/relationships/image" Target="../media/image21.png"/><Relationship Id="rId23" Type="http://schemas.openxmlformats.org/officeDocument/2006/relationships/image" Target="../media/image27.png"/><Relationship Id="rId28" Type="http://schemas.openxmlformats.org/officeDocument/2006/relationships/image" Target="../media/image32.svg"/><Relationship Id="rId10" Type="http://schemas.openxmlformats.org/officeDocument/2006/relationships/image" Target="../media/image16.svg"/><Relationship Id="rId19" Type="http://schemas.openxmlformats.org/officeDocument/2006/relationships/image" Target="../media/image7.png"/><Relationship Id="rId4" Type="http://schemas.openxmlformats.org/officeDocument/2006/relationships/image" Target="../media/image10.svg"/><Relationship Id="rId9" Type="http://schemas.openxmlformats.org/officeDocument/2006/relationships/image" Target="../media/image15.png"/><Relationship Id="rId14" Type="http://schemas.openxmlformats.org/officeDocument/2006/relationships/image" Target="../media/image20.svg"/><Relationship Id="rId22" Type="http://schemas.openxmlformats.org/officeDocument/2006/relationships/image" Target="../media/image26.svg"/><Relationship Id="rId27" Type="http://schemas.openxmlformats.org/officeDocument/2006/relationships/image" Target="../media/image31.png"/><Relationship Id="rId30" Type="http://schemas.openxmlformats.org/officeDocument/2006/relationships/image" Target="../media/image34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svg"/><Relationship Id="rId3" Type="http://schemas.openxmlformats.org/officeDocument/2006/relationships/image" Target="../media/image35.png"/><Relationship Id="rId7" Type="http://schemas.openxmlformats.org/officeDocument/2006/relationships/image" Target="../media/image37.png"/><Relationship Id="rId12" Type="http://schemas.openxmlformats.org/officeDocument/2006/relationships/image" Target="../media/image42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0.svg"/><Relationship Id="rId11" Type="http://schemas.openxmlformats.org/officeDocument/2006/relationships/image" Target="../media/image41.png"/><Relationship Id="rId5" Type="http://schemas.openxmlformats.org/officeDocument/2006/relationships/image" Target="../media/image19.png"/><Relationship Id="rId10" Type="http://schemas.openxmlformats.org/officeDocument/2006/relationships/image" Target="../media/image40.svg"/><Relationship Id="rId4" Type="http://schemas.openxmlformats.org/officeDocument/2006/relationships/image" Target="../media/image36.svg"/><Relationship Id="rId9" Type="http://schemas.openxmlformats.org/officeDocument/2006/relationships/image" Target="../media/image3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13" Type="http://schemas.openxmlformats.org/officeDocument/2006/relationships/image" Target="../media/image53.png"/><Relationship Id="rId18" Type="http://schemas.openxmlformats.org/officeDocument/2006/relationships/image" Target="../media/image58.png"/><Relationship Id="rId3" Type="http://schemas.openxmlformats.org/officeDocument/2006/relationships/image" Target="../media/image43.png"/><Relationship Id="rId7" Type="http://schemas.openxmlformats.org/officeDocument/2006/relationships/image" Target="../media/image47.png"/><Relationship Id="rId12" Type="http://schemas.openxmlformats.org/officeDocument/2006/relationships/image" Target="../media/image52.png"/><Relationship Id="rId17" Type="http://schemas.openxmlformats.org/officeDocument/2006/relationships/image" Target="../media/image5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5" Type="http://schemas.openxmlformats.org/officeDocument/2006/relationships/image" Target="../media/image55.png"/><Relationship Id="rId10" Type="http://schemas.openxmlformats.org/officeDocument/2006/relationships/image" Target="../media/image50.png"/><Relationship Id="rId19" Type="http://schemas.openxmlformats.org/officeDocument/2006/relationships/image" Target="../media/image59.png"/><Relationship Id="rId4" Type="http://schemas.openxmlformats.org/officeDocument/2006/relationships/image" Target="../media/image44.png"/><Relationship Id="rId9" Type="http://schemas.openxmlformats.org/officeDocument/2006/relationships/image" Target="../media/image49.png"/><Relationship Id="rId14" Type="http://schemas.openxmlformats.org/officeDocument/2006/relationships/image" Target="../media/image5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5" Type="http://schemas.openxmlformats.org/officeDocument/2006/relationships/image" Target="../media/image7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Relationship Id="rId14" Type="http://schemas.openxmlformats.org/officeDocument/2006/relationships/image" Target="../media/image7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7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9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linqu/Desktop/毕业设计/outputs/中期答辩_CyberPPT_v1/assets/slide-01-technical-visu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723" y="276972"/>
            <a:ext cx="9420972" cy="629582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7471" y="1566916"/>
            <a:ext cx="582015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5000" b="1" kern="0" spc="55" dirty="0">
                <a:solidFill>
                  <a:srgbClr val="00152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基于分层强化学习的</a:t>
            </a:r>
            <a:endParaRPr lang="en-US" sz="50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Text 1"/>
          <p:cNvSpPr/>
          <p:nvPr/>
        </p:nvSpPr>
        <p:spPr>
          <a:xfrm>
            <a:off x="714786" y="2361804"/>
            <a:ext cx="7443216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820" b="1" kern="0" spc="25" dirty="0">
                <a:solidFill>
                  <a:srgbClr val="00152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FMCW雷达抗干扰策略优化</a:t>
            </a:r>
            <a:endParaRPr lang="en-US" sz="4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Shape 2"/>
          <p:cNvSpPr/>
          <p:nvPr/>
        </p:nvSpPr>
        <p:spPr>
          <a:xfrm>
            <a:off x="729417" y="3309031"/>
            <a:ext cx="437540" cy="51024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167232" y="3331159"/>
            <a:ext cx="6863944" cy="10973"/>
          </a:xfrm>
          <a:prstGeom prst="rect">
            <a:avLst/>
          </a:prstGeom>
          <a:solidFill>
            <a:srgbClr val="C9CDD1"/>
          </a:solidFill>
          <a:ln w="12700">
            <a:solidFill>
              <a:srgbClr val="C9CDD1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36732" y="3628979"/>
            <a:ext cx="2414199" cy="3643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2400" b="1" kern="0" spc="30" dirty="0" err="1">
                <a:solidFill>
                  <a:srgbClr val="12355B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毕业设计中期答辩</a:t>
            </a:r>
            <a:endParaRPr lang="en-US" sz="240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29417" y="4642500"/>
            <a:ext cx="153162" cy="153071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7869" y="4562307"/>
            <a:ext cx="1531620" cy="30614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0182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PingFang SC" pitchFamily="34" charset="-120"/>
              </a:rPr>
              <a:t>汇报人：林渠</a:t>
            </a:r>
            <a:endParaRPr lang="en-US" sz="1650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467076" y="6486296"/>
            <a:ext cx="11260836" cy="14539"/>
          </a:xfrm>
          <a:prstGeom prst="rect">
            <a:avLst/>
          </a:prstGeom>
          <a:solidFill>
            <a:srgbClr val="8DA3BA"/>
          </a:solidFill>
          <a:ln w="12700">
            <a:solidFill>
              <a:srgbClr val="8DA3BA">
                <a:alpha val="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74299" y="6464442"/>
            <a:ext cx="58339" cy="58339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1697919" y="6464442"/>
            <a:ext cx="65654" cy="58339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4309385" y="160336"/>
            <a:ext cx="3813551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kern="0" spc="25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基于分层强化学习的FMCW雷达抗干扰策略优化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11302110" y="153048"/>
            <a:ext cx="751043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研究背景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123959" y="437279"/>
            <a:ext cx="11951070" cy="145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08336" y="618165"/>
            <a:ext cx="9967732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320" b="1" kern="0" spc="5" dirty="0">
                <a:solidFill>
                  <a:srgbClr val="090B0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相干干扰使FMCW雷达面临“难识别、难适应、难实时”的复合挑战</a:t>
            </a:r>
            <a:endParaRPr lang="en-US" sz="23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522923" y="1099173"/>
            <a:ext cx="7160433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30" kern="0" spc="5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车载雷达密度上升后，相同调频斜率与PRI会产生形态接近真实目标的窄带干扰</a:t>
            </a:r>
            <a:endParaRPr lang="en-US" sz="143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9" name="Image 0" descr="多车FMCW雷达相干干扰道路场景，无文字复杂视觉资产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542" y="1515902"/>
            <a:ext cx="6730224" cy="424161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00001" y="1676238"/>
            <a:ext cx="1217709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07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干扰车A</a:t>
            </a:r>
            <a:endParaRPr lang="en-US" sz="10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8000"/>
              </a:lnSpc>
              <a:buNone/>
            </a:pPr>
            <a:r>
              <a:rPr lang="en-US" sz="107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（同斜率 / 同PRI）</a:t>
            </a:r>
            <a:endParaRPr lang="en-US" sz="10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313542" y="3214004"/>
            <a:ext cx="1325687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07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干扰车B</a:t>
            </a:r>
            <a:endParaRPr lang="en-US" sz="10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8000"/>
              </a:lnSpc>
              <a:buNone/>
            </a:pPr>
            <a:r>
              <a:rPr lang="en-US" sz="107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（异斜率 / 近PRI）</a:t>
            </a:r>
            <a:endParaRPr lang="en-US" sz="10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541680" y="2040638"/>
            <a:ext cx="1225002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8000"/>
              </a:lnSpc>
              <a:buNone/>
            </a:pPr>
            <a:r>
              <a:rPr lang="en-US" sz="107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干扰车C</a:t>
            </a:r>
            <a:endParaRPr lang="en-US" sz="10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8000"/>
              </a:lnSpc>
              <a:buNone/>
            </a:pPr>
            <a:r>
              <a:rPr lang="en-US" sz="107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（同斜率 / 异PRI）</a:t>
            </a:r>
            <a:endParaRPr lang="en-US" sz="10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3360185" y="1574206"/>
            <a:ext cx="700002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真实目标</a:t>
            </a:r>
            <a:endParaRPr lang="en-US" sz="10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3157299" y="4611985"/>
            <a:ext cx="105729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自车（雷达）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3222924" y="1785558"/>
            <a:ext cx="116667" cy="21864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222924" y="1785558"/>
            <a:ext cx="21875" cy="116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068760" y="1785558"/>
            <a:ext cx="116667" cy="21864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163551" y="1785558"/>
            <a:ext cx="21875" cy="116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222924" y="2477917"/>
            <a:ext cx="116667" cy="21864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222924" y="2383173"/>
            <a:ext cx="21875" cy="116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068760" y="2477917"/>
            <a:ext cx="116667" cy="21864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163551" y="2383173"/>
            <a:ext cx="21875" cy="116608"/>
          </a:xfrm>
          <a:prstGeom prst="rect">
            <a:avLst/>
          </a:prstGeom>
          <a:solidFill>
            <a:srgbClr val="FFFFFF">
              <a:alpha val="9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64584" y="4489403"/>
            <a:ext cx="1596879" cy="1085911"/>
          </a:xfrm>
          <a:prstGeom prst="roundRect">
            <a:avLst>
              <a:gd name="adj" fmla="val 5052"/>
            </a:avLst>
          </a:prstGeom>
          <a:solidFill>
            <a:srgbClr val="F6F4EE">
              <a:alpha val="95000"/>
            </a:srgbClr>
          </a:solidFill>
          <a:ln w="10160">
            <a:solidFill>
              <a:srgbClr val="AAB4BF">
                <a:alpha val="8200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 rot="-889589">
            <a:off x="528024" y="4660671"/>
            <a:ext cx="256456" cy="2915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rot="889589">
            <a:off x="528024" y="4726262"/>
            <a:ext cx="256456" cy="2915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7710" y="4591435"/>
            <a:ext cx="918752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自车雷达波束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Shape 24"/>
          <p:cNvSpPr/>
          <p:nvPr/>
        </p:nvSpPr>
        <p:spPr>
          <a:xfrm rot="-3378596">
            <a:off x="507440" y="4995554"/>
            <a:ext cx="78872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rot="4293903">
            <a:off x="521451" y="5028350"/>
            <a:ext cx="138350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rot="-4293903">
            <a:off x="565201" y="5028350"/>
            <a:ext cx="138350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rot="4293903">
            <a:off x="608952" y="5028350"/>
            <a:ext cx="138350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rot="-3378596">
            <a:off x="682441" y="5061146"/>
            <a:ext cx="78872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67710" y="4919394"/>
            <a:ext cx="918752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干扰信号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Shape 30"/>
          <p:cNvSpPr/>
          <p:nvPr/>
        </p:nvSpPr>
        <p:spPr>
          <a:xfrm>
            <a:off x="525001" y="5334810"/>
            <a:ext cx="36458" cy="14576"/>
          </a:xfrm>
          <a:prstGeom prst="rect">
            <a:avLst/>
          </a:prstGeom>
          <a:solidFill>
            <a:srgbClr val="8F9AA5"/>
          </a:solidFill>
          <a:ln w="12700">
            <a:solidFill>
              <a:srgbClr val="8F9AA5">
                <a:alpha val="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3335" y="5334810"/>
            <a:ext cx="36458" cy="14576"/>
          </a:xfrm>
          <a:prstGeom prst="rect">
            <a:avLst/>
          </a:prstGeom>
          <a:solidFill>
            <a:srgbClr val="8F9AA5"/>
          </a:solidFill>
          <a:ln w="12700">
            <a:solidFill>
              <a:srgbClr val="8F9AA5">
                <a:alpha val="0"/>
              </a:srgbClr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641668" y="5334810"/>
            <a:ext cx="36458" cy="14576"/>
          </a:xfrm>
          <a:prstGeom prst="rect">
            <a:avLst/>
          </a:prstGeom>
          <a:solidFill>
            <a:srgbClr val="8F9AA5"/>
          </a:solidFill>
          <a:ln w="12700">
            <a:solidFill>
              <a:srgbClr val="8F9AA5">
                <a:alpha val="0"/>
              </a:srgbClr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700002" y="5334810"/>
            <a:ext cx="36458" cy="14576"/>
          </a:xfrm>
          <a:prstGeom prst="rect">
            <a:avLst/>
          </a:prstGeom>
          <a:solidFill>
            <a:srgbClr val="8F9AA5"/>
          </a:solidFill>
          <a:ln w="12700">
            <a:solidFill>
              <a:srgbClr val="8F9AA5">
                <a:alpha val="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758335" y="5334810"/>
            <a:ext cx="36458" cy="14576"/>
          </a:xfrm>
          <a:prstGeom prst="rect">
            <a:avLst/>
          </a:prstGeom>
          <a:solidFill>
            <a:srgbClr val="8F9AA5"/>
          </a:solidFill>
          <a:ln w="12700">
            <a:solidFill>
              <a:srgbClr val="8F9AA5">
                <a:alpha val="0"/>
              </a:srgbClr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867710" y="5218202"/>
            <a:ext cx="918752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雷达视线方向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Shape 36"/>
          <p:cNvSpPr/>
          <p:nvPr/>
        </p:nvSpPr>
        <p:spPr>
          <a:xfrm>
            <a:off x="4221885" y="4022971"/>
            <a:ext cx="2544798" cy="1647086"/>
          </a:xfrm>
          <a:prstGeom prst="roundRect">
            <a:avLst>
              <a:gd name="adj" fmla="val 2221"/>
            </a:avLst>
          </a:prstGeom>
          <a:solidFill>
            <a:srgbClr val="F8F6F0">
              <a:alpha val="98000"/>
            </a:srgbClr>
          </a:solidFill>
          <a:ln w="10160">
            <a:solidFill>
              <a:srgbClr val="A8B2BD">
                <a:alpha val="8800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4375010" y="4117715"/>
            <a:ext cx="1691671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距离-多普勒谱（示意）</a:t>
            </a:r>
            <a:endParaRPr lang="en-US" sz="12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Text 38"/>
          <p:cNvSpPr/>
          <p:nvPr/>
        </p:nvSpPr>
        <p:spPr>
          <a:xfrm rot="16200000">
            <a:off x="4353135" y="4540060"/>
            <a:ext cx="466668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幅度（dB）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Text 39"/>
          <p:cNvSpPr/>
          <p:nvPr/>
        </p:nvSpPr>
        <p:spPr>
          <a:xfrm>
            <a:off x="6139598" y="5203626"/>
            <a:ext cx="34270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距离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3" name="Shape 40"/>
          <p:cNvSpPr/>
          <p:nvPr/>
        </p:nvSpPr>
        <p:spPr>
          <a:xfrm>
            <a:off x="4652094" y="4452963"/>
            <a:ext cx="14583" cy="750663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4652094" y="5189050"/>
            <a:ext cx="1735421" cy="14576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rot="-751728">
            <a:off x="4680461" y="5129653"/>
            <a:ext cx="67226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rot="-1593903">
            <a:off x="4742583" y="5104145"/>
            <a:ext cx="81524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 rot="678596">
            <a:off x="4819081" y="5093213"/>
            <a:ext cx="74361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 rot="-2319588">
            <a:off x="4882489" y="5071349"/>
            <a:ext cx="93379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rot="2099521">
            <a:off x="4957592" y="5067705"/>
            <a:ext cx="89006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rot="-3011666">
            <a:off x="5018062" y="5049485"/>
            <a:ext cx="113900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rot="2700000">
            <a:off x="5097879" y="5038553"/>
            <a:ext cx="92808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rot="-3378596">
            <a:off x="5147828" y="5016689"/>
            <a:ext cx="131453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rot="-4537116">
            <a:off x="5139683" y="4819913"/>
            <a:ext cx="293575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rot="4398045">
            <a:off x="5241551" y="4787117"/>
            <a:ext cx="228382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 rot="3726164">
            <a:off x="5351238" y="4958385"/>
            <a:ext cx="140258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 rot="-2519233">
            <a:off x="5441588" y="4987537"/>
            <a:ext cx="98100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rot="3378596">
            <a:off x="5497828" y="5009401"/>
            <a:ext cx="131453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rot="-3011666">
            <a:off x="5579522" y="5020333"/>
            <a:ext cx="113900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rot="3572067">
            <a:off x="5637481" y="5038553"/>
            <a:ext cx="143814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rot="-3145884">
            <a:off x="5722509" y="5053129"/>
            <a:ext cx="119593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 rot="2849373">
            <a:off x="5799518" y="5049485"/>
            <a:ext cx="118700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 rot="-2161642">
            <a:off x="5889488" y="5064061"/>
            <a:ext cx="99178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 rot="2388334">
            <a:off x="5965981" y="5071349"/>
            <a:ext cx="113900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rot="-956724">
            <a:off x="6064638" y="5093213"/>
            <a:ext cx="106169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 rot="1308085">
            <a:off x="6164552" y="5100501"/>
            <a:ext cx="117801" cy="16762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279179" y="4635163"/>
            <a:ext cx="102084" cy="102032"/>
          </a:xfrm>
          <a:prstGeom prst="ellipse">
            <a:avLst/>
          </a:prstGeom>
          <a:solidFill>
            <a:srgbClr val="FFFFFF">
              <a:alpha val="0"/>
            </a:srgbClr>
          </a:solidFill>
          <a:ln w="19050">
            <a:solidFill>
              <a:srgbClr val="2763B0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 rot="2700000">
            <a:off x="5071473" y="4970046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 rot="-2700000">
            <a:off x="5071473" y="4970046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126054" y="509430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126054" y="498498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5126054" y="487566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126054" y="476634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126054" y="4657027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 rot="2700000">
            <a:off x="5487099" y="4904454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 rot="-2700000">
            <a:off x="5487099" y="4904454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5541680" y="509430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5541680" y="498498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5541680" y="487566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5541680" y="476634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5541680" y="4657027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 rot="2700000">
            <a:off x="5698558" y="4991910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 rot="-2700000">
            <a:off x="5698558" y="4991910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5753138" y="509430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5753138" y="498498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753138" y="487566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753138" y="476634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5753138" y="4657027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 rot="2700000">
            <a:off x="5917309" y="5021062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 rot="-2700000">
            <a:off x="5917309" y="5021062"/>
            <a:ext cx="123744" cy="15305"/>
          </a:xfrm>
          <a:prstGeom prst="rect">
            <a:avLst/>
          </a:prstGeom>
          <a:solidFill>
            <a:srgbClr val="B4413E"/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971889" y="509430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971889" y="498498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5971889" y="487566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5971889" y="4766346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971889" y="4657027"/>
            <a:ext cx="14583" cy="58304"/>
          </a:xfrm>
          <a:prstGeom prst="rect">
            <a:avLst/>
          </a:prstGeom>
          <a:solidFill>
            <a:srgbClr val="B4413E">
              <a:alpha val="85000"/>
            </a:srgbClr>
          </a:solidFill>
          <a:ln w="12700">
            <a:solidFill>
              <a:srgbClr val="B4413E">
                <a:alpha val="0"/>
              </a:srgbClr>
            </a:solidFill>
            <a:prstDash val="solid"/>
          </a:ln>
        </p:spPr>
      </p:sp>
      <p:sp>
        <p:nvSpPr>
          <p:cNvPr id="95" name="Text 92"/>
          <p:cNvSpPr/>
          <p:nvPr/>
        </p:nvSpPr>
        <p:spPr>
          <a:xfrm>
            <a:off x="4375010" y="5254642"/>
            <a:ext cx="729168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2763B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○ 真实目标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6" name="Text 93"/>
          <p:cNvSpPr/>
          <p:nvPr/>
        </p:nvSpPr>
        <p:spPr>
          <a:xfrm>
            <a:off x="5126054" y="5254642"/>
            <a:ext cx="969794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× 干扰（伪目标）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7" name="Text 94"/>
          <p:cNvSpPr/>
          <p:nvPr/>
        </p:nvSpPr>
        <p:spPr>
          <a:xfrm>
            <a:off x="4375010" y="5429554"/>
            <a:ext cx="2216672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30" b="1" dirty="0">
                <a:solidFill>
                  <a:srgbClr val="B441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干扰与真实目标形态接近，易产生虚警/漏检</a:t>
            </a:r>
            <a:endParaRPr lang="en-US" sz="83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8" name="Shape 95"/>
          <p:cNvSpPr/>
          <p:nvPr/>
        </p:nvSpPr>
        <p:spPr>
          <a:xfrm>
            <a:off x="7014600" y="1661662"/>
            <a:ext cx="14583" cy="3986531"/>
          </a:xfrm>
          <a:prstGeom prst="rect">
            <a:avLst/>
          </a:prstGeom>
          <a:solidFill>
            <a:srgbClr val="9FB0C0"/>
          </a:solidFill>
          <a:ln w="12700">
            <a:solidFill>
              <a:srgbClr val="9FB0C0">
                <a:alpha val="0"/>
              </a:srgbClr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7255225" y="1727254"/>
            <a:ext cx="823960" cy="823543"/>
          </a:xfrm>
          <a:prstGeom prst="ellipse">
            <a:avLst/>
          </a:prstGeom>
          <a:solidFill>
            <a:srgbClr val="FCFAF5">
              <a:alpha val="0"/>
            </a:srgbClr>
          </a:solidFill>
          <a:ln w="16510">
            <a:solidFill>
              <a:srgbClr val="12355B"/>
            </a:solidFill>
            <a:prstDash val="solid"/>
          </a:ln>
        </p:spPr>
      </p:sp>
      <p:pic>
        <p:nvPicPr>
          <p:cNvPr id="100" name="Image 1" descr="难识别线性图标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44809" y="1909454"/>
            <a:ext cx="452084" cy="451855"/>
          </a:xfrm>
          <a:prstGeom prst="rect">
            <a:avLst/>
          </a:prstGeom>
        </p:spPr>
      </p:pic>
      <p:sp>
        <p:nvSpPr>
          <p:cNvPr id="101" name="Text 97"/>
          <p:cNvSpPr/>
          <p:nvPr/>
        </p:nvSpPr>
        <p:spPr>
          <a:xfrm>
            <a:off x="8348978" y="1712678"/>
            <a:ext cx="1604170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难识别</a:t>
            </a:r>
            <a:endParaRPr lang="en-US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2" name="Text 98"/>
          <p:cNvSpPr/>
          <p:nvPr/>
        </p:nvSpPr>
        <p:spPr>
          <a:xfrm>
            <a:off x="8348978" y="2084366"/>
            <a:ext cx="335417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干扰与目标回波形态相似</a:t>
            </a:r>
            <a:endParaRPr lang="en-US" sz="14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3" name="Text 99"/>
          <p:cNvSpPr/>
          <p:nvPr/>
        </p:nvSpPr>
        <p:spPr>
          <a:xfrm>
            <a:off x="8348978" y="2375885"/>
            <a:ext cx="3412508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1230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谱峰位置接近，难以仅凭形态区分真伪</a:t>
            </a:r>
            <a:endParaRPr lang="en-US" sz="123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4" name="Shape 100"/>
          <p:cNvSpPr/>
          <p:nvPr/>
        </p:nvSpPr>
        <p:spPr>
          <a:xfrm>
            <a:off x="7255225" y="2988077"/>
            <a:ext cx="823960" cy="823543"/>
          </a:xfrm>
          <a:prstGeom prst="ellipse">
            <a:avLst/>
          </a:prstGeom>
          <a:solidFill>
            <a:srgbClr val="FCFAF5">
              <a:alpha val="0"/>
            </a:srgbClr>
          </a:solidFill>
          <a:ln w="16510">
            <a:solidFill>
              <a:srgbClr val="12355B"/>
            </a:solidFill>
            <a:prstDash val="solid"/>
          </a:ln>
        </p:spPr>
      </p:sp>
      <p:pic>
        <p:nvPicPr>
          <p:cNvPr id="105" name="Image 2" descr="难适应线性图标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444809" y="3170276"/>
            <a:ext cx="452084" cy="451855"/>
          </a:xfrm>
          <a:prstGeom prst="rect">
            <a:avLst/>
          </a:prstGeom>
        </p:spPr>
      </p:pic>
      <p:sp>
        <p:nvSpPr>
          <p:cNvPr id="106" name="Text 101"/>
          <p:cNvSpPr/>
          <p:nvPr/>
        </p:nvSpPr>
        <p:spPr>
          <a:xfrm>
            <a:off x="8348978" y="2966213"/>
            <a:ext cx="1604170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难适应</a:t>
            </a:r>
            <a:endParaRPr lang="en-US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7" name="Text 102"/>
          <p:cNvSpPr/>
          <p:nvPr/>
        </p:nvSpPr>
        <p:spPr>
          <a:xfrm>
            <a:off x="8348978" y="3337900"/>
            <a:ext cx="335417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标量SINR难揭示干扰结构</a:t>
            </a:r>
            <a:endParaRPr lang="en-US" sz="14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8" name="Text 103"/>
          <p:cNvSpPr/>
          <p:nvPr/>
        </p:nvSpPr>
        <p:spPr>
          <a:xfrm>
            <a:off x="8348978" y="3622132"/>
            <a:ext cx="3412508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1230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同一SINR下，干扰分布与落点差异大，</a:t>
            </a:r>
            <a:endParaRPr lang="en-US" sz="123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92000"/>
              </a:lnSpc>
              <a:buNone/>
            </a:pPr>
            <a:r>
              <a:rPr lang="en-US" sz="1230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单一指标不足以指导策略选择</a:t>
            </a:r>
            <a:endParaRPr lang="en-US" sz="123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9" name="Shape 104"/>
          <p:cNvSpPr/>
          <p:nvPr/>
        </p:nvSpPr>
        <p:spPr>
          <a:xfrm>
            <a:off x="7255225" y="4350931"/>
            <a:ext cx="823960" cy="823543"/>
          </a:xfrm>
          <a:prstGeom prst="ellipse">
            <a:avLst/>
          </a:prstGeom>
          <a:solidFill>
            <a:srgbClr val="FCFAF5">
              <a:alpha val="0"/>
            </a:srgbClr>
          </a:solidFill>
          <a:ln w="16510">
            <a:solidFill>
              <a:srgbClr val="12355B"/>
            </a:solidFill>
            <a:prstDash val="solid"/>
          </a:ln>
        </p:spPr>
      </p:sp>
      <p:pic>
        <p:nvPicPr>
          <p:cNvPr id="110" name="Image 3" descr="难实时线性图标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444809" y="4533131"/>
            <a:ext cx="452084" cy="451855"/>
          </a:xfrm>
          <a:prstGeom prst="rect">
            <a:avLst/>
          </a:prstGeom>
        </p:spPr>
      </p:pic>
      <p:sp>
        <p:nvSpPr>
          <p:cNvPr id="111" name="Text 105"/>
          <p:cNvSpPr/>
          <p:nvPr/>
        </p:nvSpPr>
        <p:spPr>
          <a:xfrm>
            <a:off x="8348978" y="4307203"/>
            <a:ext cx="1604170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难实时</a:t>
            </a:r>
            <a:endParaRPr lang="en-US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2" name="Text 106"/>
          <p:cNvSpPr/>
          <p:nvPr/>
        </p:nvSpPr>
        <p:spPr>
          <a:xfrm>
            <a:off x="8348978" y="4678891"/>
            <a:ext cx="335417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60" b="1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逐chirp动作需快速响应</a:t>
            </a:r>
            <a:endParaRPr lang="en-US" sz="14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3" name="Shape 107"/>
          <p:cNvSpPr/>
          <p:nvPr/>
        </p:nvSpPr>
        <p:spPr>
          <a:xfrm>
            <a:off x="7255225" y="2784013"/>
            <a:ext cx="4703136" cy="14576"/>
          </a:xfrm>
          <a:prstGeom prst="rect">
            <a:avLst/>
          </a:prstGeom>
          <a:solidFill>
            <a:srgbClr val="B8C2CB"/>
          </a:solidFill>
          <a:ln w="12700">
            <a:solidFill>
              <a:srgbClr val="B8C2CB">
                <a:alpha val="0"/>
              </a:srgbClr>
            </a:solidFill>
            <a:prstDash val="solid"/>
          </a:ln>
        </p:spPr>
      </p:sp>
      <p:sp>
        <p:nvSpPr>
          <p:cNvPr id="114" name="Shape 108"/>
          <p:cNvSpPr/>
          <p:nvPr/>
        </p:nvSpPr>
        <p:spPr>
          <a:xfrm>
            <a:off x="7255225" y="4125003"/>
            <a:ext cx="4703136" cy="14576"/>
          </a:xfrm>
          <a:prstGeom prst="rect">
            <a:avLst/>
          </a:prstGeom>
          <a:solidFill>
            <a:srgbClr val="B8C2CB"/>
          </a:solidFill>
          <a:ln w="12700">
            <a:solidFill>
              <a:srgbClr val="B8C2CB">
                <a:alpha val="0"/>
              </a:srgbClr>
            </a:solidFill>
            <a:prstDash val="solid"/>
          </a:ln>
        </p:spPr>
      </p:sp>
      <p:sp>
        <p:nvSpPr>
          <p:cNvPr id="115" name="Text 109"/>
          <p:cNvSpPr/>
          <p:nvPr/>
        </p:nvSpPr>
        <p:spPr>
          <a:xfrm>
            <a:off x="8356270" y="5057866"/>
            <a:ext cx="977086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FMCW典型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90000"/>
              </a:lnSpc>
              <a:buNone/>
            </a:pPr>
            <a:r>
              <a:rPr lang="en-US" sz="1300" b="1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chirp间隔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6" name="Text 110"/>
          <p:cNvSpPr/>
          <p:nvPr/>
        </p:nvSpPr>
        <p:spPr>
          <a:xfrm>
            <a:off x="9529804" y="5022302"/>
            <a:ext cx="867710" cy="50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50</a:t>
            </a:r>
            <a:endParaRPr lang="en-US" sz="4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7" name="Text 111"/>
          <p:cNvSpPr/>
          <p:nvPr/>
        </p:nvSpPr>
        <p:spPr>
          <a:xfrm>
            <a:off x="10214808" y="5177461"/>
            <a:ext cx="444793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μs</a:t>
            </a:r>
            <a:endParaRPr lang="en-US" sz="2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8" name="Text 112"/>
          <p:cNvSpPr/>
          <p:nvPr/>
        </p:nvSpPr>
        <p:spPr>
          <a:xfrm>
            <a:off x="8356270" y="5553450"/>
            <a:ext cx="3281258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dirty="0">
                <a:solidFill>
                  <a:srgbClr val="5F646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留给算法决策与执行的时间极短</a:t>
            </a:r>
            <a:endParaRPr lang="en-US" sz="12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9" name="Shape 113"/>
          <p:cNvSpPr/>
          <p:nvPr/>
        </p:nvSpPr>
        <p:spPr>
          <a:xfrm>
            <a:off x="138542" y="5954289"/>
            <a:ext cx="11914611" cy="750663"/>
          </a:xfrm>
          <a:prstGeom prst="roundRect">
            <a:avLst>
              <a:gd name="adj" fmla="val 4872"/>
            </a:avLst>
          </a:prstGeom>
          <a:solidFill>
            <a:srgbClr val="EAF2F8"/>
          </a:solidFill>
          <a:ln w="12700">
            <a:solidFill>
              <a:srgbClr val="12355B">
                <a:alpha val="90000"/>
              </a:srgbClr>
            </a:solidFill>
            <a:prstDash val="solid"/>
          </a:ln>
        </p:spPr>
      </p:sp>
      <p:sp>
        <p:nvSpPr>
          <p:cNvPr id="120" name="Shape 114"/>
          <p:cNvSpPr/>
          <p:nvPr/>
        </p:nvSpPr>
        <p:spPr>
          <a:xfrm rot="2700000">
            <a:off x="787502" y="6129201"/>
            <a:ext cx="284376" cy="6559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21" name="Shape 115"/>
          <p:cNvSpPr/>
          <p:nvPr/>
        </p:nvSpPr>
        <p:spPr>
          <a:xfrm rot="-2700000">
            <a:off x="787502" y="6376993"/>
            <a:ext cx="284376" cy="6559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22" name="Shape 116"/>
          <p:cNvSpPr/>
          <p:nvPr/>
        </p:nvSpPr>
        <p:spPr>
          <a:xfrm rot="2700000">
            <a:off x="984377" y="6129201"/>
            <a:ext cx="284376" cy="6559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23" name="Shape 117"/>
          <p:cNvSpPr/>
          <p:nvPr/>
        </p:nvSpPr>
        <p:spPr>
          <a:xfrm rot="-2700000">
            <a:off x="984377" y="6376993"/>
            <a:ext cx="284376" cy="6559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24" name="Text 118"/>
          <p:cNvSpPr/>
          <p:nvPr/>
        </p:nvSpPr>
        <p:spPr>
          <a:xfrm>
            <a:off x="1902703" y="6143339"/>
            <a:ext cx="9041688" cy="3789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kern="0" spc="1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需要主动感知干扰结构、分离决策时间尺度并减少无效探索</a:t>
            </a:r>
            <a:endParaRPr lang="en-US" sz="2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Shape 54"/>
          <p:cNvSpPr/>
          <p:nvPr/>
        </p:nvSpPr>
        <p:spPr>
          <a:xfrm>
            <a:off x="6766683" y="1974048"/>
            <a:ext cx="2982299" cy="685071"/>
          </a:xfrm>
          <a:prstGeom prst="round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12355B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3682300" y="1974048"/>
            <a:ext cx="2778132" cy="685071"/>
          </a:xfrm>
          <a:prstGeom prst="round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12355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96884" y="123896"/>
            <a:ext cx="4061468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基于分层强化学习的FMCW雷达抗干扰策略优化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275022" y="123896"/>
            <a:ext cx="2683340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研究内容｜研究问题与技术路线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0" y="415416"/>
            <a:ext cx="12104195" cy="21864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50230" y="561175"/>
            <a:ext cx="9041688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90B0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研究核心是同时解决时间尺度分离、结构信息缺失和动态探索效率问题</a:t>
            </a:r>
            <a:endParaRPr lang="en-US" sz="2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2384381" y="932863"/>
            <a:ext cx="7408351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535A6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以物理机理为基础，沿“建模—执行—认知—验证”形成完整技术路线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960005" y="1806424"/>
            <a:ext cx="17500" cy="10203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10800000">
            <a:off x="1925005" y="1893880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993345" y="1806424"/>
            <a:ext cx="17500" cy="10203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10800000">
            <a:off x="4958345" y="1893880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87102" y="1806424"/>
            <a:ext cx="17500" cy="10203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10800000">
            <a:off x="8152102" y="1893880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888546" y="3723423"/>
            <a:ext cx="6314598" cy="145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81254" y="3606818"/>
            <a:ext cx="14583" cy="131184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88561" y="3606814"/>
            <a:ext cx="14583" cy="131184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45857" y="2104542"/>
            <a:ext cx="14583" cy="201148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36481" y="2104542"/>
            <a:ext cx="123959" cy="145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9836481" y="4101451"/>
            <a:ext cx="123959" cy="145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960440" y="2875611"/>
            <a:ext cx="131250" cy="17491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5400000">
            <a:off x="10077107" y="2833341"/>
            <a:ext cx="102084" cy="102032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353307" y="5620849"/>
            <a:ext cx="189584" cy="17491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5400000">
            <a:off x="3528307" y="5578579"/>
            <a:ext cx="102084" cy="102032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8522" y="5620849"/>
            <a:ext cx="189584" cy="17491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5400000">
            <a:off x="6583523" y="5578579"/>
            <a:ext cx="102084" cy="102032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9244156" y="5620849"/>
            <a:ext cx="189584" cy="17491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5400000">
            <a:off x="9419156" y="5578579"/>
            <a:ext cx="102084" cy="102032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82292" y="2163536"/>
            <a:ext cx="379168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证据</a:t>
            </a:r>
            <a:endParaRPr lang="en-US" sz="12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182292" y="3009787"/>
            <a:ext cx="379168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回应</a:t>
            </a:r>
            <a:endParaRPr lang="en-US" sz="12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780210" y="1405584"/>
            <a:ext cx="2515631" cy="408128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43" name="Image 0" descr="time_header_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377" y="1456600"/>
            <a:ext cx="313542" cy="313384"/>
          </a:xfrm>
          <a:prstGeom prst="rect">
            <a:avLst/>
          </a:prstGeom>
        </p:spPr>
      </p:pic>
      <p:sp>
        <p:nvSpPr>
          <p:cNvPr id="44" name="Text 41"/>
          <p:cNvSpPr/>
          <p:nvPr/>
        </p:nvSpPr>
        <p:spPr>
          <a:xfrm>
            <a:off x="1451045" y="1485752"/>
            <a:ext cx="169896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时间尺度矛盾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5" name="Shape 42"/>
          <p:cNvSpPr/>
          <p:nvPr/>
        </p:nvSpPr>
        <p:spPr>
          <a:xfrm>
            <a:off x="648960" y="1974048"/>
            <a:ext cx="2778132" cy="685071"/>
          </a:xfrm>
          <a:prstGeom prst="round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12355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780210" y="2054216"/>
            <a:ext cx="2515631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逐chirp决策为50 μs级；稳定干扰模式需跨数十个chirp观察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7" name="Shape 44"/>
          <p:cNvSpPr/>
          <p:nvPr/>
        </p:nvSpPr>
        <p:spPr>
          <a:xfrm>
            <a:off x="648960" y="2841764"/>
            <a:ext cx="2778132" cy="721511"/>
          </a:xfrm>
          <a:prstGeom prst="roundRect">
            <a:avLst/>
          </a:prstGeom>
          <a:solidFill>
            <a:srgbClr val="0A345D"/>
          </a:solidFill>
          <a:ln w="12700">
            <a:solidFill>
              <a:srgbClr val="0A345D">
                <a:alpha val="0"/>
              </a:srgbClr>
            </a:solidFill>
            <a:prstDash val="solid"/>
          </a:ln>
        </p:spPr>
      </p:sp>
      <p:pic>
        <p:nvPicPr>
          <p:cNvPr id="48" name="Image 1" descr="time_response_ico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8170" y="2972948"/>
            <a:ext cx="444793" cy="444567"/>
          </a:xfrm>
          <a:prstGeom prst="rect">
            <a:avLst/>
          </a:prstGeom>
        </p:spPr>
      </p:pic>
      <p:sp>
        <p:nvSpPr>
          <p:cNvPr id="49" name="Text 45"/>
          <p:cNvSpPr/>
          <p:nvPr/>
        </p:nvSpPr>
        <p:spPr>
          <a:xfrm>
            <a:off x="1193473" y="2883114"/>
            <a:ext cx="2172921" cy="56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分层分时决策：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上层低频场景判断，下层高频动作执行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3813551" y="1405584"/>
            <a:ext cx="2515631" cy="408128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51" name="Image 2" descr="structure_header_icon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17718" y="1456600"/>
            <a:ext cx="313542" cy="313384"/>
          </a:xfrm>
          <a:prstGeom prst="rect">
            <a:avLst/>
          </a:prstGeom>
        </p:spPr>
      </p:pic>
      <p:sp>
        <p:nvSpPr>
          <p:cNvPr id="52" name="Text 47"/>
          <p:cNvSpPr/>
          <p:nvPr/>
        </p:nvSpPr>
        <p:spPr>
          <a:xfrm>
            <a:off x="4484385" y="1485752"/>
            <a:ext cx="169896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结构信息缺失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Text 49"/>
          <p:cNvSpPr/>
          <p:nvPr/>
        </p:nvSpPr>
        <p:spPr>
          <a:xfrm>
            <a:off x="3813551" y="2054216"/>
            <a:ext cx="2515631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单一SINR无法说明频域或时域哪一维更有优化空间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Shape 50"/>
          <p:cNvSpPr/>
          <p:nvPr/>
        </p:nvSpPr>
        <p:spPr>
          <a:xfrm>
            <a:off x="3682300" y="2841764"/>
            <a:ext cx="2778132" cy="721511"/>
          </a:xfrm>
          <a:prstGeom prst="roundRect">
            <a:avLst/>
          </a:prstGeom>
          <a:solidFill>
            <a:srgbClr val="0A345D"/>
          </a:solidFill>
          <a:ln w="12700">
            <a:solidFill>
              <a:srgbClr val="0A345D">
                <a:alpha val="0"/>
              </a:srgbClr>
            </a:solidFill>
            <a:prstDash val="solid"/>
          </a:ln>
        </p:spPr>
      </p:sp>
      <p:pic>
        <p:nvPicPr>
          <p:cNvPr id="56" name="Image 3" descr="structure_response_icon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729696" y="2984433"/>
            <a:ext cx="444793" cy="444567"/>
          </a:xfrm>
          <a:prstGeom prst="rect">
            <a:avLst/>
          </a:prstGeom>
        </p:spPr>
      </p:pic>
      <p:sp>
        <p:nvSpPr>
          <p:cNvPr id="57" name="Text 51"/>
          <p:cNvSpPr/>
          <p:nvPr/>
        </p:nvSpPr>
        <p:spPr>
          <a:xfrm>
            <a:off x="4216304" y="2872604"/>
            <a:ext cx="2172921" cy="56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结构语义重建</a:t>
            </a: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构建12维场景语义特征，补足干扰结构信息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8" name="Shape 52"/>
          <p:cNvSpPr/>
          <p:nvPr/>
        </p:nvSpPr>
        <p:spPr>
          <a:xfrm>
            <a:off x="6897933" y="1405584"/>
            <a:ext cx="2719798" cy="408128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59" name="Image 4" descr="exploration_header_icon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102100" y="1456600"/>
            <a:ext cx="313542" cy="313384"/>
          </a:xfrm>
          <a:prstGeom prst="rect">
            <a:avLst/>
          </a:prstGeom>
        </p:spPr>
      </p:pic>
      <p:sp>
        <p:nvSpPr>
          <p:cNvPr id="60" name="Text 53"/>
          <p:cNvSpPr/>
          <p:nvPr/>
        </p:nvSpPr>
        <p:spPr>
          <a:xfrm>
            <a:off x="7568768" y="1485752"/>
            <a:ext cx="1903129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动态探索低效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2" name="Text 55"/>
          <p:cNvSpPr/>
          <p:nvPr/>
        </p:nvSpPr>
        <p:spPr>
          <a:xfrm>
            <a:off x="6897933" y="2054216"/>
            <a:ext cx="2719798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2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9维联合空间在环境突变后需重新试错，探索成本高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3" name="Shape 56"/>
          <p:cNvSpPr/>
          <p:nvPr/>
        </p:nvSpPr>
        <p:spPr>
          <a:xfrm>
            <a:off x="6766683" y="2841764"/>
            <a:ext cx="2982299" cy="721511"/>
          </a:xfrm>
          <a:prstGeom prst="roundRect">
            <a:avLst/>
          </a:prstGeom>
          <a:solidFill>
            <a:srgbClr val="0A345D"/>
          </a:solidFill>
          <a:ln w="12700">
            <a:solidFill>
              <a:srgbClr val="0A345D">
                <a:alpha val="0"/>
              </a:srgbClr>
            </a:solidFill>
            <a:prstDash val="solid"/>
          </a:ln>
        </p:spPr>
      </p:sp>
      <p:pic>
        <p:nvPicPr>
          <p:cNvPr id="64" name="Image 5" descr="exploration_response_icon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824362" y="2972948"/>
            <a:ext cx="444793" cy="444567"/>
          </a:xfrm>
          <a:prstGeom prst="rect">
            <a:avLst/>
          </a:prstGeom>
        </p:spPr>
      </p:pic>
      <p:sp>
        <p:nvSpPr>
          <p:cNvPr id="65" name="Text 57"/>
          <p:cNvSpPr/>
          <p:nvPr/>
        </p:nvSpPr>
        <p:spPr>
          <a:xfrm>
            <a:off x="7305614" y="2853856"/>
            <a:ext cx="2402988" cy="68839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170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元策略引导</a:t>
            </a:r>
            <a:r>
              <a:rPr lang="en-US" sz="17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：</a:t>
            </a: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1200" b="1" dirty="0" err="1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引导动作子空间与探索方向，减少环境突变后的无效试错</a:t>
            </a:r>
            <a:endParaRPr lang="en-US" sz="1200" b="1" dirty="0">
              <a:solidFill>
                <a:srgbClr val="FFFFFF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6" name="Shape 58"/>
          <p:cNvSpPr/>
          <p:nvPr/>
        </p:nvSpPr>
        <p:spPr>
          <a:xfrm>
            <a:off x="2384381" y="4021960"/>
            <a:ext cx="5928139" cy="626767"/>
          </a:xfrm>
          <a:prstGeom prst="roundRect">
            <a:avLst/>
          </a:prstGeom>
          <a:solidFill>
            <a:srgbClr val="FCFAF5">
              <a:alpha val="0"/>
            </a:srgbClr>
          </a:solidFill>
          <a:ln w="15240">
            <a:solidFill>
              <a:srgbClr val="12355B"/>
            </a:solidFill>
            <a:prstDash val="solid"/>
          </a:ln>
        </p:spPr>
      </p:sp>
      <p:pic>
        <p:nvPicPr>
          <p:cNvPr id="67" name="Image 6" descr="framework_icon"/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705215" y="4087552"/>
            <a:ext cx="510418" cy="488295"/>
          </a:xfrm>
          <a:prstGeom prst="rect">
            <a:avLst/>
          </a:prstGeom>
        </p:spPr>
      </p:pic>
      <p:sp>
        <p:nvSpPr>
          <p:cNvPr id="68" name="Text 59"/>
          <p:cNvSpPr/>
          <p:nvPr/>
        </p:nvSpPr>
        <p:spPr>
          <a:xfrm>
            <a:off x="3317716" y="4182295"/>
            <a:ext cx="2676047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分层强化学习抗干扰框架</a:t>
            </a:r>
            <a:endParaRPr 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69" name="Shape 60"/>
          <p:cNvSpPr/>
          <p:nvPr/>
        </p:nvSpPr>
        <p:spPr>
          <a:xfrm>
            <a:off x="6103139" y="4094840"/>
            <a:ext cx="14583" cy="451855"/>
          </a:xfrm>
          <a:prstGeom prst="rect">
            <a:avLst/>
          </a:prstGeom>
          <a:solidFill>
            <a:srgbClr val="8EA3B7"/>
          </a:solidFill>
          <a:ln w="12700">
            <a:solidFill>
              <a:srgbClr val="8EA3B7">
                <a:alpha val="0"/>
              </a:srgbClr>
            </a:solidFill>
            <a:prstDash val="solid"/>
          </a:ln>
        </p:spPr>
      </p:sp>
      <p:sp>
        <p:nvSpPr>
          <p:cNvPr id="70" name="Text 61"/>
          <p:cNvSpPr/>
          <p:nvPr/>
        </p:nvSpPr>
        <p:spPr>
          <a:xfrm>
            <a:off x="6329182" y="4113059"/>
            <a:ext cx="1873963" cy="4518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分层缓解时间尺度矛盾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12维语义补足结构信息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元策略提升动态探索效率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1" name="Shape 62"/>
          <p:cNvSpPr/>
          <p:nvPr/>
        </p:nvSpPr>
        <p:spPr>
          <a:xfrm>
            <a:off x="10222941" y="1000529"/>
            <a:ext cx="1786463" cy="3775180"/>
          </a:xfrm>
          <a:prstGeom prst="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72" name="Text 63"/>
          <p:cNvSpPr/>
          <p:nvPr/>
        </p:nvSpPr>
        <p:spPr>
          <a:xfrm>
            <a:off x="10222941" y="1022393"/>
            <a:ext cx="1786463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研究目标</a:t>
            </a:r>
            <a:endParaRPr lang="en-US" sz="14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3" name="Shape 64"/>
          <p:cNvSpPr/>
          <p:nvPr/>
        </p:nvSpPr>
        <p:spPr>
          <a:xfrm>
            <a:off x="10222941" y="1299337"/>
            <a:ext cx="1786463" cy="145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74" name="Shape 65"/>
          <p:cNvSpPr/>
          <p:nvPr/>
        </p:nvSpPr>
        <p:spPr>
          <a:xfrm>
            <a:off x="10259399" y="2347574"/>
            <a:ext cx="1677087" cy="14576"/>
          </a:xfrm>
          <a:prstGeom prst="rect">
            <a:avLst/>
          </a:prstGeom>
          <a:solidFill>
            <a:srgbClr val="8EA3B7"/>
          </a:solidFill>
          <a:ln w="12700">
            <a:solidFill>
              <a:srgbClr val="8EA3B7">
                <a:alpha val="0"/>
              </a:srgbClr>
            </a:solidFill>
            <a:prstDash val="solid"/>
          </a:ln>
        </p:spPr>
      </p:sp>
      <p:sp>
        <p:nvSpPr>
          <p:cNvPr id="75" name="Shape 66"/>
          <p:cNvSpPr/>
          <p:nvPr/>
        </p:nvSpPr>
        <p:spPr>
          <a:xfrm>
            <a:off x="10259399" y="3533833"/>
            <a:ext cx="1677087" cy="14576"/>
          </a:xfrm>
          <a:prstGeom prst="rect">
            <a:avLst/>
          </a:prstGeom>
          <a:solidFill>
            <a:srgbClr val="8EA3B7"/>
          </a:solidFill>
          <a:ln w="12700">
            <a:solidFill>
              <a:srgbClr val="8EA3B7">
                <a:alpha val="0"/>
              </a:srgbClr>
            </a:solidFill>
            <a:prstDash val="solid"/>
          </a:ln>
        </p:spPr>
      </p:sp>
      <p:pic>
        <p:nvPicPr>
          <p:cNvPr id="76" name="Image 7" descr="performance_icon"/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339608" y="1452385"/>
            <a:ext cx="401043" cy="400840"/>
          </a:xfrm>
          <a:prstGeom prst="rect">
            <a:avLst/>
          </a:prstGeom>
        </p:spPr>
      </p:pic>
      <p:sp>
        <p:nvSpPr>
          <p:cNvPr id="77" name="Text 67"/>
          <p:cNvSpPr/>
          <p:nvPr/>
        </p:nvSpPr>
        <p:spPr>
          <a:xfrm>
            <a:off x="10850025" y="1525955"/>
            <a:ext cx="1035419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性能与稳定性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Text 68"/>
          <p:cNvSpPr/>
          <p:nvPr/>
        </p:nvSpPr>
        <p:spPr>
          <a:xfrm>
            <a:off x="10385334" y="1727522"/>
            <a:ext cx="1585636" cy="64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联合时频抗干扰性能提升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策略稳定收敛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79" name="Image 8" descr="recovery_icon"/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339608" y="2524865"/>
            <a:ext cx="401043" cy="400840"/>
          </a:xfrm>
          <a:prstGeom prst="rect">
            <a:avLst/>
          </a:prstGeom>
        </p:spPr>
      </p:pic>
      <p:sp>
        <p:nvSpPr>
          <p:cNvPr id="80" name="Text 69"/>
          <p:cNvSpPr/>
          <p:nvPr/>
        </p:nvSpPr>
        <p:spPr>
          <a:xfrm>
            <a:off x="10850025" y="2598437"/>
            <a:ext cx="1035419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突变恢复速度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1" name="Text 70"/>
          <p:cNvSpPr/>
          <p:nvPr/>
        </p:nvSpPr>
        <p:spPr>
          <a:xfrm>
            <a:off x="10367395" y="2830388"/>
            <a:ext cx="1487504" cy="64134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缩短策略恢复时间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降低恢复期性能损失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3" name="Text 71"/>
          <p:cNvSpPr/>
          <p:nvPr/>
        </p:nvSpPr>
        <p:spPr>
          <a:xfrm>
            <a:off x="10850025" y="3791984"/>
            <a:ext cx="1035419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可解释性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4" name="Text 72"/>
          <p:cNvSpPr/>
          <p:nvPr/>
        </p:nvSpPr>
        <p:spPr>
          <a:xfrm>
            <a:off x="10367395" y="4151683"/>
            <a:ext cx="1518049" cy="5538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决策路径可追溯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物理机理与策略一致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0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工程实时性另行评估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5" name="Shape 73"/>
          <p:cNvSpPr/>
          <p:nvPr/>
        </p:nvSpPr>
        <p:spPr>
          <a:xfrm>
            <a:off x="247050" y="5330787"/>
            <a:ext cx="510418" cy="648631"/>
          </a:xfrm>
          <a:prstGeom prst="roundRect">
            <a:avLst/>
          </a:prstGeom>
          <a:solidFill>
            <a:srgbClr val="0A345D"/>
          </a:solidFill>
          <a:ln w="12700">
            <a:solidFill>
              <a:srgbClr val="0A345D">
                <a:alpha val="0"/>
              </a:srgbClr>
            </a:solidFill>
            <a:prstDash val="solid"/>
          </a:ln>
        </p:spPr>
      </p:sp>
      <p:sp>
        <p:nvSpPr>
          <p:cNvPr id="86" name="Text 74"/>
          <p:cNvSpPr/>
          <p:nvPr/>
        </p:nvSpPr>
        <p:spPr>
          <a:xfrm>
            <a:off x="247050" y="5330787"/>
            <a:ext cx="510418" cy="6486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技术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路线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7" name="Shape 75"/>
          <p:cNvSpPr/>
          <p:nvPr/>
        </p:nvSpPr>
        <p:spPr>
          <a:xfrm>
            <a:off x="859551" y="5119436"/>
            <a:ext cx="2450006" cy="1326251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88" name="Image 10" descr="modeling_icon"/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845486" y="5444145"/>
            <a:ext cx="473959" cy="663207"/>
          </a:xfrm>
          <a:prstGeom prst="rect">
            <a:avLst/>
          </a:prstGeom>
        </p:spPr>
      </p:pic>
      <p:sp>
        <p:nvSpPr>
          <p:cNvPr id="89" name="Text 76"/>
          <p:cNvSpPr/>
          <p:nvPr/>
        </p:nvSpPr>
        <p:spPr>
          <a:xfrm>
            <a:off x="1312503" y="5257881"/>
            <a:ext cx="1888547" cy="32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物理机理与POMDP建模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0" name="Text 77"/>
          <p:cNvSpPr/>
          <p:nvPr/>
        </p:nvSpPr>
        <p:spPr>
          <a:xfrm>
            <a:off x="1388199" y="5576229"/>
            <a:ext cx="1863050" cy="7040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相干干扰机理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状态、动作与奖励定义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物理约束与部分可观测建模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1" name="Shape 78"/>
          <p:cNvSpPr/>
          <p:nvPr/>
        </p:nvSpPr>
        <p:spPr>
          <a:xfrm>
            <a:off x="3666849" y="5119436"/>
            <a:ext cx="2705215" cy="1326251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92" name="Image 11" descr="execution_icon"/>
          <p:cNvPicPr>
            <a:picLocks noChangeAspect="1"/>
          </p:cNvPicPr>
          <p:nvPr/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3717917" y="5410792"/>
            <a:ext cx="473959" cy="663207"/>
          </a:xfrm>
          <a:prstGeom prst="rect">
            <a:avLst/>
          </a:prstGeom>
        </p:spPr>
      </p:pic>
      <p:sp>
        <p:nvSpPr>
          <p:cNvPr id="93" name="Text 79"/>
          <p:cNvSpPr/>
          <p:nvPr/>
        </p:nvSpPr>
        <p:spPr>
          <a:xfrm>
            <a:off x="4297806" y="5243331"/>
            <a:ext cx="1931429" cy="33522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Double DQN+GRU执行层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4" name="Text 80"/>
          <p:cNvSpPr/>
          <p:nvPr/>
        </p:nvSpPr>
        <p:spPr>
          <a:xfrm>
            <a:off x="4309990" y="5498962"/>
            <a:ext cx="1966501" cy="81609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en-US" sz="1150" dirty="0" err="1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逐chirp动作生成</a:t>
            </a:r>
            <a:endParaRPr lang="en-US" sz="1150" dirty="0">
              <a:solidFill>
                <a:srgbClr val="10182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en-US" sz="1150" dirty="0" err="1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Q值过估计抑制</a:t>
            </a:r>
            <a:endParaRPr lang="en-US" sz="1150" dirty="0">
              <a:solidFill>
                <a:srgbClr val="10182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en-US" sz="1150" dirty="0" err="1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时序记忆与在线更新</a:t>
            </a:r>
            <a:endParaRPr lang="en-US" sz="1150" dirty="0">
              <a:solidFill>
                <a:srgbClr val="10182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" name="Shape 81"/>
          <p:cNvSpPr/>
          <p:nvPr/>
        </p:nvSpPr>
        <p:spPr>
          <a:xfrm>
            <a:off x="6714773" y="5119436"/>
            <a:ext cx="2441908" cy="1326251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96" name="Image 12" descr="cognition_icon"/>
          <p:cNvPicPr>
            <a:picLocks noChangeAspect="1"/>
          </p:cNvPicPr>
          <p:nvPr/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784912" y="5410792"/>
            <a:ext cx="473959" cy="663207"/>
          </a:xfrm>
          <a:prstGeom prst="rect">
            <a:avLst/>
          </a:prstGeom>
        </p:spPr>
      </p:pic>
      <p:sp>
        <p:nvSpPr>
          <p:cNvPr id="97" name="Text 82"/>
          <p:cNvSpPr/>
          <p:nvPr/>
        </p:nvSpPr>
        <p:spPr>
          <a:xfrm>
            <a:off x="7258871" y="5271444"/>
            <a:ext cx="1560420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Meta-RF元控制器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8" name="Text 83"/>
          <p:cNvSpPr/>
          <p:nvPr/>
        </p:nvSpPr>
        <p:spPr>
          <a:xfrm>
            <a:off x="7288874" y="5356384"/>
            <a:ext cx="1813955" cy="103484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12维场景语义表征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en-US" sz="1100" dirty="0" err="1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动作子空间与探索方向引导</a:t>
            </a:r>
            <a:endParaRPr lang="en-US" sz="1100" dirty="0">
              <a:solidFill>
                <a:srgbClr val="10182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</a:t>
            </a:r>
            <a:r>
              <a:rPr lang="en-US" sz="1100" dirty="0" err="1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非平稳干扰快速迁移</a:t>
            </a:r>
            <a:endParaRPr lang="en-US" sz="1100" dirty="0">
              <a:solidFill>
                <a:srgbClr val="10182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9" name="Shape 84"/>
          <p:cNvSpPr/>
          <p:nvPr/>
        </p:nvSpPr>
        <p:spPr>
          <a:xfrm>
            <a:off x="9535823" y="5119436"/>
            <a:ext cx="2216672" cy="1326251"/>
          </a:xfrm>
          <a:prstGeom prst="round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pic>
        <p:nvPicPr>
          <p:cNvPr id="100" name="Image 13" descr="validation_icon"/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9633872" y="5406850"/>
            <a:ext cx="473959" cy="663207"/>
          </a:xfrm>
          <a:prstGeom prst="rect">
            <a:avLst/>
          </a:prstGeom>
        </p:spPr>
      </p:pic>
      <p:sp>
        <p:nvSpPr>
          <p:cNvPr id="101" name="Text 85"/>
          <p:cNvSpPr/>
          <p:nvPr/>
        </p:nvSpPr>
        <p:spPr>
          <a:xfrm>
            <a:off x="10084651" y="5279608"/>
            <a:ext cx="1458337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多场景实验验证</a:t>
            </a:r>
            <a:endParaRPr lang="en-US" sz="1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2" name="Text 86"/>
          <p:cNvSpPr/>
          <p:nvPr/>
        </p:nvSpPr>
        <p:spPr>
          <a:xfrm>
            <a:off x="10184783" y="5498411"/>
            <a:ext cx="1458337" cy="7826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静态性能与扩展性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收敛性与动态突变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泛化能力综合评估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109" name="图形 108" descr="大脑 纯色填充">
            <a:extLst>
              <a:ext uri="{FF2B5EF4-FFF2-40B4-BE49-F238E27FC236}">
                <a16:creationId xmlns:a16="http://schemas.microsoft.com/office/drawing/2014/main" id="{841D357E-A3B2-CE58-824B-FFA1B6F148E1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0261963" y="3647681"/>
            <a:ext cx="518186" cy="518186"/>
          </a:xfrm>
          <a:prstGeom prst="rect">
            <a:avLst/>
          </a:prstGeom>
        </p:spPr>
      </p:pic>
      <p:sp>
        <p:nvSpPr>
          <p:cNvPr id="110" name="下箭头 109">
            <a:extLst>
              <a:ext uri="{FF2B5EF4-FFF2-40B4-BE49-F238E27FC236}">
                <a16:creationId xmlns:a16="http://schemas.microsoft.com/office/drawing/2014/main" id="{FB4E4720-2815-A7EA-3C5E-696990C50C32}"/>
              </a:ext>
            </a:extLst>
          </p:cNvPr>
          <p:cNvSpPr/>
          <p:nvPr/>
        </p:nvSpPr>
        <p:spPr>
          <a:xfrm>
            <a:off x="4958345" y="3791984"/>
            <a:ext cx="244276" cy="149395"/>
          </a:xfrm>
          <a:prstGeom prst="downArrow">
            <a:avLst/>
          </a:prstGeom>
          <a:solidFill>
            <a:srgbClr val="0B345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743752" y="87456"/>
            <a:ext cx="3565633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基于分层强化学习的FMCW雷达抗干扰策略优化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16690" y="87456"/>
            <a:ext cx="1932296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8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研究内容｜机理与建模</a:t>
            </a:r>
            <a:endParaRPr lang="en-US" sz="10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10418" y="524735"/>
            <a:ext cx="8261478" cy="3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62B5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时频联合调控通过改变差拍频率，将干扰主动推出接收通带</a:t>
            </a:r>
            <a:endParaRPr lang="en-US" sz="23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10418" y="918287"/>
            <a:ext cx="4987512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062B5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三个载波频点与三个发射时延构成9维联合动作空间</a:t>
            </a:r>
            <a:endParaRPr lang="en-US" sz="14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04167" y="1238959"/>
            <a:ext cx="5789597" cy="4263475"/>
          </a:xfrm>
          <a:prstGeom prst="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39598" y="1238959"/>
            <a:ext cx="3325008" cy="4263475"/>
          </a:xfrm>
          <a:prstGeom prst="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9559397" y="1238959"/>
            <a:ext cx="2318755" cy="1894878"/>
          </a:xfrm>
          <a:prstGeom prst="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559397" y="3214004"/>
            <a:ext cx="2318755" cy="2288429"/>
          </a:xfrm>
          <a:prstGeom prst="rect">
            <a:avLst/>
          </a:prstGeom>
          <a:solidFill>
            <a:srgbClr val="FCFAF5">
              <a:alpha val="0"/>
            </a:srgbClr>
          </a:solidFill>
          <a:ln w="12700">
            <a:solidFill>
              <a:srgbClr val="12355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5628" y="1333702"/>
            <a:ext cx="3908342" cy="269656"/>
          </a:xfrm>
          <a:prstGeom prst="roundRect">
            <a:avLst/>
          </a:prstGeom>
          <a:solidFill>
            <a:srgbClr val="07345E"/>
          </a:solidFill>
          <a:ln w="12700">
            <a:solidFill>
              <a:srgbClr val="07345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2295" y="1370142"/>
            <a:ext cx="3682300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通过改变 f_c 或 t_d，增大差拍频率，使干扰超出接收通带</a:t>
            </a:r>
            <a:endParaRPr lang="en-US" sz="113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77084" y="1690814"/>
            <a:ext cx="875002" cy="466431"/>
          </a:xfrm>
          <a:prstGeom prst="round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6D8DB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542" y="1719966"/>
            <a:ext cx="802085" cy="4081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发射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(LFM Chirp)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77084" y="2405037"/>
            <a:ext cx="875002" cy="459143"/>
          </a:xfrm>
          <a:prstGeom prst="round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6D8DB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542" y="2434189"/>
            <a:ext cx="802085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接收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(目标 + 干扰)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77084" y="2973501"/>
            <a:ext cx="875002" cy="378976"/>
          </a:xfrm>
          <a:prstGeom prst="round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6D8D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3542" y="3002652"/>
            <a:ext cx="802085" cy="32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10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Dechirp</a:t>
            </a:r>
            <a:endParaRPr lang="en-US" sz="10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4000"/>
              </a:lnSpc>
              <a:buNone/>
            </a:pPr>
            <a:r>
              <a:rPr lang="en-US" sz="10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混频</a:t>
            </a:r>
            <a:endParaRPr lang="en-US" sz="10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77084" y="3425356"/>
            <a:ext cx="875002" cy="451855"/>
          </a:xfrm>
          <a:prstGeom prst="round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6D8D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13542" y="3454508"/>
            <a:ext cx="802085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差拍频谱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(Beat Spectrum)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77084" y="4139579"/>
            <a:ext cx="875002" cy="415416"/>
          </a:xfrm>
          <a:prstGeom prst="round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6D8D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3542" y="4168731"/>
            <a:ext cx="802085" cy="357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接收通带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4000"/>
              </a:lnSpc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(LPF)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691252" y="2164533"/>
            <a:ext cx="17500" cy="145760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10800000">
            <a:off x="656252" y="2295717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1252" y="2864181"/>
            <a:ext cx="17500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10800000">
            <a:off x="656252" y="2878757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1252" y="3352476"/>
            <a:ext cx="17500" cy="14576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656252" y="3330612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91252" y="3884499"/>
            <a:ext cx="17500" cy="17491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0800000">
            <a:off x="656252" y="4044835"/>
            <a:ext cx="87500" cy="87456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341670" y="1639798"/>
            <a:ext cx="284376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幅度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2880215" y="1639798"/>
            <a:ext cx="1050002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线性调频脉冲</a:t>
            </a:r>
            <a:endParaRPr lang="en-US" sz="8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487503" y="2142670"/>
            <a:ext cx="4119801" cy="10932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487503" y="1756406"/>
            <a:ext cx="10938" cy="393552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-4186508">
            <a:off x="1434650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5084256">
            <a:off x="1506969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655212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-4186508">
            <a:off x="1562254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5084256">
            <a:off x="1634574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782817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-4186508">
            <a:off x="1689859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5084256">
            <a:off x="1762178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910421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-4186508">
            <a:off x="1817463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5084256">
            <a:off x="1889783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2038026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-4186508">
            <a:off x="1945068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5084256">
            <a:off x="2017387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165630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-4186508">
            <a:off x="2072672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5084256">
            <a:off x="2144992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293235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-4186508">
            <a:off x="2200277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5084256">
            <a:off x="2272596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2420839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-4186508">
            <a:off x="2327881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5084256">
            <a:off x="2400200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2548443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-4186508">
            <a:off x="2455486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5084256">
            <a:off x="2527805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2676048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-4186508">
            <a:off x="2583090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5084256">
            <a:off x="2655409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803652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-4186508">
            <a:off x="2710695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5084256">
            <a:off x="2783014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31257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-4186508">
            <a:off x="2838299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5084256">
            <a:off x="2910618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3058861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-4186508">
            <a:off x="2965904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5084256">
            <a:off x="3038223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3186466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-4186508">
            <a:off x="3093508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5084256">
            <a:off x="3165827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3314070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-4186508">
            <a:off x="3221113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5084256">
            <a:off x="3293432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3441675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 rot="-4186508">
            <a:off x="3348717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 rot="5084256">
            <a:off x="3421036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3569279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 rot="-4186508">
            <a:off x="3476321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 rot="5084256">
            <a:off x="3548641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3696884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-4186508">
            <a:off x="3603926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5084256">
            <a:off x="3676245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3824488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 rot="-4186508">
            <a:off x="3731530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5084256">
            <a:off x="3803850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3952093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 rot="-4186508">
            <a:off x="3859135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 rot="5084256">
            <a:off x="3931454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4079697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 rot="-4186508">
            <a:off x="3986739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 rot="5084256">
            <a:off x="4059059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4207302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 rot="-4186508">
            <a:off x="4114344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 rot="5084256">
            <a:off x="4186663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4334906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 rot="-4186508">
            <a:off x="4241948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 rot="5084256">
            <a:off x="4314267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4462510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 rot="-4186508">
            <a:off x="4369553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 rot="5084256">
            <a:off x="4441872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4590115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rot="-4186508">
            <a:off x="4497157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rot="5084256">
            <a:off x="4569476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4717719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rot="-4186508">
            <a:off x="4624762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rot="5084256">
            <a:off x="4697081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4845324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rot="-4186508">
            <a:off x="4752366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rot="5084256">
            <a:off x="4824685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4972928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rot="-4186508">
            <a:off x="4879971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rot="5084256">
            <a:off x="4952290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5100533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rot="-4186508">
            <a:off x="5007575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rot="5084256">
            <a:off x="5079894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5228137" y="2087099"/>
            <a:ext cx="7292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rot="-4186508">
            <a:off x="5135180" y="1948627"/>
            <a:ext cx="295291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rot="5084256">
            <a:off x="5207499" y="1948627"/>
            <a:ext cx="278257" cy="911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405092" y="2129086"/>
            <a:ext cx="277084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时间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7" name="Text 125"/>
          <p:cNvSpPr/>
          <p:nvPr/>
        </p:nvSpPr>
        <p:spPr>
          <a:xfrm>
            <a:off x="5198971" y="2208261"/>
            <a:ext cx="320834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i="1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T_sw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8" name="Text 126"/>
          <p:cNvSpPr/>
          <p:nvPr/>
        </p:nvSpPr>
        <p:spPr>
          <a:xfrm>
            <a:off x="1341670" y="2281141"/>
            <a:ext cx="284376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幅度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9" name="Text 127"/>
          <p:cNvSpPr/>
          <p:nvPr/>
        </p:nvSpPr>
        <p:spPr>
          <a:xfrm>
            <a:off x="2253130" y="2288429"/>
            <a:ext cx="1013544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763B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目标回波 (τ_tar)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0" name="Text 128"/>
          <p:cNvSpPr/>
          <p:nvPr/>
        </p:nvSpPr>
        <p:spPr>
          <a:xfrm>
            <a:off x="3777092" y="2288429"/>
            <a:ext cx="1035419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C642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干扰回波 (τ_intf)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1" name="Shape 129"/>
          <p:cNvSpPr/>
          <p:nvPr/>
        </p:nvSpPr>
        <p:spPr>
          <a:xfrm>
            <a:off x="1487503" y="2805877"/>
            <a:ext cx="4119801" cy="10932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1487503" y="2405037"/>
            <a:ext cx="10938" cy="408128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rot="-4107708">
            <a:off x="1504228" y="2579785"/>
            <a:ext cx="85406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rot="4397991">
            <a:off x="1523730" y="2592312"/>
            <a:ext cx="10911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rot="3464981">
            <a:off x="1580260" y="2669374"/>
            <a:ext cx="5875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rot="-4453549">
            <a:off x="1583324" y="2638738"/>
            <a:ext cx="11533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rot="-3372536">
            <a:off x="1644160" y="2559855"/>
            <a:ext cx="56376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rot="4730105">
            <a:off x="1622739" y="2615831"/>
            <a:ext cx="16192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rot="-2887240">
            <a:off x="1711572" y="2677745"/>
            <a:ext cx="4696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rot="-4342763">
            <a:off x="1714622" y="2610935"/>
            <a:ext cx="10357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 rot="1027803">
            <a:off x="1781360" y="2566430"/>
            <a:ext cx="3281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 rot="4629816">
            <a:off x="1758555" y="2640026"/>
            <a:ext cx="141129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 rot="-4314026">
            <a:off x="1810011" y="2660851"/>
            <a:ext cx="10092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rot="-3163041">
            <a:off x="1865947" y="2592328"/>
            <a:ext cx="51761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 rot="2993805">
            <a:off x="1898845" y="2590352"/>
            <a:ext cx="48674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 rot="4161111">
            <a:off x="1910078" y="2650538"/>
            <a:ext cx="88916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 rot="-4446709">
            <a:off x="1928624" y="2637069"/>
            <a:ext cx="114531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 rot="852085">
            <a:off x="2001073" y="2585984"/>
            <a:ext cx="32343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 rot="3209052">
            <a:off x="2022252" y="2611113"/>
            <a:ext cx="5269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 rot="3536922">
            <a:off x="2049559" y="2658302"/>
            <a:ext cx="6078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 rot="-4632350">
            <a:off x="2040514" y="2615326"/>
            <a:ext cx="14158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 rot="3852583">
            <a:off x="2106628" y="2578753"/>
            <a:ext cx="72066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 rot="3273376">
            <a:off x="2146981" y="2633193"/>
            <a:ext cx="5406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 rot="2080014">
            <a:off x="2186309" y="2666043"/>
            <a:ext cx="3812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 rot="-4797935">
            <a:off x="2146750" y="2588326"/>
            <a:ext cx="179949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 rot="4720744">
            <a:off x="2188217" y="2578040"/>
            <a:ext cx="159723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 rot="1074417">
            <a:off x="2282957" y="2661371"/>
            <a:ext cx="3295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 rot="-2133946">
            <a:off x="2311514" y="2655230"/>
            <a:ext cx="3854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 rot="-4712420">
            <a:off x="2283234" y="2566731"/>
            <a:ext cx="157814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 rot="4903053">
            <a:off x="2284666" y="2597076"/>
            <a:ext cx="21765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 rot="-3721969">
            <a:off x="2391420" y="2675205"/>
            <a:ext cx="6685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 rot="-3036348">
            <a:off x="2431502" y="2626615"/>
            <a:ext cx="49404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rot="-4064513">
            <a:off x="2446169" y="2569250"/>
            <a:ext cx="8277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 rot="4820513">
            <a:off x="2425467" y="2623038"/>
            <a:ext cx="18689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rot="-4379336">
            <a:off x="2496680" y="2663896"/>
            <a:ext cx="107173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 rot="-1760263">
            <a:off x="2563637" y="2603873"/>
            <a:ext cx="3596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 rot="-1741832">
            <a:off x="2595045" y="2586370"/>
            <a:ext cx="3586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rot="4567631">
            <a:off x="2578944" y="2641118"/>
            <a:ext cx="130769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 rot="-4514123">
            <a:off x="2614168" y="2645109"/>
            <a:ext cx="123031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rot="1027979">
            <a:off x="2690632" y="2590486"/>
            <a:ext cx="3281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 rot="1130113">
            <a:off x="2721828" y="2600661"/>
            <a:ext cx="3312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rot="4400205">
            <a:off x="2715074" y="2658356"/>
            <a:ext cx="10934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rot="-4758256">
            <a:off x="2716630" y="2627745"/>
            <a:ext cx="16894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rot="3720594">
            <a:off x="2799051" y="2574266"/>
            <a:ext cx="6680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rot="2751170">
            <a:off x="2841300" y="2619891"/>
            <a:ext cx="4501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rot="4040191">
            <a:off x="2854477" y="2673559"/>
            <a:ext cx="8137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rot="-4903893">
            <a:off x="2817506" y="2603261"/>
            <a:ext cx="218023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rot="4646552">
            <a:off x="2885766" y="2565782"/>
            <a:ext cx="144211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rot="2379892">
            <a:off x="2968860" y="2649120"/>
            <a:ext cx="40731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rot="1067024">
            <a:off x="3004116" y="2667138"/>
            <a:ext cx="3292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rot="-4820739">
            <a:off x="2958453" y="2580054"/>
            <a:ext cx="18696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rot="4829664">
            <a:off x="2988359" y="2581523"/>
            <a:ext cx="18986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rot="-1690433">
            <a:off x="3096858" y="2666709"/>
            <a:ext cx="3556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rot="-2948874">
            <a:off x="3122030" y="2640197"/>
            <a:ext cx="47934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rot="-4271182">
            <a:off x="3128739" y="2576085"/>
            <a:ext cx="9722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rot="4727240">
            <a:off x="3128083" y="2609137"/>
            <a:ext cx="16124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rot="-3558453">
            <a:off x="3209346" y="2661782"/>
            <a:ext cx="6142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rot="-3092511">
            <a:off x="3246207" y="2615656"/>
            <a:ext cx="50413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rot="-2199853">
            <a:off x="3283224" y="2584263"/>
            <a:ext cx="3908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rot="4509371">
            <a:off x="3272928" y="2631722"/>
            <a:ext cx="122389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rot="-4088450">
            <a:off x="3323371" y="2651785"/>
            <a:ext cx="8421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rot="-2764128">
            <a:off x="3374235" y="2596461"/>
            <a:ext cx="4519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rot="2046414">
            <a:off x="3409251" y="2590808"/>
            <a:ext cx="37868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rot="4408946">
            <a:off x="3404398" y="2654258"/>
            <a:ext cx="11028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rot="-4578474">
            <a:off x="3424663" y="2642781"/>
            <a:ext cx="132462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 rot="-1190584">
            <a:off x="3505581" y="2572810"/>
            <a:ext cx="33333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rot="4058690">
            <a:off x="3512384" y="2605257"/>
            <a:ext cx="82436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rot="3819944">
            <a:off x="3549616" y="2675014"/>
            <a:ext cx="7068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rot="-4770671">
            <a:off x="3530193" y="2622035"/>
            <a:ext cx="172235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rot="3242674">
            <a:off x="3620965" y="2559002"/>
            <a:ext cx="5340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 rot="4397869">
            <a:off x="3624470" y="2632825"/>
            <a:ext cx="109097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 rot="-2087577">
            <a:off x="3691283" y="2674158"/>
            <a:ext cx="38180" cy="8381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rot="-4369228">
            <a:off x="3368686" y="2569982"/>
            <a:ext cx="103685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 rot="3424752">
            <a:off x="3422979" y="2544116"/>
            <a:ext cx="56350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05" name="Shape 203"/>
          <p:cNvSpPr/>
          <p:nvPr/>
        </p:nvSpPr>
        <p:spPr>
          <a:xfrm rot="-782739">
            <a:off x="3466061" y="2564209"/>
            <a:ext cx="3143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06" name="Shape 204"/>
          <p:cNvSpPr/>
          <p:nvPr/>
        </p:nvSpPr>
        <p:spPr>
          <a:xfrm rot="4585513">
            <a:off x="3447165" y="2624047"/>
            <a:ext cx="13047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07" name="Shape 205"/>
          <p:cNvSpPr/>
          <p:nvPr/>
        </p:nvSpPr>
        <p:spPr>
          <a:xfrm rot="3666866">
            <a:off x="3511330" y="2715173"/>
            <a:ext cx="6339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08" name="Shape 206"/>
          <p:cNvSpPr/>
          <p:nvPr/>
        </p:nvSpPr>
        <p:spPr>
          <a:xfrm rot="-4437626">
            <a:off x="3518234" y="2689678"/>
            <a:ext cx="11083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09" name="Shape 207"/>
          <p:cNvSpPr/>
          <p:nvPr/>
        </p:nvSpPr>
        <p:spPr>
          <a:xfrm rot="-1771252">
            <a:off x="3586682" y="2627777"/>
            <a:ext cx="3519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0" name="Shape 208"/>
          <p:cNvSpPr/>
          <p:nvPr/>
        </p:nvSpPr>
        <p:spPr>
          <a:xfrm rot="-4504244">
            <a:off x="3575467" y="2561709"/>
            <a:ext cx="11887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 rot="1965453">
            <a:off x="3647321" y="2514154"/>
            <a:ext cx="3641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 rot="4662223">
            <a:off x="3624253" y="2594218"/>
            <a:ext cx="143802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3" name="Shape 211"/>
          <p:cNvSpPr/>
          <p:nvPr/>
        </p:nvSpPr>
        <p:spPr>
          <a:xfrm rot="325553">
            <a:off x="3711398" y="2665887"/>
            <a:ext cx="30763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4" name="Shape 212"/>
          <p:cNvSpPr/>
          <p:nvPr/>
        </p:nvSpPr>
        <p:spPr>
          <a:xfrm rot="3846181">
            <a:off x="3722345" y="2698864"/>
            <a:ext cx="70120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 rot="-4170820">
            <a:off x="3744278" y="2689423"/>
            <a:ext cx="8750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 rot="-4556362">
            <a:off x="3755627" y="2587350"/>
            <a:ext cx="12605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7" name="Shape 215"/>
          <p:cNvSpPr/>
          <p:nvPr/>
        </p:nvSpPr>
        <p:spPr>
          <a:xfrm rot="3123216">
            <a:off x="3824378" y="2545869"/>
            <a:ext cx="49803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8" name="Shape 216"/>
          <p:cNvSpPr/>
          <p:nvPr/>
        </p:nvSpPr>
        <p:spPr>
          <a:xfrm rot="-1181377">
            <a:off x="3863641" y="2560019"/>
            <a:ext cx="3252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 rot="4374472">
            <a:off x="3858430" y="2604315"/>
            <a:ext cx="10419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 rot="3947056">
            <a:off x="3903823" y="2688118"/>
            <a:ext cx="7466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 rot="-4111085">
            <a:off x="3929966" y="2683259"/>
            <a:ext cx="8362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 rot="-1372153">
            <a:off x="3985786" y="2637914"/>
            <a:ext cx="3323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 rot="-4173240">
            <a:off x="3989196" y="2590406"/>
            <a:ext cx="8766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 rot="-1206467">
            <a:off x="4047349" y="2543751"/>
            <a:ext cx="32613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 rot="4372710">
            <a:off x="4042268" y="2587830"/>
            <a:ext cx="10402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6" name="Shape 224"/>
          <p:cNvSpPr/>
          <p:nvPr/>
        </p:nvSpPr>
        <p:spPr>
          <a:xfrm rot="997990">
            <a:off x="4108924" y="2642085"/>
            <a:ext cx="31962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7" name="Shape 225"/>
          <p:cNvSpPr/>
          <p:nvPr/>
        </p:nvSpPr>
        <p:spPr>
          <a:xfrm rot="3606025">
            <a:off x="4124812" y="2673273"/>
            <a:ext cx="6143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8" name="Shape 226"/>
          <p:cNvSpPr/>
          <p:nvPr/>
        </p:nvSpPr>
        <p:spPr>
          <a:xfrm rot="-3022594">
            <a:off x="4162145" y="2681405"/>
            <a:ext cx="4802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29" name="Shape 227"/>
          <p:cNvSpPr/>
          <p:nvPr/>
        </p:nvSpPr>
        <p:spPr>
          <a:xfrm rot="-4457775">
            <a:off x="4160207" y="2608485"/>
            <a:ext cx="11314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0" name="Shape 228"/>
          <p:cNvSpPr/>
          <p:nvPr/>
        </p:nvSpPr>
        <p:spPr>
          <a:xfrm rot="1758594">
            <a:off x="4229845" y="2562642"/>
            <a:ext cx="3512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1" name="Shape 229"/>
          <p:cNvSpPr/>
          <p:nvPr/>
        </p:nvSpPr>
        <p:spPr>
          <a:xfrm rot="-2013211">
            <a:off x="4259657" y="2561084"/>
            <a:ext cx="3674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2" name="Shape 230"/>
          <p:cNvSpPr/>
          <p:nvPr/>
        </p:nvSpPr>
        <p:spPr>
          <a:xfrm rot="4126055">
            <a:off x="4266374" y="2590325"/>
            <a:ext cx="8456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3" name="Shape 231"/>
          <p:cNvSpPr/>
          <p:nvPr/>
        </p:nvSpPr>
        <p:spPr>
          <a:xfrm rot="4370409">
            <a:off x="4287381" y="2679282"/>
            <a:ext cx="103800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4" name="Shape 232"/>
          <p:cNvSpPr/>
          <p:nvPr/>
        </p:nvSpPr>
        <p:spPr>
          <a:xfrm rot="-3952074">
            <a:off x="4332453" y="2694684"/>
            <a:ext cx="7490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5" name="Shape 233"/>
          <p:cNvSpPr/>
          <p:nvPr/>
        </p:nvSpPr>
        <p:spPr>
          <a:xfrm rot="-1288161">
            <a:off x="4384077" y="2654502"/>
            <a:ext cx="3290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6" name="Shape 234"/>
          <p:cNvSpPr/>
          <p:nvPr/>
        </p:nvSpPr>
        <p:spPr>
          <a:xfrm rot="-4380699">
            <a:off x="4378748" y="2598386"/>
            <a:ext cx="10481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7" name="Shape 235"/>
          <p:cNvSpPr/>
          <p:nvPr/>
        </p:nvSpPr>
        <p:spPr>
          <a:xfrm rot="-3601550">
            <a:off x="4431132" y="2521754"/>
            <a:ext cx="6129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8" name="Shape 236"/>
          <p:cNvSpPr/>
          <p:nvPr/>
        </p:nvSpPr>
        <p:spPr>
          <a:xfrm rot="4600993">
            <a:off x="4425927" y="2559877"/>
            <a:ext cx="13295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39" name="Shape 237"/>
          <p:cNvSpPr/>
          <p:nvPr/>
        </p:nvSpPr>
        <p:spPr>
          <a:xfrm rot="2128157">
            <a:off x="4504230" y="2635440"/>
            <a:ext cx="37603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0" name="Shape 238"/>
          <p:cNvSpPr/>
          <p:nvPr/>
        </p:nvSpPr>
        <p:spPr>
          <a:xfrm rot="4153548">
            <a:off x="4510484" y="2686690"/>
            <a:ext cx="8634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1" name="Shape 239"/>
          <p:cNvSpPr/>
          <p:nvPr/>
        </p:nvSpPr>
        <p:spPr>
          <a:xfrm rot="-1943189">
            <a:off x="4566149" y="2717327"/>
            <a:ext cx="3626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2" name="Shape 240"/>
          <p:cNvSpPr/>
          <p:nvPr/>
        </p:nvSpPr>
        <p:spPr>
          <a:xfrm rot="-4749802">
            <a:off x="4533461" y="2627667"/>
            <a:ext cx="16289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3" name="Shape 241"/>
          <p:cNvSpPr/>
          <p:nvPr/>
        </p:nvSpPr>
        <p:spPr>
          <a:xfrm rot="955923">
            <a:off x="4629607" y="2552083"/>
            <a:ext cx="3184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 rot="-2672292">
            <a:off x="4654674" y="2541392"/>
            <a:ext cx="42965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5" name="Shape 243"/>
          <p:cNvSpPr/>
          <p:nvPr/>
        </p:nvSpPr>
        <p:spPr>
          <a:xfrm rot="4081939">
            <a:off x="4665848" y="2564274"/>
            <a:ext cx="8186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6" name="Shape 244"/>
          <p:cNvSpPr/>
          <p:nvPr/>
        </p:nvSpPr>
        <p:spPr>
          <a:xfrm rot="4626417">
            <a:off x="4668781" y="2669078"/>
            <a:ext cx="13725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7" name="Shape 245"/>
          <p:cNvSpPr/>
          <p:nvPr/>
        </p:nvSpPr>
        <p:spPr>
          <a:xfrm rot="-3827448">
            <a:off x="4733361" y="2704848"/>
            <a:ext cx="69342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8" name="Shape 246"/>
          <p:cNvSpPr/>
          <p:nvPr/>
        </p:nvSpPr>
        <p:spPr>
          <a:xfrm rot="-1374582">
            <a:off x="4782033" y="2667289"/>
            <a:ext cx="3324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49" name="Shape 247"/>
          <p:cNvSpPr/>
          <p:nvPr/>
        </p:nvSpPr>
        <p:spPr>
          <a:xfrm rot="-4221988">
            <a:off x="4783709" y="2617920"/>
            <a:ext cx="91145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0" name="Shape 248"/>
          <p:cNvSpPr/>
          <p:nvPr/>
        </p:nvSpPr>
        <p:spPr>
          <a:xfrm rot="-3987648">
            <a:off x="4821566" y="2539886"/>
            <a:ext cx="76682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1" name="Shape 249"/>
          <p:cNvSpPr/>
          <p:nvPr/>
        </p:nvSpPr>
        <p:spPr>
          <a:xfrm rot="4400062">
            <a:off x="4837139" y="2555878"/>
            <a:ext cx="10678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2" name="Shape 250"/>
          <p:cNvSpPr/>
          <p:nvPr/>
        </p:nvSpPr>
        <p:spPr>
          <a:xfrm rot="2230706">
            <a:off x="4901939" y="2618611"/>
            <a:ext cx="38437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3" name="Shape 251"/>
          <p:cNvSpPr/>
          <p:nvPr/>
        </p:nvSpPr>
        <p:spPr>
          <a:xfrm rot="3782632">
            <a:off x="4918003" y="2660313"/>
            <a:ext cx="6755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4" name="Shape 252"/>
          <p:cNvSpPr/>
          <p:nvPr/>
        </p:nvSpPr>
        <p:spPr>
          <a:xfrm rot="972569">
            <a:off x="4966461" y="2694856"/>
            <a:ext cx="31893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5" name="Shape 253"/>
          <p:cNvSpPr/>
          <p:nvPr/>
        </p:nvSpPr>
        <p:spPr>
          <a:xfrm rot="-4508322">
            <a:off x="4953330" y="2641629"/>
            <a:ext cx="119405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6" name="Shape 254"/>
          <p:cNvSpPr/>
          <p:nvPr/>
        </p:nvSpPr>
        <p:spPr>
          <a:xfrm rot="-672752">
            <a:off x="5028047" y="2580919"/>
            <a:ext cx="3122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7" name="Shape 255"/>
          <p:cNvSpPr/>
          <p:nvPr/>
        </p:nvSpPr>
        <p:spPr>
          <a:xfrm rot="-2420338">
            <a:off x="5054194" y="2564888"/>
            <a:ext cx="4017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8" name="Shape 256"/>
          <p:cNvSpPr/>
          <p:nvPr/>
        </p:nvSpPr>
        <p:spPr>
          <a:xfrm rot="2893816">
            <a:off x="5081921" y="2569026"/>
            <a:ext cx="4597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59" name="Shape 257"/>
          <p:cNvSpPr/>
          <p:nvPr/>
        </p:nvSpPr>
        <p:spPr>
          <a:xfrm rot="4483589">
            <a:off x="5077405" y="2642208"/>
            <a:ext cx="11625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0" name="Shape 258"/>
          <p:cNvSpPr/>
          <p:nvPr/>
        </p:nvSpPr>
        <p:spPr>
          <a:xfrm rot="-2611806">
            <a:off x="5145038" y="2683716"/>
            <a:ext cx="4224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1" name="Shape 259"/>
          <p:cNvSpPr/>
          <p:nvPr/>
        </p:nvSpPr>
        <p:spPr>
          <a:xfrm rot="-649871">
            <a:off x="5181193" y="2666249"/>
            <a:ext cx="3118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2" name="Shape 260"/>
          <p:cNvSpPr/>
          <p:nvPr/>
        </p:nvSpPr>
        <p:spPr>
          <a:xfrm rot="-3843351">
            <a:off x="5192408" y="2631863"/>
            <a:ext cx="7000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3" name="Shape 261"/>
          <p:cNvSpPr/>
          <p:nvPr/>
        </p:nvSpPr>
        <p:spPr>
          <a:xfrm rot="-4312633">
            <a:off x="5208805" y="2553644"/>
            <a:ext cx="98456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4" name="Shape 262"/>
          <p:cNvSpPr/>
          <p:nvPr/>
        </p:nvSpPr>
        <p:spPr>
          <a:xfrm rot="4185278">
            <a:off x="5244408" y="2548378"/>
            <a:ext cx="88501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5" name="Shape 263"/>
          <p:cNvSpPr/>
          <p:nvPr/>
        </p:nvSpPr>
        <p:spPr>
          <a:xfrm rot="2653295">
            <a:off x="5297916" y="2604768"/>
            <a:ext cx="4273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6" name="Shape 264"/>
          <p:cNvSpPr/>
          <p:nvPr/>
        </p:nvSpPr>
        <p:spPr>
          <a:xfrm rot="3981688">
            <a:off x="5311719" y="2654630"/>
            <a:ext cx="76378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7" name="Shape 265"/>
          <p:cNvSpPr/>
          <p:nvPr/>
        </p:nvSpPr>
        <p:spPr>
          <a:xfrm rot="3421151">
            <a:off x="5352404" y="2713181"/>
            <a:ext cx="5625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8" name="Shape 266"/>
          <p:cNvSpPr/>
          <p:nvPr/>
        </p:nvSpPr>
        <p:spPr>
          <a:xfrm rot="-4671570">
            <a:off x="5338349" y="2665621"/>
            <a:ext cx="145619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69" name="Shape 267"/>
          <p:cNvSpPr/>
          <p:nvPr/>
        </p:nvSpPr>
        <p:spPr>
          <a:xfrm rot="-2428893">
            <a:off x="5421652" y="2581413"/>
            <a:ext cx="40264" cy="8381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70" name="Text 268"/>
          <p:cNvSpPr/>
          <p:nvPr/>
        </p:nvSpPr>
        <p:spPr>
          <a:xfrm>
            <a:off x="5384996" y="2792293"/>
            <a:ext cx="277084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4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时间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1" name="Text 269"/>
          <p:cNvSpPr/>
          <p:nvPr/>
        </p:nvSpPr>
        <p:spPr>
          <a:xfrm>
            <a:off x="5198971" y="2893333"/>
            <a:ext cx="320834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i="1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T_sw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2" name="Shape 270"/>
          <p:cNvSpPr/>
          <p:nvPr/>
        </p:nvSpPr>
        <p:spPr>
          <a:xfrm>
            <a:off x="1779171" y="3002652"/>
            <a:ext cx="3288549" cy="262368"/>
          </a:xfrm>
          <a:prstGeom prst="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8BA2B8"/>
            </a:solidFill>
            <a:prstDash val="solid"/>
          </a:ln>
        </p:spPr>
      </p:sp>
      <p:sp>
        <p:nvSpPr>
          <p:cNvPr id="273" name="Text 271"/>
          <p:cNvSpPr/>
          <p:nvPr/>
        </p:nvSpPr>
        <p:spPr>
          <a:xfrm>
            <a:off x="1895838" y="3031804"/>
            <a:ext cx="3055215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182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s_mix(t) = s_rx(t) · s_tx*(t)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4" name="Text 272"/>
          <p:cNvSpPr/>
          <p:nvPr/>
        </p:nvSpPr>
        <p:spPr>
          <a:xfrm>
            <a:off x="1341670" y="3330612"/>
            <a:ext cx="284376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幅度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5" name="Text 273"/>
          <p:cNvSpPr/>
          <p:nvPr/>
        </p:nvSpPr>
        <p:spPr>
          <a:xfrm>
            <a:off x="2887507" y="3279596"/>
            <a:ext cx="107916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差拍频率  f_beat</a:t>
            </a:r>
            <a:endParaRPr lang="en-US" sz="8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6" name="Shape 274"/>
          <p:cNvSpPr/>
          <p:nvPr/>
        </p:nvSpPr>
        <p:spPr>
          <a:xfrm>
            <a:off x="1487503" y="3877211"/>
            <a:ext cx="4119801" cy="10932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277" name="Shape 275"/>
          <p:cNvSpPr/>
          <p:nvPr/>
        </p:nvSpPr>
        <p:spPr>
          <a:xfrm>
            <a:off x="1487503" y="3469084"/>
            <a:ext cx="10938" cy="415416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278" name="Shape 276"/>
          <p:cNvSpPr/>
          <p:nvPr/>
        </p:nvSpPr>
        <p:spPr>
          <a:xfrm>
            <a:off x="1553129" y="3863729"/>
            <a:ext cx="838544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79" name="Shape 277"/>
          <p:cNvSpPr/>
          <p:nvPr/>
        </p:nvSpPr>
        <p:spPr>
          <a:xfrm rot="-81836">
            <a:off x="2391629" y="3860085"/>
            <a:ext cx="306338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0" name="Shape 278"/>
          <p:cNvSpPr/>
          <p:nvPr/>
        </p:nvSpPr>
        <p:spPr>
          <a:xfrm rot="-637179">
            <a:off x="2696906" y="3845509"/>
            <a:ext cx="118700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1" name="Shape 279"/>
          <p:cNvSpPr/>
          <p:nvPr/>
        </p:nvSpPr>
        <p:spPr>
          <a:xfrm rot="-2863579">
            <a:off x="2796849" y="3794493"/>
            <a:ext cx="108399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2" name="Shape 280"/>
          <p:cNvSpPr/>
          <p:nvPr/>
        </p:nvSpPr>
        <p:spPr>
          <a:xfrm rot="-4799521">
            <a:off x="2783508" y="3630513"/>
            <a:ext cx="251748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3" name="Shape 281"/>
          <p:cNvSpPr/>
          <p:nvPr/>
        </p:nvSpPr>
        <p:spPr>
          <a:xfrm rot="4799521">
            <a:off x="2827258" y="3630513"/>
            <a:ext cx="251748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4" name="Shape 282"/>
          <p:cNvSpPr/>
          <p:nvPr/>
        </p:nvSpPr>
        <p:spPr>
          <a:xfrm rot="2700000">
            <a:off x="2956885" y="3798137"/>
            <a:ext cx="123744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5" name="Shape 283"/>
          <p:cNvSpPr/>
          <p:nvPr/>
        </p:nvSpPr>
        <p:spPr>
          <a:xfrm rot="321350">
            <a:off x="3061996" y="3852797"/>
            <a:ext cx="234357" cy="12390"/>
          </a:xfrm>
          <a:prstGeom prst="rect">
            <a:avLst/>
          </a:prstGeom>
          <a:solidFill>
            <a:srgbClr val="2763B0"/>
          </a:solidFill>
          <a:ln w="12700">
            <a:solidFill>
              <a:srgbClr val="2763B0">
                <a:alpha val="0"/>
              </a:srgbClr>
            </a:solidFill>
            <a:prstDash val="solid"/>
          </a:ln>
        </p:spPr>
      </p:sp>
      <p:sp>
        <p:nvSpPr>
          <p:cNvPr id="286" name="Shape 284"/>
          <p:cNvSpPr/>
          <p:nvPr/>
        </p:nvSpPr>
        <p:spPr>
          <a:xfrm>
            <a:off x="3791676" y="3863729"/>
            <a:ext cx="444793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87" name="Shape 285"/>
          <p:cNvSpPr/>
          <p:nvPr/>
        </p:nvSpPr>
        <p:spPr>
          <a:xfrm rot="-983372">
            <a:off x="4233843" y="3845509"/>
            <a:ext cx="129209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88" name="Shape 286"/>
          <p:cNvSpPr/>
          <p:nvPr/>
        </p:nvSpPr>
        <p:spPr>
          <a:xfrm rot="-2254116">
            <a:off x="4348027" y="3790849"/>
            <a:ext cx="119593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89" name="Shape 287"/>
          <p:cNvSpPr/>
          <p:nvPr/>
        </p:nvSpPr>
        <p:spPr>
          <a:xfrm rot="-4406576">
            <a:off x="4354592" y="3619581"/>
            <a:ext cx="281463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90" name="Shape 288"/>
          <p:cNvSpPr/>
          <p:nvPr/>
        </p:nvSpPr>
        <p:spPr>
          <a:xfrm rot="4579722">
            <a:off x="4429410" y="3619581"/>
            <a:ext cx="277659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91" name="Shape 289"/>
          <p:cNvSpPr/>
          <p:nvPr/>
        </p:nvSpPr>
        <p:spPr>
          <a:xfrm rot="2550627">
            <a:off x="4585453" y="3794493"/>
            <a:ext cx="118700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92" name="Shape 290"/>
          <p:cNvSpPr/>
          <p:nvPr/>
        </p:nvSpPr>
        <p:spPr>
          <a:xfrm rot="427501">
            <a:off x="4687645" y="3849153"/>
            <a:ext cx="235150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93" name="Shape 291"/>
          <p:cNvSpPr/>
          <p:nvPr/>
        </p:nvSpPr>
        <p:spPr>
          <a:xfrm>
            <a:off x="4921887" y="3863729"/>
            <a:ext cx="328126" cy="12390"/>
          </a:xfrm>
          <a:prstGeom prst="rect">
            <a:avLst/>
          </a:prstGeom>
          <a:solidFill>
            <a:srgbClr val="C6423E"/>
          </a:solidFill>
          <a:ln w="12700">
            <a:solidFill>
              <a:srgbClr val="C6423E">
                <a:alpha val="0"/>
              </a:srgbClr>
            </a:solidFill>
            <a:prstDash val="solid"/>
          </a:ln>
        </p:spPr>
      </p:sp>
      <p:sp>
        <p:nvSpPr>
          <p:cNvPr id="294" name="Text 292"/>
          <p:cNvSpPr/>
          <p:nvPr/>
        </p:nvSpPr>
        <p:spPr>
          <a:xfrm>
            <a:off x="2068280" y="3424692"/>
            <a:ext cx="991669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2763B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目标 f_beat,tar</a:t>
            </a:r>
            <a:endParaRPr lang="en-US" sz="7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5" name="Text 293"/>
          <p:cNvSpPr/>
          <p:nvPr/>
        </p:nvSpPr>
        <p:spPr>
          <a:xfrm>
            <a:off x="4394450" y="3447552"/>
            <a:ext cx="1035419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70" b="1" dirty="0">
                <a:solidFill>
                  <a:srgbClr val="C6423E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 f_beat,intf</a:t>
            </a:r>
            <a:endParaRPr lang="en-US" sz="7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6" name="Text 294"/>
          <p:cNvSpPr/>
          <p:nvPr/>
        </p:nvSpPr>
        <p:spPr>
          <a:xfrm>
            <a:off x="5360235" y="3454508"/>
            <a:ext cx="568751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LPF截断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7" name="Shape 295"/>
          <p:cNvSpPr/>
          <p:nvPr/>
        </p:nvSpPr>
        <p:spPr>
          <a:xfrm>
            <a:off x="3047924" y="349823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298" name="Shape 296"/>
          <p:cNvSpPr/>
          <p:nvPr/>
        </p:nvSpPr>
        <p:spPr>
          <a:xfrm>
            <a:off x="3047924" y="357111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299" name="Shape 297"/>
          <p:cNvSpPr/>
          <p:nvPr/>
        </p:nvSpPr>
        <p:spPr>
          <a:xfrm>
            <a:off x="3047924" y="364399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0" name="Shape 298"/>
          <p:cNvSpPr/>
          <p:nvPr/>
        </p:nvSpPr>
        <p:spPr>
          <a:xfrm>
            <a:off x="3047924" y="371687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1" name="Shape 299"/>
          <p:cNvSpPr/>
          <p:nvPr/>
        </p:nvSpPr>
        <p:spPr>
          <a:xfrm>
            <a:off x="3047924" y="378975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2" name="Shape 300"/>
          <p:cNvSpPr/>
          <p:nvPr/>
        </p:nvSpPr>
        <p:spPr>
          <a:xfrm>
            <a:off x="4076051" y="349823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3" name="Shape 301"/>
          <p:cNvSpPr/>
          <p:nvPr/>
        </p:nvSpPr>
        <p:spPr>
          <a:xfrm>
            <a:off x="4076051" y="357111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4" name="Shape 302"/>
          <p:cNvSpPr/>
          <p:nvPr/>
        </p:nvSpPr>
        <p:spPr>
          <a:xfrm>
            <a:off x="4076051" y="364399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5" name="Shape 303"/>
          <p:cNvSpPr/>
          <p:nvPr/>
        </p:nvSpPr>
        <p:spPr>
          <a:xfrm>
            <a:off x="4076051" y="371687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6" name="Shape 304"/>
          <p:cNvSpPr/>
          <p:nvPr/>
        </p:nvSpPr>
        <p:spPr>
          <a:xfrm>
            <a:off x="4076051" y="3789756"/>
            <a:ext cx="10938" cy="43728"/>
          </a:xfrm>
          <a:prstGeom prst="rect">
            <a:avLst/>
          </a:prstGeom>
          <a:solidFill>
            <a:srgbClr val="7C96B0"/>
          </a:solidFill>
          <a:ln w="12700">
            <a:solidFill>
              <a:srgbClr val="7C96B0">
                <a:alpha val="0"/>
              </a:srgbClr>
            </a:solidFill>
            <a:prstDash val="solid"/>
          </a:ln>
        </p:spPr>
      </p:sp>
      <p:sp>
        <p:nvSpPr>
          <p:cNvPr id="307" name="Text 305"/>
          <p:cNvSpPr/>
          <p:nvPr/>
        </p:nvSpPr>
        <p:spPr>
          <a:xfrm>
            <a:off x="1516670" y="3920939"/>
            <a:ext cx="3901051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−20   −16   −12   −8   −4    0     4     8    12    16    20</a:t>
            </a:r>
            <a:endParaRPr lang="en-US" sz="69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8" name="Text 306"/>
          <p:cNvSpPr/>
          <p:nvPr/>
        </p:nvSpPr>
        <p:spPr>
          <a:xfrm>
            <a:off x="5118762" y="3920939"/>
            <a:ext cx="525001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频率 (MHz)</a:t>
            </a:r>
            <a:endParaRPr lang="en-US" sz="7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9" name="Text 307"/>
          <p:cNvSpPr/>
          <p:nvPr/>
        </p:nvSpPr>
        <p:spPr>
          <a:xfrm>
            <a:off x="1341670" y="4139579"/>
            <a:ext cx="284376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4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幅度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0" name="Shape 308"/>
          <p:cNvSpPr/>
          <p:nvPr/>
        </p:nvSpPr>
        <p:spPr>
          <a:xfrm>
            <a:off x="1487503" y="4533131"/>
            <a:ext cx="4119801" cy="10932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311" name="Shape 309"/>
          <p:cNvSpPr/>
          <p:nvPr/>
        </p:nvSpPr>
        <p:spPr>
          <a:xfrm>
            <a:off x="1487503" y="4256187"/>
            <a:ext cx="10938" cy="284232"/>
          </a:xfrm>
          <a:prstGeom prst="rect">
            <a:avLst/>
          </a:prstGeom>
          <a:solidFill>
            <a:srgbClr val="74808C"/>
          </a:solidFill>
          <a:ln w="12700">
            <a:solidFill>
              <a:srgbClr val="74808C">
                <a:alpha val="0"/>
              </a:srgbClr>
            </a:solidFill>
            <a:prstDash val="solid"/>
          </a:ln>
        </p:spPr>
      </p:sp>
      <p:sp>
        <p:nvSpPr>
          <p:cNvPr id="312" name="Shape 310"/>
          <p:cNvSpPr/>
          <p:nvPr/>
        </p:nvSpPr>
        <p:spPr>
          <a:xfrm>
            <a:off x="2741673" y="4401947"/>
            <a:ext cx="1633337" cy="131184"/>
          </a:xfrm>
          <a:prstGeom prst="rect">
            <a:avLst/>
          </a:prstGeom>
          <a:solidFill>
            <a:srgbClr val="DCEAF7">
              <a:alpha val="90000"/>
            </a:srgbClr>
          </a:solidFill>
          <a:ln w="7620">
            <a:solidFill>
              <a:srgbClr val="6D92B8"/>
            </a:solidFill>
            <a:prstDash val="solid"/>
          </a:ln>
        </p:spPr>
      </p:sp>
      <p:sp>
        <p:nvSpPr>
          <p:cNvPr id="313" name="Text 311"/>
          <p:cNvSpPr/>
          <p:nvPr/>
        </p:nvSpPr>
        <p:spPr>
          <a:xfrm>
            <a:off x="2501048" y="4197883"/>
            <a:ext cx="2136463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LPF通带：|f_beat| ≤ f_bmax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4" name="Text 312"/>
          <p:cNvSpPr/>
          <p:nvPr/>
        </p:nvSpPr>
        <p:spPr>
          <a:xfrm>
            <a:off x="1516670" y="4562283"/>
            <a:ext cx="3901051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69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−20   −16   −12   −8   −4    0     4     8    12    16    20</a:t>
            </a:r>
            <a:endParaRPr lang="en-US" sz="69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5" name="Text 313"/>
          <p:cNvSpPr/>
          <p:nvPr/>
        </p:nvSpPr>
        <p:spPr>
          <a:xfrm>
            <a:off x="5118762" y="4562283"/>
            <a:ext cx="525001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频率 (MHz)</a:t>
            </a:r>
            <a:endParaRPr lang="en-US" sz="7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6" name="Shape 314"/>
          <p:cNvSpPr/>
          <p:nvPr/>
        </p:nvSpPr>
        <p:spPr>
          <a:xfrm>
            <a:off x="284376" y="4759058"/>
            <a:ext cx="5600013" cy="655919"/>
          </a:xfrm>
          <a:prstGeom prst="round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12355B"/>
            </a:solidFill>
            <a:prstDash val="solid"/>
          </a:ln>
        </p:spPr>
      </p:sp>
      <p:sp>
        <p:nvSpPr>
          <p:cNvPr id="317" name="Shape 315"/>
          <p:cNvSpPr/>
          <p:nvPr/>
        </p:nvSpPr>
        <p:spPr>
          <a:xfrm>
            <a:off x="342709" y="4839226"/>
            <a:ext cx="736460" cy="488295"/>
          </a:xfrm>
          <a:prstGeom prst="roundRect">
            <a:avLst/>
          </a:prstGeom>
          <a:solidFill>
            <a:srgbClr val="07345E"/>
          </a:solidFill>
          <a:ln w="12700">
            <a:solidFill>
              <a:srgbClr val="07345E">
                <a:alpha val="0"/>
              </a:srgbClr>
            </a:solidFill>
            <a:prstDash val="solid"/>
          </a:ln>
        </p:spPr>
      </p:sp>
      <p:sp>
        <p:nvSpPr>
          <p:cNvPr id="318" name="Text 316"/>
          <p:cNvSpPr/>
          <p:nvPr/>
        </p:nvSpPr>
        <p:spPr>
          <a:xfrm>
            <a:off x="379168" y="4868378"/>
            <a:ext cx="663543" cy="42999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干扰推出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2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通带原理</a:t>
            </a:r>
            <a:endParaRPr lang="en-US" sz="11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9" name="Text 317"/>
          <p:cNvSpPr/>
          <p:nvPr/>
        </p:nvSpPr>
        <p:spPr>
          <a:xfrm>
            <a:off x="1210419" y="4912106"/>
            <a:ext cx="1385420" cy="34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6000"/>
              </a:lnSpc>
              <a:buNone/>
            </a:pPr>
            <a:r>
              <a:rPr lang="en-US" sz="8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差拍频率与时延成正比：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6000"/>
              </a:lnSpc>
              <a:buNone/>
            </a:pPr>
            <a:r>
              <a:rPr lang="en-US" sz="8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f_beat,intf = K × τ_intf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0" name="Text 318"/>
          <p:cNvSpPr/>
          <p:nvPr/>
        </p:nvSpPr>
        <p:spPr>
          <a:xfrm>
            <a:off x="2661465" y="4882954"/>
            <a:ext cx="1779171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改变载频 f_c 或发射时延 t_d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2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→ 等效干扰时延变化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2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→ 差拍频率移动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1" name="Shape 319"/>
          <p:cNvSpPr/>
          <p:nvPr/>
        </p:nvSpPr>
        <p:spPr>
          <a:xfrm>
            <a:off x="4498969" y="4795498"/>
            <a:ext cx="1261461" cy="575751"/>
          </a:xfrm>
          <a:prstGeom prst="round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7E9BB8"/>
            </a:solidFill>
            <a:prstDash val="solid"/>
          </a:ln>
        </p:spPr>
      </p:sp>
      <p:sp>
        <p:nvSpPr>
          <p:cNvPr id="322" name="Text 320"/>
          <p:cNvSpPr/>
          <p:nvPr/>
        </p:nvSpPr>
        <p:spPr>
          <a:xfrm>
            <a:off x="4564594" y="4831938"/>
            <a:ext cx="1130211" cy="49558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87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当满足：</a:t>
            </a:r>
            <a:endParaRPr lang="en-US" sz="8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2000"/>
              </a:lnSpc>
              <a:buNone/>
            </a:pPr>
            <a:r>
              <a:rPr lang="en-US" sz="87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|f_beat,intf| &gt; f_bmax</a:t>
            </a:r>
            <a:endParaRPr lang="en-US" sz="8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2000"/>
              </a:lnSpc>
              <a:buNone/>
            </a:pPr>
            <a:r>
              <a:rPr lang="en-US" sz="87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干扰被LPF滤除</a:t>
            </a:r>
            <a:endParaRPr lang="en-US" sz="8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3" name="Shape 321"/>
          <p:cNvSpPr/>
          <p:nvPr/>
        </p:nvSpPr>
        <p:spPr>
          <a:xfrm>
            <a:off x="6241681" y="1362854"/>
            <a:ext cx="3135424" cy="269656"/>
          </a:xfrm>
          <a:prstGeom prst="roundRect">
            <a:avLst/>
          </a:prstGeom>
          <a:solidFill>
            <a:srgbClr val="07345E"/>
          </a:solidFill>
          <a:ln w="12700">
            <a:solidFill>
              <a:srgbClr val="07345E">
                <a:alpha val="0"/>
              </a:srgbClr>
            </a:solidFill>
            <a:prstDash val="solid"/>
          </a:ln>
        </p:spPr>
      </p:sp>
      <p:sp>
        <p:nvSpPr>
          <p:cNvPr id="324" name="Text 322"/>
          <p:cNvSpPr/>
          <p:nvPr/>
        </p:nvSpPr>
        <p:spPr>
          <a:xfrm>
            <a:off x="6372932" y="1392006"/>
            <a:ext cx="2865632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9维联合动作空间（3 × 3 = 9 种配置）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5" name="Text 323"/>
          <p:cNvSpPr/>
          <p:nvPr/>
        </p:nvSpPr>
        <p:spPr>
          <a:xfrm>
            <a:off x="7247934" y="1785558"/>
            <a:ext cx="1356253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1000" b="1" dirty="0" err="1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载波频率</a:t>
            </a:r>
            <a:r>
              <a:rPr lang="en-US" sz="1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</a:t>
            </a:r>
            <a:r>
              <a:rPr lang="en-US" altLang="zh-CN" sz="1000" b="1" i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fc</a:t>
            </a:r>
            <a:r>
              <a:rPr lang="zh-CN" altLang="zh-CN" sz="1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sz="10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 (GHz)</a:t>
            </a:r>
            <a:endParaRPr lang="en-US" sz="10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6" name="Text 324"/>
          <p:cNvSpPr/>
          <p:nvPr/>
        </p:nvSpPr>
        <p:spPr>
          <a:xfrm>
            <a:off x="6183348" y="2390461"/>
            <a:ext cx="284376" cy="158149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发射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时延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 t_d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90000"/>
              </a:lnSpc>
              <a:buNone/>
            </a:pPr>
            <a:r>
              <a:rPr lang="en-US" sz="7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(μs)</a:t>
            </a:r>
            <a:endParaRPr lang="en-US" sz="7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7" name="Text 325"/>
          <p:cNvSpPr/>
          <p:nvPr/>
        </p:nvSpPr>
        <p:spPr>
          <a:xfrm>
            <a:off x="6722932" y="2069790"/>
            <a:ext cx="794794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76.25</a:t>
            </a:r>
            <a:endParaRPr lang="en-US" sz="10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8" name="Text 326"/>
          <p:cNvSpPr/>
          <p:nvPr/>
        </p:nvSpPr>
        <p:spPr>
          <a:xfrm>
            <a:off x="7590643" y="2069790"/>
            <a:ext cx="794794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76.75</a:t>
            </a:r>
            <a:endParaRPr lang="en-US" sz="10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9" name="Text 327"/>
          <p:cNvSpPr/>
          <p:nvPr/>
        </p:nvSpPr>
        <p:spPr>
          <a:xfrm>
            <a:off x="8465645" y="2069790"/>
            <a:ext cx="794794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77.25</a:t>
            </a:r>
            <a:endParaRPr lang="en-US" sz="10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0" name="Text 328"/>
          <p:cNvSpPr/>
          <p:nvPr/>
        </p:nvSpPr>
        <p:spPr>
          <a:xfrm>
            <a:off x="6409390" y="2507069"/>
            <a:ext cx="284376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9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</a:t>
            </a:r>
            <a:endParaRPr lang="en-US" sz="9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2000"/>
              </a:lnSpc>
              <a:buNone/>
            </a:pPr>
            <a:r>
              <a:rPr lang="en-US" sz="9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μs</a:t>
            </a:r>
            <a:endParaRPr lang="en-US" sz="9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1" name="Text 329"/>
          <p:cNvSpPr/>
          <p:nvPr/>
        </p:nvSpPr>
        <p:spPr>
          <a:xfrm>
            <a:off x="6409390" y="3308748"/>
            <a:ext cx="284376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9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0.8</a:t>
            </a:r>
            <a:endParaRPr lang="en-US" sz="9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2000"/>
              </a:lnSpc>
              <a:buNone/>
            </a:pPr>
            <a:r>
              <a:rPr lang="en-US" sz="9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μs</a:t>
            </a:r>
            <a:endParaRPr lang="en-US" sz="9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2" name="Text 330"/>
          <p:cNvSpPr/>
          <p:nvPr/>
        </p:nvSpPr>
        <p:spPr>
          <a:xfrm>
            <a:off x="6409390" y="4103139"/>
            <a:ext cx="284376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2000"/>
              </a:lnSpc>
              <a:buNone/>
            </a:pPr>
            <a:r>
              <a:rPr lang="en-US" sz="9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1.6</a:t>
            </a:r>
            <a:endParaRPr lang="en-US" sz="9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2000"/>
              </a:lnSpc>
              <a:buNone/>
            </a:pPr>
            <a:r>
              <a:rPr lang="en-US" sz="96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μs</a:t>
            </a:r>
            <a:endParaRPr lang="en-US" sz="9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3" name="Shape 331"/>
          <p:cNvSpPr/>
          <p:nvPr/>
        </p:nvSpPr>
        <p:spPr>
          <a:xfrm>
            <a:off x="6722932" y="2368597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34" name="Text 332"/>
          <p:cNvSpPr/>
          <p:nvPr/>
        </p:nvSpPr>
        <p:spPr>
          <a:xfrm>
            <a:off x="6948975" y="2463341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5" name="Text 333"/>
          <p:cNvSpPr/>
          <p:nvPr/>
        </p:nvSpPr>
        <p:spPr>
          <a:xfrm>
            <a:off x="6773974" y="2725709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(76.25, 0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6" name="Shape 334"/>
          <p:cNvSpPr/>
          <p:nvPr/>
        </p:nvSpPr>
        <p:spPr>
          <a:xfrm>
            <a:off x="7590643" y="2368597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37" name="Text 335"/>
          <p:cNvSpPr/>
          <p:nvPr/>
        </p:nvSpPr>
        <p:spPr>
          <a:xfrm>
            <a:off x="7816685" y="2463341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8" name="Text 336"/>
          <p:cNvSpPr/>
          <p:nvPr/>
        </p:nvSpPr>
        <p:spPr>
          <a:xfrm>
            <a:off x="7641685" y="2725709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(76.75, 0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9" name="Shape 337"/>
          <p:cNvSpPr/>
          <p:nvPr/>
        </p:nvSpPr>
        <p:spPr>
          <a:xfrm>
            <a:off x="8465645" y="2368597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40" name="Text 338"/>
          <p:cNvSpPr/>
          <p:nvPr/>
        </p:nvSpPr>
        <p:spPr>
          <a:xfrm>
            <a:off x="8691687" y="2463341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3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1" name="Text 339"/>
          <p:cNvSpPr/>
          <p:nvPr/>
        </p:nvSpPr>
        <p:spPr>
          <a:xfrm>
            <a:off x="8516687" y="2725709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(77.25, 0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2" name="Shape 340"/>
          <p:cNvSpPr/>
          <p:nvPr/>
        </p:nvSpPr>
        <p:spPr>
          <a:xfrm>
            <a:off x="6722932" y="3170276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43" name="Text 341"/>
          <p:cNvSpPr/>
          <p:nvPr/>
        </p:nvSpPr>
        <p:spPr>
          <a:xfrm>
            <a:off x="6948975" y="3265020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4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4" name="Text 342"/>
          <p:cNvSpPr/>
          <p:nvPr/>
        </p:nvSpPr>
        <p:spPr>
          <a:xfrm>
            <a:off x="6773974" y="3527388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(76.25, 0.8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5" name="Shape 343"/>
          <p:cNvSpPr/>
          <p:nvPr/>
        </p:nvSpPr>
        <p:spPr>
          <a:xfrm>
            <a:off x="7590643" y="3170276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46" name="Text 344"/>
          <p:cNvSpPr/>
          <p:nvPr/>
        </p:nvSpPr>
        <p:spPr>
          <a:xfrm>
            <a:off x="7816685" y="3265020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7" name="Text 345"/>
          <p:cNvSpPr/>
          <p:nvPr/>
        </p:nvSpPr>
        <p:spPr>
          <a:xfrm>
            <a:off x="7641685" y="3527388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(76.75, 0.8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8" name="Shape 346"/>
          <p:cNvSpPr/>
          <p:nvPr/>
        </p:nvSpPr>
        <p:spPr>
          <a:xfrm>
            <a:off x="8465645" y="3170276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49" name="Text 347"/>
          <p:cNvSpPr/>
          <p:nvPr/>
        </p:nvSpPr>
        <p:spPr>
          <a:xfrm>
            <a:off x="8691687" y="3265020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6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0" name="Text 348"/>
          <p:cNvSpPr/>
          <p:nvPr/>
        </p:nvSpPr>
        <p:spPr>
          <a:xfrm>
            <a:off x="8516687" y="3527388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(77.25, 0.8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1" name="Shape 349"/>
          <p:cNvSpPr/>
          <p:nvPr/>
        </p:nvSpPr>
        <p:spPr>
          <a:xfrm>
            <a:off x="6722932" y="3964667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52" name="Text 350"/>
          <p:cNvSpPr/>
          <p:nvPr/>
        </p:nvSpPr>
        <p:spPr>
          <a:xfrm>
            <a:off x="6948975" y="4059411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3" name="Text 351"/>
          <p:cNvSpPr/>
          <p:nvPr/>
        </p:nvSpPr>
        <p:spPr>
          <a:xfrm>
            <a:off x="6773974" y="4321779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(76.25, 1.6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4" name="Shape 352"/>
          <p:cNvSpPr/>
          <p:nvPr/>
        </p:nvSpPr>
        <p:spPr>
          <a:xfrm>
            <a:off x="7590643" y="3964667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55" name="Text 353"/>
          <p:cNvSpPr/>
          <p:nvPr/>
        </p:nvSpPr>
        <p:spPr>
          <a:xfrm>
            <a:off x="7816685" y="4059411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6" name="Text 354"/>
          <p:cNvSpPr/>
          <p:nvPr/>
        </p:nvSpPr>
        <p:spPr>
          <a:xfrm>
            <a:off x="7641685" y="4321779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(76.75, 1.6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7" name="Shape 355"/>
          <p:cNvSpPr/>
          <p:nvPr/>
        </p:nvSpPr>
        <p:spPr>
          <a:xfrm>
            <a:off x="8465645" y="3964667"/>
            <a:ext cx="794794" cy="721511"/>
          </a:xfrm>
          <a:prstGeom prst="roundRect">
            <a:avLst/>
          </a:prstGeom>
          <a:solidFill>
            <a:srgbClr val="F7F8F8">
              <a:alpha val="95000"/>
            </a:srgbClr>
          </a:solidFill>
          <a:ln w="8890">
            <a:solidFill>
              <a:srgbClr val="6E90B0"/>
            </a:solidFill>
            <a:prstDash val="solid"/>
          </a:ln>
        </p:spPr>
      </p:sp>
      <p:sp>
        <p:nvSpPr>
          <p:cNvPr id="358" name="Text 356"/>
          <p:cNvSpPr/>
          <p:nvPr/>
        </p:nvSpPr>
        <p:spPr>
          <a:xfrm>
            <a:off x="8691687" y="4059411"/>
            <a:ext cx="34270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9</a:t>
            </a:r>
            <a:endParaRPr lang="en-US" sz="16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9" name="Text 357"/>
          <p:cNvSpPr/>
          <p:nvPr/>
        </p:nvSpPr>
        <p:spPr>
          <a:xfrm>
            <a:off x="8516687" y="4321779"/>
            <a:ext cx="692710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(77.25, 1.6 μs)</a:t>
            </a:r>
            <a:endParaRPr lang="en-US" sz="78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0" name="Shape 358"/>
          <p:cNvSpPr/>
          <p:nvPr/>
        </p:nvSpPr>
        <p:spPr>
          <a:xfrm>
            <a:off x="6351057" y="4839226"/>
            <a:ext cx="2982299" cy="524735"/>
          </a:xfrm>
          <a:prstGeom prst="round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7E9BB8"/>
            </a:solidFill>
            <a:prstDash val="solid"/>
          </a:ln>
        </p:spPr>
      </p:sp>
      <p:pic>
        <p:nvPicPr>
          <p:cNvPr id="361" name="Image 0" descr="matrix_note_icon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82307" y="4955834"/>
            <a:ext cx="306251" cy="306096"/>
          </a:xfrm>
          <a:prstGeom prst="rect">
            <a:avLst/>
          </a:prstGeom>
        </p:spPr>
      </p:pic>
      <p:sp>
        <p:nvSpPr>
          <p:cNvPr id="362" name="Text 359"/>
          <p:cNvSpPr/>
          <p:nvPr/>
        </p:nvSpPr>
        <p:spPr>
          <a:xfrm>
            <a:off x="6919808" y="4919394"/>
            <a:ext cx="2289589" cy="36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选择不同 f_c 或 t_d，改变 τ_intf 与 f_beat,intf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8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动作索引 a∈{0,…,8}；76.75 GHz 为统一中间频点</a:t>
            </a:r>
            <a:endParaRPr lang="en-US" sz="8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3" name="Shape 360"/>
          <p:cNvSpPr/>
          <p:nvPr/>
        </p:nvSpPr>
        <p:spPr>
          <a:xfrm>
            <a:off x="9843773" y="1362854"/>
            <a:ext cx="1713546" cy="269656"/>
          </a:xfrm>
          <a:prstGeom prst="roundRect">
            <a:avLst/>
          </a:prstGeom>
          <a:solidFill>
            <a:srgbClr val="07345E"/>
          </a:solidFill>
          <a:ln w="12700">
            <a:solidFill>
              <a:srgbClr val="07345E">
                <a:alpha val="0"/>
              </a:srgbClr>
            </a:solidFill>
            <a:prstDash val="solid"/>
          </a:ln>
        </p:spPr>
      </p:sp>
      <p:sp>
        <p:nvSpPr>
          <p:cNvPr id="364" name="Text 361"/>
          <p:cNvSpPr/>
          <p:nvPr/>
        </p:nvSpPr>
        <p:spPr>
          <a:xfrm>
            <a:off x="10011482" y="1392006"/>
            <a:ext cx="1370837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系统关键参数</a:t>
            </a:r>
            <a:endParaRPr lang="en-US" sz="11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5" name="Shape 362"/>
          <p:cNvSpPr/>
          <p:nvPr/>
        </p:nvSpPr>
        <p:spPr>
          <a:xfrm>
            <a:off x="9661481" y="1719966"/>
            <a:ext cx="2107297" cy="262368"/>
          </a:xfrm>
          <a:prstGeom prst="rect">
            <a:avLst/>
          </a:prstGeom>
          <a:solidFill>
            <a:srgbClr val="FCFAF5">
              <a:alpha val="0"/>
            </a:srgbClr>
          </a:solidFill>
          <a:ln w="6350">
            <a:solidFill>
              <a:srgbClr val="A7B4C0"/>
            </a:solidFill>
            <a:prstDash val="solid"/>
          </a:ln>
        </p:spPr>
      </p:sp>
      <p:sp>
        <p:nvSpPr>
          <p:cNvPr id="366" name="Shape 363"/>
          <p:cNvSpPr/>
          <p:nvPr/>
        </p:nvSpPr>
        <p:spPr>
          <a:xfrm>
            <a:off x="10857317" y="1719966"/>
            <a:ext cx="7292" cy="262368"/>
          </a:xfrm>
          <a:prstGeom prst="rect">
            <a:avLst/>
          </a:prstGeom>
          <a:solidFill>
            <a:srgbClr val="A7B4C0"/>
          </a:solidFill>
          <a:ln w="12700">
            <a:solidFill>
              <a:srgbClr val="A7B4C0">
                <a:alpha val="0"/>
              </a:srgbClr>
            </a:solidFill>
            <a:prstDash val="solid"/>
          </a:ln>
        </p:spPr>
      </p:sp>
      <p:sp>
        <p:nvSpPr>
          <p:cNvPr id="367" name="Text 364"/>
          <p:cNvSpPr/>
          <p:nvPr/>
        </p:nvSpPr>
        <p:spPr>
          <a:xfrm>
            <a:off x="9727106" y="1749118"/>
            <a:ext cx="1064586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调频斜率  K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8" name="Text 365"/>
          <p:cNvSpPr/>
          <p:nvPr/>
        </p:nvSpPr>
        <p:spPr>
          <a:xfrm>
            <a:off x="10915651" y="1749118"/>
            <a:ext cx="794794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10 MHz/μs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9" name="Shape 366"/>
          <p:cNvSpPr/>
          <p:nvPr/>
        </p:nvSpPr>
        <p:spPr>
          <a:xfrm>
            <a:off x="9661481" y="1982334"/>
            <a:ext cx="2107297" cy="262368"/>
          </a:xfrm>
          <a:prstGeom prst="rect">
            <a:avLst/>
          </a:prstGeom>
          <a:solidFill>
            <a:srgbClr val="FCFAF5">
              <a:alpha val="0"/>
            </a:srgbClr>
          </a:solidFill>
          <a:ln w="6350">
            <a:solidFill>
              <a:srgbClr val="A7B4C0"/>
            </a:solidFill>
            <a:prstDash val="solid"/>
          </a:ln>
        </p:spPr>
      </p:sp>
      <p:sp>
        <p:nvSpPr>
          <p:cNvPr id="370" name="Shape 367"/>
          <p:cNvSpPr/>
          <p:nvPr/>
        </p:nvSpPr>
        <p:spPr>
          <a:xfrm>
            <a:off x="10857317" y="1982334"/>
            <a:ext cx="7292" cy="262368"/>
          </a:xfrm>
          <a:prstGeom prst="rect">
            <a:avLst/>
          </a:prstGeom>
          <a:solidFill>
            <a:srgbClr val="A7B4C0"/>
          </a:solidFill>
          <a:ln w="12700">
            <a:solidFill>
              <a:srgbClr val="A7B4C0">
                <a:alpha val="0"/>
              </a:srgbClr>
            </a:solidFill>
            <a:prstDash val="solid"/>
          </a:ln>
        </p:spPr>
      </p:sp>
      <p:sp>
        <p:nvSpPr>
          <p:cNvPr id="371" name="Text 368"/>
          <p:cNvSpPr/>
          <p:nvPr/>
        </p:nvSpPr>
        <p:spPr>
          <a:xfrm>
            <a:off x="9727106" y="2011486"/>
            <a:ext cx="1064586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扫频时长  T_sw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2" name="Text 369"/>
          <p:cNvSpPr/>
          <p:nvPr/>
        </p:nvSpPr>
        <p:spPr>
          <a:xfrm>
            <a:off x="10915651" y="2011486"/>
            <a:ext cx="794794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50 μs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3" name="Shape 370"/>
          <p:cNvSpPr/>
          <p:nvPr/>
        </p:nvSpPr>
        <p:spPr>
          <a:xfrm>
            <a:off x="9661481" y="2244701"/>
            <a:ext cx="2107297" cy="262368"/>
          </a:xfrm>
          <a:prstGeom prst="rect">
            <a:avLst/>
          </a:prstGeom>
          <a:solidFill>
            <a:srgbClr val="FCFAF5">
              <a:alpha val="0"/>
            </a:srgbClr>
          </a:solidFill>
          <a:ln w="6350">
            <a:solidFill>
              <a:srgbClr val="A7B4C0"/>
            </a:solidFill>
            <a:prstDash val="solid"/>
          </a:ln>
        </p:spPr>
      </p:sp>
      <p:sp>
        <p:nvSpPr>
          <p:cNvPr id="374" name="Shape 371"/>
          <p:cNvSpPr/>
          <p:nvPr/>
        </p:nvSpPr>
        <p:spPr>
          <a:xfrm>
            <a:off x="10857317" y="2244701"/>
            <a:ext cx="7292" cy="262368"/>
          </a:xfrm>
          <a:prstGeom prst="rect">
            <a:avLst/>
          </a:prstGeom>
          <a:solidFill>
            <a:srgbClr val="A7B4C0"/>
          </a:solidFill>
          <a:ln w="12700">
            <a:solidFill>
              <a:srgbClr val="A7B4C0">
                <a:alpha val="0"/>
              </a:srgbClr>
            </a:solidFill>
            <a:prstDash val="solid"/>
          </a:ln>
        </p:spPr>
      </p:sp>
      <p:sp>
        <p:nvSpPr>
          <p:cNvPr id="375" name="Text 372"/>
          <p:cNvSpPr/>
          <p:nvPr/>
        </p:nvSpPr>
        <p:spPr>
          <a:xfrm>
            <a:off x="9727106" y="2273853"/>
            <a:ext cx="1064586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采样频率  f_s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6" name="Text 373"/>
          <p:cNvSpPr/>
          <p:nvPr/>
        </p:nvSpPr>
        <p:spPr>
          <a:xfrm>
            <a:off x="10915651" y="2273853"/>
            <a:ext cx="794794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20 MHz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7" name="Shape 374"/>
          <p:cNvSpPr/>
          <p:nvPr/>
        </p:nvSpPr>
        <p:spPr>
          <a:xfrm>
            <a:off x="9661481" y="2507069"/>
            <a:ext cx="2107297" cy="262368"/>
          </a:xfrm>
          <a:prstGeom prst="rect">
            <a:avLst/>
          </a:prstGeom>
          <a:solidFill>
            <a:srgbClr val="FCFAF5">
              <a:alpha val="0"/>
            </a:srgbClr>
          </a:solidFill>
          <a:ln w="6350">
            <a:solidFill>
              <a:srgbClr val="A7B4C0"/>
            </a:solidFill>
            <a:prstDash val="solid"/>
          </a:ln>
        </p:spPr>
      </p:sp>
      <p:sp>
        <p:nvSpPr>
          <p:cNvPr id="378" name="Shape 375"/>
          <p:cNvSpPr/>
          <p:nvPr/>
        </p:nvSpPr>
        <p:spPr>
          <a:xfrm>
            <a:off x="10857317" y="2507069"/>
            <a:ext cx="7292" cy="262368"/>
          </a:xfrm>
          <a:prstGeom prst="rect">
            <a:avLst/>
          </a:prstGeom>
          <a:solidFill>
            <a:srgbClr val="A7B4C0"/>
          </a:solidFill>
          <a:ln w="12700">
            <a:solidFill>
              <a:srgbClr val="A7B4C0">
                <a:alpha val="0"/>
              </a:srgbClr>
            </a:solidFill>
            <a:prstDash val="solid"/>
          </a:ln>
        </p:spPr>
      </p:sp>
      <p:sp>
        <p:nvSpPr>
          <p:cNvPr id="379" name="Text 376"/>
          <p:cNvSpPr/>
          <p:nvPr/>
        </p:nvSpPr>
        <p:spPr>
          <a:xfrm>
            <a:off x="9727106" y="2536221"/>
            <a:ext cx="1064586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最大探测距离  d_max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0" name="Text 377"/>
          <p:cNvSpPr/>
          <p:nvPr/>
        </p:nvSpPr>
        <p:spPr>
          <a:xfrm>
            <a:off x="10915651" y="2536221"/>
            <a:ext cx="794794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120 m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1" name="Shape 378"/>
          <p:cNvSpPr/>
          <p:nvPr/>
        </p:nvSpPr>
        <p:spPr>
          <a:xfrm>
            <a:off x="9661481" y="2769437"/>
            <a:ext cx="2107297" cy="262368"/>
          </a:xfrm>
          <a:prstGeom prst="rect">
            <a:avLst/>
          </a:prstGeom>
          <a:solidFill>
            <a:srgbClr val="FCFAF5">
              <a:alpha val="0"/>
            </a:srgbClr>
          </a:solidFill>
          <a:ln w="6350">
            <a:solidFill>
              <a:srgbClr val="A7B4C0"/>
            </a:solidFill>
            <a:prstDash val="solid"/>
          </a:ln>
        </p:spPr>
      </p:sp>
      <p:sp>
        <p:nvSpPr>
          <p:cNvPr id="382" name="Shape 379"/>
          <p:cNvSpPr/>
          <p:nvPr/>
        </p:nvSpPr>
        <p:spPr>
          <a:xfrm>
            <a:off x="10857317" y="2769437"/>
            <a:ext cx="7292" cy="262368"/>
          </a:xfrm>
          <a:prstGeom prst="rect">
            <a:avLst/>
          </a:prstGeom>
          <a:solidFill>
            <a:srgbClr val="A7B4C0"/>
          </a:solidFill>
          <a:ln w="12700">
            <a:solidFill>
              <a:srgbClr val="A7B4C0">
                <a:alpha val="0"/>
              </a:srgbClr>
            </a:solidFill>
            <a:prstDash val="solid"/>
          </a:ln>
        </p:spPr>
      </p:sp>
      <p:sp>
        <p:nvSpPr>
          <p:cNvPr id="383" name="Text 380"/>
          <p:cNvSpPr/>
          <p:nvPr/>
        </p:nvSpPr>
        <p:spPr>
          <a:xfrm>
            <a:off x="9727106" y="2798589"/>
            <a:ext cx="1064586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接收通带半宽  f_bmax</a:t>
            </a:r>
            <a:endParaRPr lang="en-US" sz="86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4" name="Text 381"/>
          <p:cNvSpPr/>
          <p:nvPr/>
        </p:nvSpPr>
        <p:spPr>
          <a:xfrm>
            <a:off x="10915651" y="2798589"/>
            <a:ext cx="794794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8 MHz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5" name="Shape 382"/>
          <p:cNvSpPr/>
          <p:nvPr/>
        </p:nvSpPr>
        <p:spPr>
          <a:xfrm>
            <a:off x="9858356" y="3308748"/>
            <a:ext cx="1691671" cy="269656"/>
          </a:xfrm>
          <a:prstGeom prst="roundRect">
            <a:avLst/>
          </a:prstGeom>
          <a:solidFill>
            <a:srgbClr val="07345E"/>
          </a:solidFill>
          <a:ln w="12700">
            <a:solidFill>
              <a:srgbClr val="07345E">
                <a:alpha val="0"/>
              </a:srgbClr>
            </a:solidFill>
            <a:prstDash val="solid"/>
          </a:ln>
        </p:spPr>
      </p:sp>
      <p:sp>
        <p:nvSpPr>
          <p:cNvPr id="386" name="Text 383"/>
          <p:cNvSpPr/>
          <p:nvPr/>
        </p:nvSpPr>
        <p:spPr>
          <a:xfrm>
            <a:off x="9902107" y="3337900"/>
            <a:ext cx="1604170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联合决策建模（MDP）</a:t>
            </a:r>
            <a:endParaRPr lang="en-US" sz="10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7" name="Text 384"/>
          <p:cNvSpPr/>
          <p:nvPr/>
        </p:nvSpPr>
        <p:spPr>
          <a:xfrm>
            <a:off x="9676064" y="3636708"/>
            <a:ext cx="816669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状态向量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8" name="Shape 385"/>
          <p:cNvSpPr/>
          <p:nvPr/>
        </p:nvSpPr>
        <p:spPr>
          <a:xfrm>
            <a:off x="9785440" y="3811620"/>
            <a:ext cx="1917713" cy="422704"/>
          </a:xfrm>
          <a:prstGeom prst="round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7E9BB8"/>
            </a:solidFill>
            <a:prstDash val="solid"/>
          </a:ln>
        </p:spPr>
      </p:sp>
      <p:sp>
        <p:nvSpPr>
          <p:cNvPr id="389" name="Text 386"/>
          <p:cNvSpPr/>
          <p:nvPr/>
        </p:nvSpPr>
        <p:spPr>
          <a:xfrm>
            <a:off x="9843773" y="3840772"/>
            <a:ext cx="1801046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i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s_t = [a(t−1), r(t−1), SINR(t)]</a:t>
            </a:r>
            <a:endParaRPr lang="en-US" sz="97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0" name="Text 387"/>
          <p:cNvSpPr/>
          <p:nvPr/>
        </p:nvSpPr>
        <p:spPr>
          <a:xfrm>
            <a:off x="9880231" y="4037547"/>
            <a:ext cx="1720837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4F565D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历史动作    接收特征    信干噪比</a:t>
            </a:r>
            <a:endParaRPr lang="en-US" sz="7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1" name="Text 388"/>
          <p:cNvSpPr/>
          <p:nvPr/>
        </p:nvSpPr>
        <p:spPr>
          <a:xfrm>
            <a:off x="9676064" y="4358219"/>
            <a:ext cx="816669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4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动作空间</a:t>
            </a:r>
            <a:endParaRPr lang="en-US" sz="94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2" name="Shape 389"/>
          <p:cNvSpPr/>
          <p:nvPr/>
        </p:nvSpPr>
        <p:spPr>
          <a:xfrm>
            <a:off x="9785440" y="4533131"/>
            <a:ext cx="1917713" cy="422704"/>
          </a:xfrm>
          <a:prstGeom prst="round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7E9BB8"/>
            </a:solidFill>
            <a:prstDash val="solid"/>
          </a:ln>
        </p:spPr>
      </p:sp>
      <p:sp>
        <p:nvSpPr>
          <p:cNvPr id="393" name="Text 390"/>
          <p:cNvSpPr/>
          <p:nvPr/>
        </p:nvSpPr>
        <p:spPr>
          <a:xfrm>
            <a:off x="9843773" y="4569571"/>
            <a:ext cx="1801046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A={(f_c,i, t_d,j)}, i,j∈{1,2,3}, |A|=9</a:t>
            </a:r>
            <a:endParaRPr lang="en-US" sz="9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4" name="Text 391"/>
          <p:cNvSpPr/>
          <p:nvPr/>
        </p:nvSpPr>
        <p:spPr>
          <a:xfrm>
            <a:off x="9676064" y="5043290"/>
            <a:ext cx="1006252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b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• 奖励与规划深度</a:t>
            </a:r>
            <a:endParaRPr lang="en-US" sz="92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5" name="Shape 392"/>
          <p:cNvSpPr/>
          <p:nvPr/>
        </p:nvSpPr>
        <p:spPr>
          <a:xfrm>
            <a:off x="9785440" y="5203626"/>
            <a:ext cx="1917713" cy="225928"/>
          </a:xfrm>
          <a:prstGeom prst="round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7E9BB8"/>
            </a:solidFill>
            <a:prstDash val="solid"/>
          </a:ln>
        </p:spPr>
      </p:sp>
      <p:sp>
        <p:nvSpPr>
          <p:cNvPr id="396" name="Text 393"/>
          <p:cNvSpPr/>
          <p:nvPr/>
        </p:nvSpPr>
        <p:spPr>
          <a:xfrm>
            <a:off x="9843773" y="5225490"/>
            <a:ext cx="1801046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12355B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 = r_s + r_AC；k = 20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7" name="Shape 394"/>
          <p:cNvSpPr/>
          <p:nvPr/>
        </p:nvSpPr>
        <p:spPr>
          <a:xfrm>
            <a:off x="211459" y="5604465"/>
            <a:ext cx="11754194" cy="852695"/>
          </a:xfrm>
          <a:prstGeom prst="roundRect">
            <a:avLst/>
          </a:prstGeom>
          <a:solidFill>
            <a:srgbClr val="07345E"/>
          </a:solidFill>
          <a:ln w="12700">
            <a:solidFill>
              <a:srgbClr val="07345E">
                <a:alpha val="0"/>
              </a:srgbClr>
            </a:solidFill>
            <a:prstDash val="solid"/>
          </a:ln>
        </p:spPr>
      </p:sp>
      <p:pic>
        <p:nvPicPr>
          <p:cNvPr id="398" name="Image 1" descr="so_what_ico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01043" y="5728361"/>
            <a:ext cx="481251" cy="481007"/>
          </a:xfrm>
          <a:prstGeom prst="rect">
            <a:avLst/>
          </a:prstGeom>
        </p:spPr>
      </p:pic>
      <p:sp>
        <p:nvSpPr>
          <p:cNvPr id="399" name="Text 395"/>
          <p:cNvSpPr/>
          <p:nvPr/>
        </p:nvSpPr>
        <p:spPr>
          <a:xfrm>
            <a:off x="926044" y="5772089"/>
            <a:ext cx="488543" cy="4518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SO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 algn="ctr">
              <a:lnSpc>
                <a:spcPct val="8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WHAT</a:t>
            </a:r>
            <a:endParaRPr lang="en-US" sz="120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0" name="Shape 396"/>
          <p:cNvSpPr/>
          <p:nvPr/>
        </p:nvSpPr>
        <p:spPr>
          <a:xfrm>
            <a:off x="1575004" y="5735649"/>
            <a:ext cx="14583" cy="568463"/>
          </a:xfrm>
          <a:prstGeom prst="rect">
            <a:avLst/>
          </a:prstGeom>
          <a:solidFill>
            <a:srgbClr val="D4E3EF"/>
          </a:solidFill>
          <a:ln w="12700">
            <a:solidFill>
              <a:srgbClr val="D4E3EF">
                <a:alpha val="0"/>
              </a:srgbClr>
            </a:solidFill>
            <a:prstDash val="solid"/>
          </a:ln>
        </p:spPr>
      </p:sp>
      <p:pic>
        <p:nvPicPr>
          <p:cNvPr id="401" name="Image 2" descr="conclusion_bulb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06254" y="5801241"/>
            <a:ext cx="437501" cy="437279"/>
          </a:xfrm>
          <a:prstGeom prst="rect">
            <a:avLst/>
          </a:prstGeom>
        </p:spPr>
      </p:pic>
      <p:sp>
        <p:nvSpPr>
          <p:cNvPr id="402" name="Text 397"/>
          <p:cNvSpPr/>
          <p:nvPr/>
        </p:nvSpPr>
        <p:spPr>
          <a:xfrm>
            <a:off x="2180213" y="5895985"/>
            <a:ext cx="5002095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联合空间扩大避干扰机会，也把探索负担由3维提高到9维</a:t>
            </a:r>
            <a:endParaRPr lang="en-US" sz="15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3" name="Shape 398"/>
          <p:cNvSpPr/>
          <p:nvPr/>
        </p:nvSpPr>
        <p:spPr>
          <a:xfrm rot="2601805">
            <a:off x="7361834" y="5983441"/>
            <a:ext cx="180534" cy="3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4" name="Shape 399"/>
          <p:cNvSpPr/>
          <p:nvPr/>
        </p:nvSpPr>
        <p:spPr>
          <a:xfrm rot="-2601805">
            <a:off x="7361834" y="6107337"/>
            <a:ext cx="180534" cy="3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5" name="Shape 400"/>
          <p:cNvSpPr/>
          <p:nvPr/>
        </p:nvSpPr>
        <p:spPr>
          <a:xfrm rot="2601805">
            <a:off x="7493084" y="5983441"/>
            <a:ext cx="180534" cy="3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6" name="Shape 401"/>
          <p:cNvSpPr/>
          <p:nvPr/>
        </p:nvSpPr>
        <p:spPr>
          <a:xfrm rot="-2601805">
            <a:off x="7493084" y="6107337"/>
            <a:ext cx="180534" cy="364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07" name="Image 3" descr="implication_success_icon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729185" y="5779377"/>
            <a:ext cx="401043" cy="400840"/>
          </a:xfrm>
          <a:prstGeom prst="rect">
            <a:avLst/>
          </a:prstGeom>
        </p:spPr>
      </p:pic>
      <p:sp>
        <p:nvSpPr>
          <p:cNvPr id="408" name="Text 402"/>
          <p:cNvSpPr/>
          <p:nvPr/>
        </p:nvSpPr>
        <p:spPr>
          <a:xfrm>
            <a:off x="8195853" y="5808529"/>
            <a:ext cx="845835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更高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8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避干扰成功率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09" name="Image 4" descr="implication_adaptation_icon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202105" y="5779377"/>
            <a:ext cx="401043" cy="400840"/>
          </a:xfrm>
          <a:prstGeom prst="rect">
            <a:avLst/>
          </a:prstGeom>
        </p:spPr>
      </p:pic>
      <p:sp>
        <p:nvSpPr>
          <p:cNvPr id="410" name="Text 403"/>
          <p:cNvSpPr/>
          <p:nvPr/>
        </p:nvSpPr>
        <p:spPr>
          <a:xfrm>
            <a:off x="9668773" y="5808529"/>
            <a:ext cx="845835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更强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8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环境适应性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411" name="Image 5" descr="implication_burden_icon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0587525" y="5779377"/>
            <a:ext cx="401043" cy="400840"/>
          </a:xfrm>
          <a:prstGeom prst="rect">
            <a:avLst/>
          </a:prstGeom>
        </p:spPr>
      </p:pic>
      <p:sp>
        <p:nvSpPr>
          <p:cNvPr id="412" name="Text 404"/>
          <p:cNvSpPr/>
          <p:nvPr/>
        </p:nvSpPr>
        <p:spPr>
          <a:xfrm>
            <a:off x="11054193" y="5808529"/>
            <a:ext cx="845835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8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更重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82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探索负担</a:t>
            </a:r>
            <a:endParaRPr lang="en-US" sz="950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14" name="Shape 5">
            <a:extLst>
              <a:ext uri="{FF2B5EF4-FFF2-40B4-BE49-F238E27FC236}">
                <a16:creationId xmlns:a16="http://schemas.microsoft.com/office/drawing/2014/main" id="{396B929E-F437-3DD9-B85A-2A49966EADCE}"/>
              </a:ext>
            </a:extLst>
          </p:cNvPr>
          <p:cNvSpPr/>
          <p:nvPr/>
        </p:nvSpPr>
        <p:spPr>
          <a:xfrm>
            <a:off x="0" y="524735"/>
            <a:ext cx="12191695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82292" y="87456"/>
            <a:ext cx="379168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603131" y="102032"/>
            <a:ext cx="6679182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4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基于分层强化学习的FMCW雷达抗干扰策略优化</a:t>
            </a:r>
            <a:endParaRPr lang="en-US" sz="2450" dirty="0"/>
          </a:p>
        </p:txBody>
      </p:sp>
      <p:sp>
        <p:nvSpPr>
          <p:cNvPr id="6" name="Shape 4"/>
          <p:cNvSpPr/>
          <p:nvPr/>
        </p:nvSpPr>
        <p:spPr>
          <a:xfrm>
            <a:off x="9566689" y="80168"/>
            <a:ext cx="3646" cy="349824"/>
          </a:xfrm>
          <a:prstGeom prst="line">
            <a:avLst/>
          </a:prstGeom>
          <a:noFill/>
          <a:ln w="10160">
            <a:solidFill>
              <a:srgbClr val="8A8A8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70856" y="145760"/>
            <a:ext cx="2223964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研究内容｜分层系统架构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481007"/>
            <a:ext cx="12191695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59379" y="663207"/>
            <a:ext cx="7875018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分层架构将场景级战略判断与逐chirp战术执行解耦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275005" y="1071335"/>
            <a:ext cx="7452101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上层识别“应探索哪个维度”，下层回答“下一步采用哪个具体参数”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9375" y="1326414"/>
            <a:ext cx="9537522" cy="1625222"/>
          </a:xfrm>
          <a:prstGeom prst="roundRect">
            <a:avLst>
              <a:gd name="adj" fmla="val 2813"/>
            </a:avLst>
          </a:prstGeom>
          <a:solidFill>
            <a:srgbClr val="EEF4FA">
              <a:alpha val="92000"/>
            </a:srgbClr>
          </a:solidFill>
          <a:ln w="8255">
            <a:solidFill>
              <a:srgbClr val="12355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887507" y="2069790"/>
            <a:ext cx="320834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5400000">
            <a:off x="3201049" y="2018774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77094" y="2069790"/>
            <a:ext cx="328126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4797928" y="2018774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52097" y="2069790"/>
            <a:ext cx="350001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6394807" y="2018774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80227" y="2069790"/>
            <a:ext cx="517710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5400000">
            <a:off x="8290644" y="2018774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04167" y="1734542"/>
            <a:ext cx="1057294" cy="59761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元策略层</a:t>
            </a:r>
            <a:endParaRPr lang="en-US" sz="10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场景级战略判断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582295" y="1443022"/>
            <a:ext cx="1305211" cy="1399294"/>
          </a:xfrm>
          <a:prstGeom prst="roundRect">
            <a:avLst>
              <a:gd name="adj" fmla="val 3503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33337" y="1494038"/>
            <a:ext cx="1203128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SINR与动作历史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10424" y="1450310"/>
            <a:ext cx="1166669" cy="1384718"/>
          </a:xfrm>
          <a:prstGeom prst="roundRect">
            <a:avLst>
              <a:gd name="adj" fmla="val 3919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61466" y="1501326"/>
            <a:ext cx="1064586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12维特征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07303" y="1464886"/>
            <a:ext cx="1144794" cy="1370142"/>
          </a:xfrm>
          <a:prstGeom prst="roundRect">
            <a:avLst>
              <a:gd name="adj" fmla="val 3994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8345" y="1515902"/>
            <a:ext cx="1042711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Meta-RF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04182" y="1464886"/>
            <a:ext cx="1276045" cy="1370142"/>
          </a:xfrm>
          <a:prstGeom prst="roundRect">
            <a:avLst>
              <a:gd name="adj" fmla="val 3583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55224" y="1515902"/>
            <a:ext cx="1173961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策略标签与置信度 p</a:t>
            </a:r>
            <a:endParaRPr lang="en-US" sz="1100" dirty="0"/>
          </a:p>
        </p:txBody>
      </p:sp>
      <p:pic>
        <p:nvPicPr>
          <p:cNvPr id="29" name="Image 0" descr="history_visua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962" y="1756406"/>
            <a:ext cx="1071878" cy="40812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1684379" y="2215549"/>
            <a:ext cx="1101044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当前SINR</a:t>
            </a:r>
            <a:endParaRPr lang="en-US" sz="730" dirty="0"/>
          </a:p>
        </p:txBody>
      </p:sp>
      <p:sp>
        <p:nvSpPr>
          <p:cNvPr id="31" name="Text 28"/>
          <p:cNvSpPr/>
          <p:nvPr/>
        </p:nvSpPr>
        <p:spPr>
          <a:xfrm>
            <a:off x="1684379" y="2346733"/>
            <a:ext cx="1101044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干扰类型指示</a:t>
            </a:r>
            <a:endParaRPr lang="en-US" sz="730" dirty="0"/>
          </a:p>
        </p:txBody>
      </p:sp>
      <p:sp>
        <p:nvSpPr>
          <p:cNvPr id="32" name="Text 29"/>
          <p:cNvSpPr/>
          <p:nvPr/>
        </p:nvSpPr>
        <p:spPr>
          <a:xfrm>
            <a:off x="1684379" y="2477917"/>
            <a:ext cx="1101044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最近动作序列</a:t>
            </a:r>
            <a:endParaRPr lang="en-US" sz="730" dirty="0"/>
          </a:p>
        </p:txBody>
      </p:sp>
      <p:sp>
        <p:nvSpPr>
          <p:cNvPr id="33" name="Text 30"/>
          <p:cNvSpPr/>
          <p:nvPr/>
        </p:nvSpPr>
        <p:spPr>
          <a:xfrm>
            <a:off x="1684379" y="2609101"/>
            <a:ext cx="1101044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场景上下文</a:t>
            </a:r>
            <a:endParaRPr lang="en-US" sz="730" dirty="0"/>
          </a:p>
        </p:txBody>
      </p:sp>
      <p:sp>
        <p:nvSpPr>
          <p:cNvPr id="34" name="Shape 31"/>
          <p:cNvSpPr/>
          <p:nvPr/>
        </p:nvSpPr>
        <p:spPr>
          <a:xfrm>
            <a:off x="3514592" y="1858438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3711467" y="1858438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3908342" y="1858438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105218" y="1858438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514592" y="2069790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711467" y="2069790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908342" y="2069790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105218" y="2069790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3514592" y="2281141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3711467" y="2281141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908342" y="2281141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4105218" y="2281141"/>
            <a:ext cx="175000" cy="189488"/>
          </a:xfrm>
          <a:prstGeom prst="roundRect">
            <a:avLst>
              <a:gd name="adj" fmla="val 26126"/>
            </a:avLst>
          </a:prstGeom>
          <a:solidFill>
            <a:srgbClr val="D4E2F0"/>
          </a:solidFill>
          <a:ln w="6985">
            <a:solidFill>
              <a:srgbClr val="12355B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3485425" y="2528933"/>
            <a:ext cx="816669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f₁   ···   f₁₂</a:t>
            </a:r>
            <a:endParaRPr lang="en-US" sz="900" dirty="0"/>
          </a:p>
        </p:txBody>
      </p:sp>
      <p:pic>
        <p:nvPicPr>
          <p:cNvPr id="47" name="Image 1" descr="meta_rf_tre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304" y="1800134"/>
            <a:ext cx="802085" cy="663207"/>
          </a:xfrm>
          <a:prstGeom prst="rect">
            <a:avLst/>
          </a:prstGeom>
        </p:spPr>
      </p:pic>
      <p:sp>
        <p:nvSpPr>
          <p:cNvPr id="48" name="Text 44"/>
          <p:cNvSpPr/>
          <p:nvPr/>
        </p:nvSpPr>
        <p:spPr>
          <a:xfrm>
            <a:off x="5031262" y="2543509"/>
            <a:ext cx="904169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6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随机森林分类器</a:t>
            </a:r>
            <a:endParaRPr lang="en-US" sz="760" dirty="0"/>
          </a:p>
        </p:txBody>
      </p:sp>
      <p:pic>
        <p:nvPicPr>
          <p:cNvPr id="49" name="Image 2" descr="confidence_chart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93766" y="1814710"/>
            <a:ext cx="889585" cy="706935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6693766" y="2550797"/>
            <a:ext cx="88229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 ∈ [0,1]</a:t>
            </a:r>
            <a:endParaRPr lang="en-US" sz="900" dirty="0"/>
          </a:p>
        </p:txBody>
      </p:sp>
      <p:sp>
        <p:nvSpPr>
          <p:cNvPr id="51" name="Shape 46"/>
          <p:cNvSpPr/>
          <p:nvPr/>
        </p:nvSpPr>
        <p:spPr>
          <a:xfrm>
            <a:off x="8400020" y="1450310"/>
            <a:ext cx="1130211" cy="400840"/>
          </a:xfrm>
          <a:prstGeom prst="roundRect">
            <a:avLst>
              <a:gd name="adj" fmla="val 11406"/>
            </a:avLst>
          </a:prstGeom>
          <a:solidFill>
            <a:srgbClr val="FBFCFD"/>
          </a:solidFill>
          <a:ln w="8255">
            <a:solidFill>
              <a:srgbClr val="6C89A8"/>
            </a:solidFill>
            <a:prstDash val="solid"/>
          </a:ln>
        </p:spPr>
      </p:sp>
      <p:sp>
        <p:nvSpPr>
          <p:cNvPr id="52" name="Text 47"/>
          <p:cNvSpPr/>
          <p:nvPr/>
        </p:nvSpPr>
        <p:spPr>
          <a:xfrm>
            <a:off x="8458353" y="1508614"/>
            <a:ext cx="1013544" cy="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“freq_only”</a:t>
            </a:r>
            <a:endParaRPr lang="en-US" sz="890" dirty="0"/>
          </a:p>
        </p:txBody>
      </p:sp>
      <p:sp>
        <p:nvSpPr>
          <p:cNvPr id="53" name="Text 48"/>
          <p:cNvSpPr/>
          <p:nvPr/>
        </p:nvSpPr>
        <p:spPr>
          <a:xfrm>
            <a:off x="8458353" y="1668950"/>
            <a:ext cx="1013544" cy="12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（频率维度）</a:t>
            </a:r>
            <a:endParaRPr lang="en-US" sz="720" dirty="0"/>
          </a:p>
        </p:txBody>
      </p:sp>
      <p:sp>
        <p:nvSpPr>
          <p:cNvPr id="54" name="Shape 49"/>
          <p:cNvSpPr/>
          <p:nvPr/>
        </p:nvSpPr>
        <p:spPr>
          <a:xfrm>
            <a:off x="8400020" y="1945894"/>
            <a:ext cx="1130211" cy="400840"/>
          </a:xfrm>
          <a:prstGeom prst="roundRect">
            <a:avLst>
              <a:gd name="adj" fmla="val 11406"/>
            </a:avLst>
          </a:prstGeom>
          <a:solidFill>
            <a:srgbClr val="FBFCFD"/>
          </a:solidFill>
          <a:ln w="8255">
            <a:solidFill>
              <a:srgbClr val="6C89A8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458353" y="2004198"/>
            <a:ext cx="1013544" cy="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“time_only”</a:t>
            </a:r>
            <a:endParaRPr lang="en-US" sz="890" dirty="0"/>
          </a:p>
        </p:txBody>
      </p:sp>
      <p:sp>
        <p:nvSpPr>
          <p:cNvPr id="56" name="Text 51"/>
          <p:cNvSpPr/>
          <p:nvPr/>
        </p:nvSpPr>
        <p:spPr>
          <a:xfrm>
            <a:off x="8458353" y="2164533"/>
            <a:ext cx="1013544" cy="12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（时延维度）</a:t>
            </a:r>
            <a:endParaRPr lang="en-US" sz="720" dirty="0"/>
          </a:p>
        </p:txBody>
      </p:sp>
      <p:sp>
        <p:nvSpPr>
          <p:cNvPr id="57" name="Shape 52"/>
          <p:cNvSpPr/>
          <p:nvPr/>
        </p:nvSpPr>
        <p:spPr>
          <a:xfrm>
            <a:off x="8400020" y="2441477"/>
            <a:ext cx="1130211" cy="400840"/>
          </a:xfrm>
          <a:prstGeom prst="roundRect">
            <a:avLst>
              <a:gd name="adj" fmla="val 11406"/>
            </a:avLst>
          </a:prstGeom>
          <a:solidFill>
            <a:srgbClr val="FBFCFD"/>
          </a:solidFill>
          <a:ln w="8255">
            <a:solidFill>
              <a:srgbClr val="6C89A8"/>
            </a:solidFill>
            <a:prstDash val="solid"/>
          </a:ln>
        </p:spPr>
      </p:sp>
      <p:sp>
        <p:nvSpPr>
          <p:cNvPr id="58" name="Text 53"/>
          <p:cNvSpPr/>
          <p:nvPr/>
        </p:nvSpPr>
        <p:spPr>
          <a:xfrm>
            <a:off x="8458353" y="2499781"/>
            <a:ext cx="1013544" cy="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90" b="1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“joint”</a:t>
            </a:r>
            <a:endParaRPr lang="en-US" sz="890" dirty="0"/>
          </a:p>
        </p:txBody>
      </p:sp>
      <p:sp>
        <p:nvSpPr>
          <p:cNvPr id="59" name="Text 54"/>
          <p:cNvSpPr/>
          <p:nvPr/>
        </p:nvSpPr>
        <p:spPr>
          <a:xfrm>
            <a:off x="8458353" y="2660117"/>
            <a:ext cx="1013544" cy="123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20" dirty="0">
                <a:solidFill>
                  <a:srgbClr val="12355B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（联合维度）</a:t>
            </a:r>
            <a:endParaRPr lang="en-US" sz="720" dirty="0"/>
          </a:p>
        </p:txBody>
      </p:sp>
      <p:sp>
        <p:nvSpPr>
          <p:cNvPr id="60" name="Shape 55"/>
          <p:cNvSpPr/>
          <p:nvPr/>
        </p:nvSpPr>
        <p:spPr>
          <a:xfrm flipV="1">
            <a:off x="7875018" y="1588782"/>
            <a:ext cx="466668" cy="488295"/>
          </a:xfrm>
          <a:prstGeom prst="line">
            <a:avLst/>
          </a:prstGeom>
          <a:noFill/>
          <a:ln w="13970">
            <a:solidFill>
              <a:srgbClr val="12355B"/>
            </a:solidFill>
            <a:prstDash val="solid"/>
            <a:tailEnd type="triangle"/>
          </a:ln>
        </p:spPr>
      </p:sp>
      <p:sp>
        <p:nvSpPr>
          <p:cNvPr id="61" name="Shape 56"/>
          <p:cNvSpPr/>
          <p:nvPr/>
        </p:nvSpPr>
        <p:spPr>
          <a:xfrm>
            <a:off x="7875018" y="2142670"/>
            <a:ext cx="466668" cy="3644"/>
          </a:xfrm>
          <a:prstGeom prst="line">
            <a:avLst/>
          </a:prstGeom>
          <a:noFill/>
          <a:ln w="13970">
            <a:solidFill>
              <a:srgbClr val="12355B"/>
            </a:solidFill>
            <a:prstDash val="solid"/>
            <a:tailEnd type="triangle"/>
          </a:ln>
        </p:spPr>
      </p:sp>
      <p:sp>
        <p:nvSpPr>
          <p:cNvPr id="62" name="Shape 57"/>
          <p:cNvSpPr/>
          <p:nvPr/>
        </p:nvSpPr>
        <p:spPr>
          <a:xfrm>
            <a:off x="7875018" y="2208261"/>
            <a:ext cx="466668" cy="451855"/>
          </a:xfrm>
          <a:prstGeom prst="line">
            <a:avLst/>
          </a:prstGeom>
          <a:noFill/>
          <a:ln w="13970">
            <a:solidFill>
              <a:srgbClr val="12355B"/>
            </a:solidFill>
            <a:prstDash val="solid"/>
            <a:tailEnd type="triangle"/>
          </a:ln>
        </p:spPr>
      </p:sp>
      <p:sp>
        <p:nvSpPr>
          <p:cNvPr id="63" name="Shape 58"/>
          <p:cNvSpPr/>
          <p:nvPr/>
        </p:nvSpPr>
        <p:spPr>
          <a:xfrm>
            <a:off x="3901051" y="2849605"/>
            <a:ext cx="3646" cy="204064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64" name="Shape 59"/>
          <p:cNvSpPr/>
          <p:nvPr/>
        </p:nvSpPr>
        <p:spPr>
          <a:xfrm rot="10800000">
            <a:off x="3857301" y="3046380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65" name="Shape 60"/>
          <p:cNvSpPr/>
          <p:nvPr/>
        </p:nvSpPr>
        <p:spPr>
          <a:xfrm>
            <a:off x="5490638" y="2849605"/>
            <a:ext cx="3646" cy="204064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 rot="10800000">
            <a:off x="5446888" y="3046380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67" name="Shape 62"/>
          <p:cNvSpPr/>
          <p:nvPr/>
        </p:nvSpPr>
        <p:spPr>
          <a:xfrm>
            <a:off x="6708349" y="2849605"/>
            <a:ext cx="3646" cy="204064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68" name="Shape 63"/>
          <p:cNvSpPr/>
          <p:nvPr/>
        </p:nvSpPr>
        <p:spPr>
          <a:xfrm rot="10800000">
            <a:off x="6664599" y="3046380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1589587" y="3133836"/>
            <a:ext cx="7269809" cy="415416"/>
          </a:xfrm>
          <a:prstGeom prst="roundRect">
            <a:avLst>
              <a:gd name="adj" fmla="val 11006"/>
            </a:avLst>
          </a:prstGeom>
          <a:solidFill>
            <a:srgbClr val="EEF4FA">
              <a:alpha val="98000"/>
            </a:srgbClr>
          </a:solidFill>
          <a:ln w="10160">
            <a:solidFill>
              <a:srgbClr val="12355B"/>
            </a:solidFill>
            <a:prstDash val="solid"/>
          </a:ln>
        </p:spPr>
      </p:sp>
      <p:pic>
        <p:nvPicPr>
          <p:cNvPr id="70" name="Image 3" descr="dam_gear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56256" y="3162988"/>
            <a:ext cx="481251" cy="342536"/>
          </a:xfrm>
          <a:prstGeom prst="rect">
            <a:avLst/>
          </a:prstGeom>
        </p:spPr>
      </p:pic>
      <p:sp>
        <p:nvSpPr>
          <p:cNvPr id="71" name="Text 65"/>
          <p:cNvSpPr/>
          <p:nvPr/>
        </p:nvSpPr>
        <p:spPr>
          <a:xfrm>
            <a:off x="3448966" y="3206716"/>
            <a:ext cx="1064586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DAM软引导</a:t>
            </a:r>
            <a:endParaRPr lang="en-US" sz="1100" dirty="0"/>
          </a:p>
        </p:txBody>
      </p:sp>
      <p:sp>
        <p:nvSpPr>
          <p:cNvPr id="72" name="Shape 66"/>
          <p:cNvSpPr/>
          <p:nvPr/>
        </p:nvSpPr>
        <p:spPr>
          <a:xfrm>
            <a:off x="4593761" y="3199428"/>
            <a:ext cx="3646" cy="269656"/>
          </a:xfrm>
          <a:prstGeom prst="line">
            <a:avLst/>
          </a:prstGeom>
          <a:noFill/>
          <a:ln w="8890">
            <a:solidFill>
              <a:srgbClr val="12355B"/>
            </a:solidFill>
            <a:prstDash val="solid"/>
          </a:ln>
        </p:spPr>
      </p:sp>
      <p:sp>
        <p:nvSpPr>
          <p:cNvPr id="73" name="Text 67"/>
          <p:cNvSpPr/>
          <p:nvPr/>
        </p:nvSpPr>
        <p:spPr>
          <a:xfrm>
            <a:off x="4885428" y="3206716"/>
            <a:ext cx="1465628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bonus = 12.0 × p²</a:t>
            </a:r>
            <a:endParaRPr lang="en-US" sz="1100" dirty="0"/>
          </a:p>
        </p:txBody>
      </p:sp>
      <p:sp>
        <p:nvSpPr>
          <p:cNvPr id="74" name="Shape 68"/>
          <p:cNvSpPr/>
          <p:nvPr/>
        </p:nvSpPr>
        <p:spPr>
          <a:xfrm>
            <a:off x="6445848" y="3199428"/>
            <a:ext cx="3646" cy="269656"/>
          </a:xfrm>
          <a:prstGeom prst="line">
            <a:avLst/>
          </a:prstGeom>
          <a:noFill/>
          <a:ln w="8890">
            <a:solidFill>
              <a:srgbClr val="12355B"/>
            </a:solidFill>
            <a:prstDash val="solid"/>
          </a:ln>
        </p:spPr>
      </p:sp>
      <p:sp>
        <p:nvSpPr>
          <p:cNvPr id="75" name="Text 69"/>
          <p:cNvSpPr/>
          <p:nvPr/>
        </p:nvSpPr>
        <p:spPr>
          <a:xfrm>
            <a:off x="6620849" y="3206716"/>
            <a:ext cx="1684379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策略至少保持5步</a:t>
            </a:r>
            <a:endParaRPr lang="en-US" sz="1070" dirty="0"/>
          </a:p>
        </p:txBody>
      </p:sp>
      <p:sp>
        <p:nvSpPr>
          <p:cNvPr id="76" name="Shape 70"/>
          <p:cNvSpPr/>
          <p:nvPr/>
        </p:nvSpPr>
        <p:spPr>
          <a:xfrm>
            <a:off x="109375" y="3716876"/>
            <a:ext cx="9537522" cy="1370142"/>
          </a:xfrm>
          <a:prstGeom prst="roundRect">
            <a:avLst>
              <a:gd name="adj" fmla="val 3337"/>
            </a:avLst>
          </a:prstGeom>
          <a:solidFill>
            <a:srgbClr val="EEF4FA">
              <a:alpha val="92000"/>
            </a:srgbClr>
          </a:solidFill>
          <a:ln w="8255">
            <a:solidFill>
              <a:srgbClr val="12355B"/>
            </a:solidFill>
            <a:prstDash val="solid"/>
          </a:ln>
        </p:spPr>
      </p:sp>
      <p:sp>
        <p:nvSpPr>
          <p:cNvPr id="77" name="Shape 71"/>
          <p:cNvSpPr/>
          <p:nvPr/>
        </p:nvSpPr>
        <p:spPr>
          <a:xfrm>
            <a:off x="2800007" y="4329067"/>
            <a:ext cx="218751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78" name="Shape 72"/>
          <p:cNvSpPr/>
          <p:nvPr/>
        </p:nvSpPr>
        <p:spPr>
          <a:xfrm rot="5400000">
            <a:off x="3011465" y="4278051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4688553" y="4329067"/>
            <a:ext cx="218751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0" name="Shape 74"/>
          <p:cNvSpPr/>
          <p:nvPr/>
        </p:nvSpPr>
        <p:spPr>
          <a:xfrm rot="5400000">
            <a:off x="4900011" y="4278051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1" name="Shape 75"/>
          <p:cNvSpPr/>
          <p:nvPr/>
        </p:nvSpPr>
        <p:spPr>
          <a:xfrm>
            <a:off x="6278140" y="4329067"/>
            <a:ext cx="226042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2" name="Shape 76"/>
          <p:cNvSpPr/>
          <p:nvPr/>
        </p:nvSpPr>
        <p:spPr>
          <a:xfrm rot="5400000">
            <a:off x="6496890" y="4278051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7809393" y="4329067"/>
            <a:ext cx="233334" cy="29152"/>
          </a:xfrm>
          <a:prstGeom prst="rect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4" name="Shape 78"/>
          <p:cNvSpPr/>
          <p:nvPr/>
        </p:nvSpPr>
        <p:spPr>
          <a:xfrm rot="5400000">
            <a:off x="8035435" y="4278051"/>
            <a:ext cx="116667" cy="131184"/>
          </a:xfrm>
          <a:prstGeom prst="triangle">
            <a:avLst/>
          </a:prstGeom>
          <a:solidFill>
            <a:srgbClr val="12355B"/>
          </a:solidFill>
          <a:ln w="12700">
            <a:solidFill>
              <a:srgbClr val="12355B">
                <a:alpha val="0"/>
              </a:srgbClr>
            </a:solidFill>
            <a:prstDash val="solid"/>
          </a:ln>
        </p:spPr>
      </p:sp>
      <p:sp>
        <p:nvSpPr>
          <p:cNvPr id="85" name="Shape 79"/>
          <p:cNvSpPr/>
          <p:nvPr/>
        </p:nvSpPr>
        <p:spPr>
          <a:xfrm>
            <a:off x="2654173" y="3549252"/>
            <a:ext cx="3646" cy="189488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86" name="Shape 80"/>
          <p:cNvSpPr/>
          <p:nvPr/>
        </p:nvSpPr>
        <p:spPr>
          <a:xfrm rot="10800000">
            <a:off x="2610423" y="3731452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87" name="Shape 81"/>
          <p:cNvSpPr/>
          <p:nvPr/>
        </p:nvSpPr>
        <p:spPr>
          <a:xfrm>
            <a:off x="3937509" y="3549252"/>
            <a:ext cx="3646" cy="189488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88" name="Shape 82"/>
          <p:cNvSpPr/>
          <p:nvPr/>
        </p:nvSpPr>
        <p:spPr>
          <a:xfrm rot="10800000">
            <a:off x="3893759" y="3731452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89" name="Shape 83"/>
          <p:cNvSpPr/>
          <p:nvPr/>
        </p:nvSpPr>
        <p:spPr>
          <a:xfrm>
            <a:off x="5497930" y="3549252"/>
            <a:ext cx="3646" cy="189488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90" name="Shape 84"/>
          <p:cNvSpPr/>
          <p:nvPr/>
        </p:nvSpPr>
        <p:spPr>
          <a:xfrm rot="10800000">
            <a:off x="5454179" y="3731452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91" name="Shape 85"/>
          <p:cNvSpPr/>
          <p:nvPr/>
        </p:nvSpPr>
        <p:spPr>
          <a:xfrm>
            <a:off x="7196892" y="3549252"/>
            <a:ext cx="3646" cy="189488"/>
          </a:xfrm>
          <a:prstGeom prst="line">
            <a:avLst/>
          </a:prstGeom>
          <a:noFill/>
          <a:ln w="15240">
            <a:solidFill>
              <a:srgbClr val="101820"/>
            </a:solidFill>
            <a:prstDash val="solid"/>
          </a:ln>
        </p:spPr>
      </p:sp>
      <p:sp>
        <p:nvSpPr>
          <p:cNvPr id="92" name="Shape 86"/>
          <p:cNvSpPr/>
          <p:nvPr/>
        </p:nvSpPr>
        <p:spPr>
          <a:xfrm rot="10800000">
            <a:off x="7153142" y="3731452"/>
            <a:ext cx="87500" cy="87456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93" name="Text 87"/>
          <p:cNvSpPr/>
          <p:nvPr/>
        </p:nvSpPr>
        <p:spPr>
          <a:xfrm>
            <a:off x="211459" y="4030259"/>
            <a:ext cx="1035419" cy="58303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98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执行层</a:t>
            </a:r>
            <a:endParaRPr lang="en-US" sz="98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98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逐chirp战术动作</a:t>
            </a:r>
            <a:endParaRPr lang="en-US" sz="980" dirty="0"/>
          </a:p>
        </p:txBody>
      </p:sp>
      <p:sp>
        <p:nvSpPr>
          <p:cNvPr id="94" name="Shape 88"/>
          <p:cNvSpPr/>
          <p:nvPr/>
        </p:nvSpPr>
        <p:spPr>
          <a:xfrm>
            <a:off x="1436462" y="3818908"/>
            <a:ext cx="1363545" cy="1187943"/>
          </a:xfrm>
          <a:prstGeom prst="roundRect">
            <a:avLst>
              <a:gd name="adj" fmla="val 3849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95" name="Text 89"/>
          <p:cNvSpPr/>
          <p:nvPr/>
        </p:nvSpPr>
        <p:spPr>
          <a:xfrm>
            <a:off x="1487503" y="3869923"/>
            <a:ext cx="1261461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状态序列</a:t>
            </a:r>
            <a:endParaRPr lang="en-US" sz="1100" dirty="0"/>
          </a:p>
        </p:txBody>
      </p:sp>
      <p:sp>
        <p:nvSpPr>
          <p:cNvPr id="96" name="Shape 90"/>
          <p:cNvSpPr/>
          <p:nvPr/>
        </p:nvSpPr>
        <p:spPr>
          <a:xfrm>
            <a:off x="3120841" y="3818908"/>
            <a:ext cx="1567712" cy="1187943"/>
          </a:xfrm>
          <a:prstGeom prst="roundRect">
            <a:avLst>
              <a:gd name="adj" fmla="val 3849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97" name="Text 91"/>
          <p:cNvSpPr/>
          <p:nvPr/>
        </p:nvSpPr>
        <p:spPr>
          <a:xfrm>
            <a:off x="3171882" y="3869923"/>
            <a:ext cx="1465628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Double DQN+GRU</a:t>
            </a:r>
            <a:endParaRPr lang="en-US" sz="1100" dirty="0"/>
          </a:p>
        </p:txBody>
      </p:sp>
      <p:sp>
        <p:nvSpPr>
          <p:cNvPr id="98" name="Shape 92"/>
          <p:cNvSpPr/>
          <p:nvPr/>
        </p:nvSpPr>
        <p:spPr>
          <a:xfrm>
            <a:off x="5009387" y="3818908"/>
            <a:ext cx="1268753" cy="1187943"/>
          </a:xfrm>
          <a:prstGeom prst="roundRect">
            <a:avLst>
              <a:gd name="adj" fmla="val 3849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99" name="Text 93"/>
          <p:cNvSpPr/>
          <p:nvPr/>
        </p:nvSpPr>
        <p:spPr>
          <a:xfrm>
            <a:off x="5060429" y="3869923"/>
            <a:ext cx="1166669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 值 + bonus</a:t>
            </a:r>
            <a:endParaRPr lang="en-US" sz="1100" dirty="0"/>
          </a:p>
        </p:txBody>
      </p:sp>
      <p:sp>
        <p:nvSpPr>
          <p:cNvPr id="100" name="Shape 94"/>
          <p:cNvSpPr/>
          <p:nvPr/>
        </p:nvSpPr>
        <p:spPr>
          <a:xfrm>
            <a:off x="6606265" y="3818908"/>
            <a:ext cx="1203128" cy="1187943"/>
          </a:xfrm>
          <a:prstGeom prst="roundRect">
            <a:avLst>
              <a:gd name="adj" fmla="val 3849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101" name="Text 95"/>
          <p:cNvSpPr/>
          <p:nvPr/>
        </p:nvSpPr>
        <p:spPr>
          <a:xfrm>
            <a:off x="6657307" y="3869923"/>
            <a:ext cx="110104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ε-greedy</a:t>
            </a:r>
            <a:endParaRPr lang="en-US" sz="1100" dirty="0"/>
          </a:p>
        </p:txBody>
      </p:sp>
      <p:sp>
        <p:nvSpPr>
          <p:cNvPr id="102" name="Shape 96"/>
          <p:cNvSpPr/>
          <p:nvPr/>
        </p:nvSpPr>
        <p:spPr>
          <a:xfrm>
            <a:off x="8144811" y="3818908"/>
            <a:ext cx="1421878" cy="1187943"/>
          </a:xfrm>
          <a:prstGeom prst="roundRect">
            <a:avLst>
              <a:gd name="adj" fmla="val 3849"/>
            </a:avLst>
          </a:prstGeom>
          <a:solidFill>
            <a:srgbClr val="FBFCFD"/>
          </a:solidFill>
          <a:ln w="9525">
            <a:solidFill>
              <a:srgbClr val="6C89A8"/>
            </a:solidFill>
            <a:prstDash val="solid"/>
          </a:ln>
        </p:spPr>
      </p:sp>
      <p:sp>
        <p:nvSpPr>
          <p:cNvPr id="103" name="Text 97"/>
          <p:cNvSpPr/>
          <p:nvPr/>
        </p:nvSpPr>
        <p:spPr>
          <a:xfrm>
            <a:off x="8195853" y="3869923"/>
            <a:ext cx="1319795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(fc_index, td_index)</a:t>
            </a:r>
            <a:endParaRPr lang="en-US" sz="1100" dirty="0"/>
          </a:p>
        </p:txBody>
      </p:sp>
      <p:pic>
        <p:nvPicPr>
          <p:cNvPr id="104" name="Image 4" descr="state_sequenc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45837" y="4110427"/>
            <a:ext cx="1166669" cy="364400"/>
          </a:xfrm>
          <a:prstGeom prst="rect">
            <a:avLst/>
          </a:prstGeom>
        </p:spPr>
      </p:pic>
      <p:sp>
        <p:nvSpPr>
          <p:cNvPr id="105" name="Text 98"/>
          <p:cNvSpPr/>
          <p:nvPr/>
        </p:nvSpPr>
        <p:spPr>
          <a:xfrm>
            <a:off x="1538545" y="4489403"/>
            <a:ext cx="1159378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最近N=32 chirp观测</a:t>
            </a:r>
            <a:endParaRPr lang="en-US" sz="710" dirty="0"/>
          </a:p>
        </p:txBody>
      </p:sp>
      <p:sp>
        <p:nvSpPr>
          <p:cNvPr id="106" name="Text 99"/>
          <p:cNvSpPr/>
          <p:nvPr/>
        </p:nvSpPr>
        <p:spPr>
          <a:xfrm>
            <a:off x="1538545" y="4620587"/>
            <a:ext cx="1159378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SINR序列</a:t>
            </a:r>
            <a:endParaRPr lang="en-US" sz="710" dirty="0"/>
          </a:p>
        </p:txBody>
      </p:sp>
      <p:sp>
        <p:nvSpPr>
          <p:cNvPr id="107" name="Text 100"/>
          <p:cNvSpPr/>
          <p:nvPr/>
        </p:nvSpPr>
        <p:spPr>
          <a:xfrm>
            <a:off x="1538545" y="4751770"/>
            <a:ext cx="1159378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1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选定维度上下文</a:t>
            </a:r>
            <a:endParaRPr lang="en-US" sz="710" dirty="0"/>
          </a:p>
        </p:txBody>
      </p:sp>
      <p:pic>
        <p:nvPicPr>
          <p:cNvPr id="108" name="Image 5" descr="dqn_network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7508" y="4081275"/>
            <a:ext cx="853127" cy="553887"/>
          </a:xfrm>
          <a:prstGeom prst="rect">
            <a:avLst/>
          </a:prstGeom>
        </p:spPr>
      </p:pic>
      <p:sp>
        <p:nvSpPr>
          <p:cNvPr id="109" name="Shape 101"/>
          <p:cNvSpPr/>
          <p:nvPr/>
        </p:nvSpPr>
        <p:spPr>
          <a:xfrm>
            <a:off x="4025009" y="4365507"/>
            <a:ext cx="14583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10" name="Shape 102"/>
          <p:cNvSpPr/>
          <p:nvPr/>
        </p:nvSpPr>
        <p:spPr>
          <a:xfrm rot="5400000">
            <a:off x="4017718" y="4314491"/>
            <a:ext cx="116667" cy="131184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11" name="Shape 103"/>
          <p:cNvSpPr/>
          <p:nvPr/>
        </p:nvSpPr>
        <p:spPr>
          <a:xfrm>
            <a:off x="4112510" y="4197883"/>
            <a:ext cx="459376" cy="386264"/>
          </a:xfrm>
          <a:prstGeom prst="roundRect">
            <a:avLst>
              <a:gd name="adj" fmla="val 11836"/>
            </a:avLst>
          </a:prstGeom>
          <a:solidFill>
            <a:srgbClr val="FBFCFD"/>
          </a:solidFill>
          <a:ln w="8255">
            <a:solidFill>
              <a:srgbClr val="6C89A8"/>
            </a:solidFill>
            <a:prstDash val="solid"/>
          </a:ln>
        </p:spPr>
      </p:sp>
      <p:sp>
        <p:nvSpPr>
          <p:cNvPr id="112" name="Text 104"/>
          <p:cNvSpPr/>
          <p:nvPr/>
        </p:nvSpPr>
        <p:spPr>
          <a:xfrm>
            <a:off x="4148968" y="4227035"/>
            <a:ext cx="386459" cy="138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GRU</a:t>
            </a:r>
            <a:endParaRPr lang="en-US" sz="850" dirty="0"/>
          </a:p>
        </p:txBody>
      </p:sp>
      <p:sp>
        <p:nvSpPr>
          <p:cNvPr id="113" name="Text 105"/>
          <p:cNvSpPr/>
          <p:nvPr/>
        </p:nvSpPr>
        <p:spPr>
          <a:xfrm>
            <a:off x="4200010" y="4358219"/>
            <a:ext cx="291667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85000" lnSpcReduction="20000"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↻</a:t>
            </a:r>
            <a:endParaRPr lang="en-US" sz="1600" dirty="0"/>
          </a:p>
        </p:txBody>
      </p:sp>
      <p:sp>
        <p:nvSpPr>
          <p:cNvPr id="114" name="Text 106"/>
          <p:cNvSpPr/>
          <p:nvPr/>
        </p:nvSpPr>
        <p:spPr>
          <a:xfrm>
            <a:off x="3295841" y="4686179"/>
            <a:ext cx="1239586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时序建模 + 价值估计</a:t>
            </a:r>
            <a:endParaRPr lang="en-US" sz="800" dirty="0"/>
          </a:p>
        </p:txBody>
      </p:sp>
      <p:sp>
        <p:nvSpPr>
          <p:cNvPr id="115" name="Shape 107"/>
          <p:cNvSpPr/>
          <p:nvPr/>
        </p:nvSpPr>
        <p:spPr>
          <a:xfrm>
            <a:off x="5133345" y="4700755"/>
            <a:ext cx="1028127" cy="3644"/>
          </a:xfrm>
          <a:prstGeom prst="line">
            <a:avLst/>
          </a:prstGeom>
          <a:noFill/>
          <a:ln w="10160">
            <a:solidFill>
              <a:srgbClr val="101820"/>
            </a:solidFill>
            <a:prstDash val="solid"/>
          </a:ln>
        </p:spPr>
      </p:sp>
      <p:sp>
        <p:nvSpPr>
          <p:cNvPr id="116" name="Shape 108"/>
          <p:cNvSpPr/>
          <p:nvPr/>
        </p:nvSpPr>
        <p:spPr>
          <a:xfrm>
            <a:off x="5206262" y="4292627"/>
            <a:ext cx="109375" cy="400840"/>
          </a:xfrm>
          <a:prstGeom prst="rect">
            <a:avLst/>
          </a:prstGeom>
          <a:solidFill>
            <a:srgbClr val="4A87C5"/>
          </a:solidFill>
          <a:ln w="6985">
            <a:solidFill>
              <a:srgbClr val="062B50"/>
            </a:solidFill>
            <a:prstDash val="solid"/>
          </a:ln>
        </p:spPr>
      </p:sp>
      <p:sp>
        <p:nvSpPr>
          <p:cNvPr id="117" name="Text 109"/>
          <p:cNvSpPr/>
          <p:nvPr/>
        </p:nvSpPr>
        <p:spPr>
          <a:xfrm>
            <a:off x="5169804" y="4117715"/>
            <a:ext cx="182292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Q₁</a:t>
            </a:r>
            <a:endParaRPr lang="en-US" sz="730" dirty="0"/>
          </a:p>
        </p:txBody>
      </p:sp>
      <p:sp>
        <p:nvSpPr>
          <p:cNvPr id="118" name="Shape 110"/>
          <p:cNvSpPr/>
          <p:nvPr/>
        </p:nvSpPr>
        <p:spPr>
          <a:xfrm>
            <a:off x="5483346" y="4350931"/>
            <a:ext cx="109375" cy="342536"/>
          </a:xfrm>
          <a:prstGeom prst="rect">
            <a:avLst/>
          </a:prstGeom>
          <a:solidFill>
            <a:srgbClr val="4A87C5"/>
          </a:solidFill>
          <a:ln w="6985">
            <a:solidFill>
              <a:srgbClr val="062B50"/>
            </a:solidFill>
            <a:prstDash val="solid"/>
          </a:ln>
        </p:spPr>
      </p:sp>
      <p:sp>
        <p:nvSpPr>
          <p:cNvPr id="119" name="Text 111"/>
          <p:cNvSpPr/>
          <p:nvPr/>
        </p:nvSpPr>
        <p:spPr>
          <a:xfrm>
            <a:off x="5446888" y="4117715"/>
            <a:ext cx="182292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Q₂</a:t>
            </a:r>
            <a:endParaRPr lang="en-US" sz="730" dirty="0"/>
          </a:p>
        </p:txBody>
      </p:sp>
      <p:sp>
        <p:nvSpPr>
          <p:cNvPr id="120" name="Shape 112"/>
          <p:cNvSpPr/>
          <p:nvPr/>
        </p:nvSpPr>
        <p:spPr>
          <a:xfrm>
            <a:off x="6008347" y="4248899"/>
            <a:ext cx="109375" cy="444567"/>
          </a:xfrm>
          <a:prstGeom prst="rect">
            <a:avLst/>
          </a:prstGeom>
          <a:solidFill>
            <a:srgbClr val="4A87C5"/>
          </a:solidFill>
          <a:ln w="6985">
            <a:solidFill>
              <a:srgbClr val="062B50"/>
            </a:solidFill>
            <a:prstDash val="solid"/>
          </a:ln>
        </p:spPr>
      </p:sp>
      <p:sp>
        <p:nvSpPr>
          <p:cNvPr id="121" name="Text 113"/>
          <p:cNvSpPr/>
          <p:nvPr/>
        </p:nvSpPr>
        <p:spPr>
          <a:xfrm>
            <a:off x="5971889" y="4117715"/>
            <a:ext cx="182292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Qₙ</a:t>
            </a:r>
            <a:endParaRPr lang="en-US" sz="730" dirty="0"/>
          </a:p>
        </p:txBody>
      </p:sp>
      <p:sp>
        <p:nvSpPr>
          <p:cNvPr id="122" name="Text 114"/>
          <p:cNvSpPr/>
          <p:nvPr/>
        </p:nvSpPr>
        <p:spPr>
          <a:xfrm>
            <a:off x="5702097" y="4248899"/>
            <a:ext cx="204167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···</a:t>
            </a:r>
            <a:endParaRPr lang="en-US" sz="1100" dirty="0"/>
          </a:p>
        </p:txBody>
      </p:sp>
      <p:sp>
        <p:nvSpPr>
          <p:cNvPr id="123" name="Text 115"/>
          <p:cNvSpPr/>
          <p:nvPr/>
        </p:nvSpPr>
        <p:spPr>
          <a:xfrm>
            <a:off x="5184387" y="4737194"/>
            <a:ext cx="918752" cy="167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 bonus</a:t>
            </a:r>
            <a:endParaRPr lang="en-US" sz="870" dirty="0"/>
          </a:p>
        </p:txBody>
      </p:sp>
      <p:pic>
        <p:nvPicPr>
          <p:cNvPr id="124" name="Image 6" descr="epsilon_scale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83349" y="4095851"/>
            <a:ext cx="714585" cy="510159"/>
          </a:xfrm>
          <a:prstGeom prst="rect">
            <a:avLst/>
          </a:prstGeom>
        </p:spPr>
      </p:pic>
      <p:sp>
        <p:nvSpPr>
          <p:cNvPr id="125" name="Text 116"/>
          <p:cNvSpPr/>
          <p:nvPr/>
        </p:nvSpPr>
        <p:spPr>
          <a:xfrm>
            <a:off x="6708349" y="4678891"/>
            <a:ext cx="1006252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探索(ε) / 利用(1−ε)</a:t>
            </a:r>
            <a:endParaRPr lang="en-US" sz="780" dirty="0"/>
          </a:p>
        </p:txBody>
      </p:sp>
      <p:pic>
        <p:nvPicPr>
          <p:cNvPr id="126" name="Image 7" descr="action_grid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96895" y="4117715"/>
            <a:ext cx="517710" cy="502871"/>
          </a:xfrm>
          <a:prstGeom prst="rect">
            <a:avLst/>
          </a:prstGeom>
        </p:spPr>
      </p:pic>
      <p:sp>
        <p:nvSpPr>
          <p:cNvPr id="127" name="Text 117"/>
          <p:cNvSpPr/>
          <p:nvPr/>
        </p:nvSpPr>
        <p:spPr>
          <a:xfrm>
            <a:off x="8305228" y="4664315"/>
            <a:ext cx="1122919" cy="131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4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频率索引 / 时延索引</a:t>
            </a:r>
            <a:endParaRPr lang="en-US" sz="740" dirty="0"/>
          </a:p>
        </p:txBody>
      </p:sp>
      <p:sp>
        <p:nvSpPr>
          <p:cNvPr id="128" name="Text 118"/>
          <p:cNvSpPr/>
          <p:nvPr/>
        </p:nvSpPr>
        <p:spPr>
          <a:xfrm>
            <a:off x="8305228" y="4795498"/>
            <a:ext cx="1122919" cy="116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具体参数组合</a:t>
            </a:r>
            <a:endParaRPr lang="en-US" sz="730" dirty="0"/>
          </a:p>
        </p:txBody>
      </p:sp>
      <p:sp>
        <p:nvSpPr>
          <p:cNvPr id="129" name="Shape 119"/>
          <p:cNvSpPr/>
          <p:nvPr/>
        </p:nvSpPr>
        <p:spPr>
          <a:xfrm>
            <a:off x="714585" y="5626329"/>
            <a:ext cx="342709" cy="3644"/>
          </a:xfrm>
          <a:prstGeom prst="line">
            <a:avLst/>
          </a:prstGeom>
          <a:noFill/>
          <a:ln w="17780">
            <a:solidFill>
              <a:srgbClr val="062B50"/>
            </a:solidFill>
            <a:prstDash val="solid"/>
          </a:ln>
        </p:spPr>
      </p:sp>
      <p:sp>
        <p:nvSpPr>
          <p:cNvPr id="130" name="Shape 120"/>
          <p:cNvSpPr/>
          <p:nvPr/>
        </p:nvSpPr>
        <p:spPr>
          <a:xfrm>
            <a:off x="729168" y="2951637"/>
            <a:ext cx="3646" cy="2667405"/>
          </a:xfrm>
          <a:prstGeom prst="line">
            <a:avLst/>
          </a:prstGeom>
          <a:noFill/>
          <a:ln w="17780">
            <a:solidFill>
              <a:srgbClr val="062B50"/>
            </a:solidFill>
            <a:prstDash val="solid"/>
          </a:ln>
        </p:spPr>
      </p:sp>
      <p:sp>
        <p:nvSpPr>
          <p:cNvPr id="131" name="Shape 121"/>
          <p:cNvSpPr/>
          <p:nvPr/>
        </p:nvSpPr>
        <p:spPr>
          <a:xfrm>
            <a:off x="678127" y="2900621"/>
            <a:ext cx="102084" cy="102032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32" name="Shape 122"/>
          <p:cNvSpPr/>
          <p:nvPr/>
        </p:nvSpPr>
        <p:spPr>
          <a:xfrm>
            <a:off x="8239603" y="5626329"/>
            <a:ext cx="838544" cy="3644"/>
          </a:xfrm>
          <a:prstGeom prst="line">
            <a:avLst/>
          </a:prstGeom>
          <a:noFill/>
          <a:ln w="17780">
            <a:solidFill>
              <a:srgbClr val="062B50"/>
            </a:solidFill>
            <a:prstDash val="solid"/>
          </a:ln>
        </p:spPr>
      </p:sp>
      <p:sp>
        <p:nvSpPr>
          <p:cNvPr id="133" name="Shape 123"/>
          <p:cNvSpPr/>
          <p:nvPr/>
        </p:nvSpPr>
        <p:spPr>
          <a:xfrm>
            <a:off x="9078146" y="5123458"/>
            <a:ext cx="3646" cy="502871"/>
          </a:xfrm>
          <a:prstGeom prst="line">
            <a:avLst/>
          </a:prstGeom>
          <a:noFill/>
          <a:ln w="17780">
            <a:solidFill>
              <a:srgbClr val="062B50"/>
            </a:solidFill>
            <a:prstDash val="solid"/>
          </a:ln>
        </p:spPr>
      </p:sp>
      <p:sp>
        <p:nvSpPr>
          <p:cNvPr id="134" name="Shape 124"/>
          <p:cNvSpPr/>
          <p:nvPr/>
        </p:nvSpPr>
        <p:spPr>
          <a:xfrm>
            <a:off x="9027104" y="5057866"/>
            <a:ext cx="102084" cy="102032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35" name="Text 125"/>
          <p:cNvSpPr/>
          <p:nvPr/>
        </p:nvSpPr>
        <p:spPr>
          <a:xfrm>
            <a:off x="1144794" y="5305658"/>
            <a:ext cx="1028127" cy="6413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反馈: SINR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实测SINR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干扰强度变化</a:t>
            </a:r>
            <a:endParaRPr lang="en-US" sz="730" dirty="0"/>
          </a:p>
          <a:p>
            <a:pPr marL="0" indent="0"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检测结果</a:t>
            </a:r>
            <a:endParaRPr lang="en-US" sz="730" dirty="0"/>
          </a:p>
        </p:txBody>
      </p:sp>
      <p:sp>
        <p:nvSpPr>
          <p:cNvPr id="136" name="Text 126"/>
          <p:cNvSpPr/>
          <p:nvPr/>
        </p:nvSpPr>
        <p:spPr>
          <a:xfrm>
            <a:off x="7313559" y="5298370"/>
            <a:ext cx="969794" cy="6632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82000"/>
              </a:lnSpc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反馈: 动作记录</a:t>
            </a:r>
            <a:endParaRPr lang="en-US" sz="730" dirty="0"/>
          </a:p>
          <a:p>
            <a:pPr marL="0" indent="0">
              <a:lnSpc>
                <a:spcPct val="82000"/>
              </a:lnSpc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fc_index</a:t>
            </a:r>
            <a:endParaRPr lang="en-US" sz="730" dirty="0"/>
          </a:p>
          <a:p>
            <a:pPr marL="0" indent="0">
              <a:lnSpc>
                <a:spcPct val="82000"/>
              </a:lnSpc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td_index</a:t>
            </a:r>
            <a:endParaRPr lang="en-US" sz="730" dirty="0"/>
          </a:p>
          <a:p>
            <a:pPr marL="0" indent="0">
              <a:lnSpc>
                <a:spcPct val="82000"/>
              </a:lnSpc>
              <a:buNone/>
            </a:pPr>
            <a:r>
              <a:rPr lang="en-US" sz="73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时间戳</a:t>
            </a:r>
            <a:endParaRPr lang="en-US" sz="730" dirty="0"/>
          </a:p>
        </p:txBody>
      </p:sp>
      <p:sp>
        <p:nvSpPr>
          <p:cNvPr id="137" name="Shape 127"/>
          <p:cNvSpPr/>
          <p:nvPr/>
        </p:nvSpPr>
        <p:spPr>
          <a:xfrm>
            <a:off x="2216672" y="5283794"/>
            <a:ext cx="4943762" cy="706935"/>
          </a:xfrm>
          <a:prstGeom prst="roundRect">
            <a:avLst>
              <a:gd name="adj" fmla="val 6467"/>
            </a:avLst>
          </a:prstGeom>
          <a:solidFill>
            <a:srgbClr val="FFFDF8"/>
          </a:solidFill>
          <a:ln w="8255">
            <a:solidFill>
              <a:srgbClr val="A78958"/>
            </a:solidFill>
            <a:prstDash val="solid"/>
          </a:ln>
        </p:spPr>
      </p:sp>
      <p:sp>
        <p:nvSpPr>
          <p:cNvPr id="138" name="Text 128"/>
          <p:cNvSpPr/>
          <p:nvPr/>
        </p:nvSpPr>
        <p:spPr>
          <a:xfrm>
            <a:off x="3784384" y="5371250"/>
            <a:ext cx="1830213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FMCW雷达环境</a:t>
            </a:r>
            <a:endParaRPr lang="en-US" sz="1100" dirty="0"/>
          </a:p>
        </p:txBody>
      </p:sp>
      <p:pic>
        <p:nvPicPr>
          <p:cNvPr id="139" name="Image 8" descr="environment_satellite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68756" y="5465994"/>
            <a:ext cx="430209" cy="451855"/>
          </a:xfrm>
          <a:prstGeom prst="rect">
            <a:avLst/>
          </a:prstGeom>
        </p:spPr>
      </p:pic>
      <p:pic>
        <p:nvPicPr>
          <p:cNvPr id="140" name="Image 9" descr="environment_wave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397925" y="5480570"/>
            <a:ext cx="612501" cy="444567"/>
          </a:xfrm>
          <a:prstGeom prst="rect">
            <a:avLst/>
          </a:prstGeom>
        </p:spPr>
      </p:pic>
      <p:pic>
        <p:nvPicPr>
          <p:cNvPr id="141" name="Image 10" descr="environment_small_cars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433344" y="5582601"/>
            <a:ext cx="648960" cy="349824"/>
          </a:xfrm>
          <a:prstGeom prst="rect">
            <a:avLst/>
          </a:prstGeom>
        </p:spPr>
      </p:pic>
      <p:pic>
        <p:nvPicPr>
          <p:cNvPr id="142" name="Image 11" descr="environment_large_cars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344804" y="5524298"/>
            <a:ext cx="612501" cy="415416"/>
          </a:xfrm>
          <a:prstGeom prst="rect">
            <a:avLst/>
          </a:prstGeom>
        </p:spPr>
      </p:pic>
      <p:pic>
        <p:nvPicPr>
          <p:cNvPr id="143" name="Image 12" descr="environment_antenna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19806" y="5465994"/>
            <a:ext cx="452084" cy="459143"/>
          </a:xfrm>
          <a:prstGeom prst="rect">
            <a:avLst/>
          </a:prstGeom>
        </p:spPr>
      </p:pic>
      <p:sp>
        <p:nvSpPr>
          <p:cNvPr id="144" name="Shape 129"/>
          <p:cNvSpPr/>
          <p:nvPr/>
        </p:nvSpPr>
        <p:spPr>
          <a:xfrm>
            <a:off x="10069815" y="954727"/>
            <a:ext cx="1939588" cy="3294172"/>
          </a:xfrm>
          <a:prstGeom prst="rect">
            <a:avLst/>
          </a:prstGeom>
          <a:solidFill>
            <a:srgbClr val="FCFAF5">
              <a:alpha val="0"/>
            </a:srgbClr>
          </a:solidFill>
          <a:ln w="9525">
            <a:solidFill>
              <a:srgbClr val="12355B"/>
            </a:solidFill>
            <a:prstDash val="solid"/>
          </a:ln>
        </p:spPr>
      </p:sp>
      <p:sp>
        <p:nvSpPr>
          <p:cNvPr id="145" name="Shape 130"/>
          <p:cNvSpPr/>
          <p:nvPr/>
        </p:nvSpPr>
        <p:spPr>
          <a:xfrm>
            <a:off x="10069815" y="954727"/>
            <a:ext cx="1939588" cy="473719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46" name="Text 131"/>
          <p:cNvSpPr/>
          <p:nvPr/>
        </p:nvSpPr>
        <p:spPr>
          <a:xfrm>
            <a:off x="10361483" y="1093199"/>
            <a:ext cx="1370837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时间尺度对比</a:t>
            </a:r>
            <a:endParaRPr lang="en-US" sz="1300" dirty="0"/>
          </a:p>
        </p:txBody>
      </p:sp>
      <p:pic>
        <p:nvPicPr>
          <p:cNvPr id="147" name="Image 13" descr="meta_clock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157315" y="1705390"/>
            <a:ext cx="721877" cy="721511"/>
          </a:xfrm>
          <a:prstGeom prst="rect">
            <a:avLst/>
          </a:prstGeom>
        </p:spPr>
      </p:pic>
      <p:sp>
        <p:nvSpPr>
          <p:cNvPr id="148" name="Text 132"/>
          <p:cNvSpPr/>
          <p:nvPr/>
        </p:nvSpPr>
        <p:spPr>
          <a:xfrm>
            <a:off x="10937526" y="1719966"/>
            <a:ext cx="962502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元策略层:</a:t>
            </a:r>
            <a:endParaRPr lang="en-US" sz="970" dirty="0"/>
          </a:p>
        </p:txBody>
      </p:sp>
      <p:sp>
        <p:nvSpPr>
          <p:cNvPr id="149" name="Text 133"/>
          <p:cNvSpPr/>
          <p:nvPr/>
        </p:nvSpPr>
        <p:spPr>
          <a:xfrm>
            <a:off x="10937526" y="1938606"/>
            <a:ext cx="962502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92000"/>
              </a:lnSpc>
              <a:buNone/>
            </a:pPr>
            <a:r>
              <a:rPr lang="en-US" sz="92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测试阶段每</a:t>
            </a:r>
            <a:endParaRPr lang="en-US" sz="920" dirty="0"/>
          </a:p>
          <a:p>
            <a:pPr marL="0" indent="0">
              <a:lnSpc>
                <a:spcPct val="92000"/>
              </a:lnSpc>
              <a:buNone/>
            </a:pPr>
            <a:r>
              <a:rPr lang="en-US" sz="92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K=3步触发</a:t>
            </a:r>
            <a:endParaRPr lang="en-US" sz="920" dirty="0"/>
          </a:p>
        </p:txBody>
      </p:sp>
      <p:sp>
        <p:nvSpPr>
          <p:cNvPr id="150" name="Text 134"/>
          <p:cNvSpPr/>
          <p:nvPr/>
        </p:nvSpPr>
        <p:spPr>
          <a:xfrm>
            <a:off x="10653150" y="2470629"/>
            <a:ext cx="1246878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(3个chirp更新一次)</a:t>
            </a:r>
            <a:endParaRPr lang="en-US" sz="840" dirty="0"/>
          </a:p>
        </p:txBody>
      </p:sp>
      <p:sp>
        <p:nvSpPr>
          <p:cNvPr id="151" name="Shape 135"/>
          <p:cNvSpPr/>
          <p:nvPr/>
        </p:nvSpPr>
        <p:spPr>
          <a:xfrm>
            <a:off x="10164607" y="2915197"/>
            <a:ext cx="1742712" cy="3644"/>
          </a:xfrm>
          <a:prstGeom prst="line">
            <a:avLst/>
          </a:prstGeom>
          <a:noFill/>
          <a:ln w="8890">
            <a:solidFill>
              <a:srgbClr val="6C89A8"/>
            </a:solidFill>
            <a:prstDash val="solid"/>
          </a:ln>
        </p:spPr>
      </p:sp>
      <p:pic>
        <p:nvPicPr>
          <p:cNvPr id="152" name="Image 14" descr="exec_gauge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186482" y="3221292"/>
            <a:ext cx="700002" cy="568463"/>
          </a:xfrm>
          <a:prstGeom prst="rect">
            <a:avLst/>
          </a:prstGeom>
        </p:spPr>
      </p:pic>
      <p:sp>
        <p:nvSpPr>
          <p:cNvPr id="153" name="Text 136"/>
          <p:cNvSpPr/>
          <p:nvPr/>
        </p:nvSpPr>
        <p:spPr>
          <a:xfrm>
            <a:off x="10937526" y="3235868"/>
            <a:ext cx="962502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7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执行层:</a:t>
            </a:r>
            <a:endParaRPr lang="en-US" sz="970" dirty="0"/>
          </a:p>
        </p:txBody>
      </p:sp>
      <p:sp>
        <p:nvSpPr>
          <p:cNvPr id="154" name="Text 137"/>
          <p:cNvSpPr/>
          <p:nvPr/>
        </p:nvSpPr>
        <p:spPr>
          <a:xfrm>
            <a:off x="10937526" y="3454508"/>
            <a:ext cx="962502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逐chirp运行</a:t>
            </a:r>
            <a:endParaRPr lang="en-US" sz="920" dirty="0"/>
          </a:p>
        </p:txBody>
      </p:sp>
      <p:sp>
        <p:nvSpPr>
          <p:cNvPr id="155" name="Text 138"/>
          <p:cNvSpPr/>
          <p:nvPr/>
        </p:nvSpPr>
        <p:spPr>
          <a:xfrm>
            <a:off x="10653150" y="3767892"/>
            <a:ext cx="1246878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(每个chirp都决策)</a:t>
            </a:r>
            <a:endParaRPr lang="en-US" sz="840" dirty="0"/>
          </a:p>
        </p:txBody>
      </p:sp>
      <p:sp>
        <p:nvSpPr>
          <p:cNvPr id="156" name="Shape 139"/>
          <p:cNvSpPr/>
          <p:nvPr/>
        </p:nvSpPr>
        <p:spPr>
          <a:xfrm>
            <a:off x="10026065" y="4642451"/>
            <a:ext cx="1983338" cy="1268111"/>
          </a:xfrm>
          <a:prstGeom prst="roundRect">
            <a:avLst>
              <a:gd name="adj" fmla="val 3605"/>
            </a:avLst>
          </a:prstGeom>
          <a:solidFill>
            <a:srgbClr val="FFF9EC"/>
          </a:solidFill>
          <a:ln w="8890">
            <a:solidFill>
              <a:srgbClr val="A78958"/>
            </a:solidFill>
            <a:prstDash val="solid"/>
          </a:ln>
        </p:spPr>
      </p:sp>
      <p:pic>
        <p:nvPicPr>
          <p:cNvPr id="157" name="Image 15" descr="warning_icon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50024" y="4970410"/>
            <a:ext cx="510418" cy="510159"/>
          </a:xfrm>
          <a:prstGeom prst="rect">
            <a:avLst/>
          </a:prstGeom>
        </p:spPr>
      </p:pic>
      <p:sp>
        <p:nvSpPr>
          <p:cNvPr id="158" name="Text 140"/>
          <p:cNvSpPr/>
          <p:nvPr/>
        </p:nvSpPr>
        <p:spPr>
          <a:xfrm>
            <a:off x="10777109" y="4817362"/>
            <a:ext cx="955211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7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注意事项:</a:t>
            </a:r>
            <a:endParaRPr lang="en-US" sz="1070" dirty="0"/>
          </a:p>
        </p:txBody>
      </p:sp>
      <p:sp>
        <p:nvSpPr>
          <p:cNvPr id="159" name="Text 141"/>
          <p:cNvSpPr/>
          <p:nvPr/>
        </p:nvSpPr>
        <p:spPr>
          <a:xfrm>
            <a:off x="10762525" y="5065154"/>
            <a:ext cx="1064586" cy="429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92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决策分工不等于</a:t>
            </a:r>
            <a:endParaRPr lang="en-US" sz="92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92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当前实现已满足</a:t>
            </a:r>
            <a:endParaRPr lang="en-US" sz="920" dirty="0"/>
          </a:p>
        </p:txBody>
      </p:sp>
      <p:sp>
        <p:nvSpPr>
          <p:cNvPr id="160" name="Text 142"/>
          <p:cNvSpPr/>
          <p:nvPr/>
        </p:nvSpPr>
        <p:spPr>
          <a:xfrm>
            <a:off x="10762525" y="5531586"/>
            <a:ext cx="110104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0201C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50 μs工程时延</a:t>
            </a:r>
            <a:endParaRPr lang="en-US" sz="1050" dirty="0"/>
          </a:p>
        </p:txBody>
      </p:sp>
      <p:sp>
        <p:nvSpPr>
          <p:cNvPr id="161" name="Shape 143"/>
          <p:cNvSpPr/>
          <p:nvPr/>
        </p:nvSpPr>
        <p:spPr>
          <a:xfrm>
            <a:off x="175000" y="6172929"/>
            <a:ext cx="11848986" cy="568463"/>
          </a:xfrm>
          <a:prstGeom prst="roundRect">
            <a:avLst>
              <a:gd name="adj" fmla="val 8043"/>
            </a:avLst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pic>
        <p:nvPicPr>
          <p:cNvPr id="162" name="Image 16" descr="school_icon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386459" y="6216657"/>
            <a:ext cx="495834" cy="495583"/>
          </a:xfrm>
          <a:prstGeom prst="rect">
            <a:avLst/>
          </a:prstGeom>
        </p:spPr>
      </p:pic>
      <p:sp>
        <p:nvSpPr>
          <p:cNvPr id="163" name="Text 144"/>
          <p:cNvSpPr/>
          <p:nvPr/>
        </p:nvSpPr>
        <p:spPr>
          <a:xfrm>
            <a:off x="2333339" y="6318689"/>
            <a:ext cx="8166686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宏观认知与微观控制解耦，使快速执行获得结构化探索方向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273966" y="116608"/>
            <a:ext cx="5702097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基于分层强化学习的FMCW雷达抗干扰策略优化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75023" y="145760"/>
            <a:ext cx="2048963" cy="26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研究内容｜DRL执行层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684379" y="779815"/>
            <a:ext cx="8771896" cy="3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Double DQN+GRU执行层在9维动作空间中实现稳定的时序决策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792715" y="1282687"/>
            <a:ext cx="661355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65B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GRU负责记忆干扰演变，Double DQN降低Q值过估计，奖励函数约束策略抖动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45834" y="1683526"/>
            <a:ext cx="3937509" cy="4285339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B5BCC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29177" y="1683526"/>
            <a:ext cx="3091674" cy="4285339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B5BC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503143" y="1683526"/>
            <a:ext cx="4535427" cy="4285339"/>
          </a:xfrm>
          <a:prstGeom prst="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B5BCC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5834" y="1683526"/>
            <a:ext cx="3937509" cy="35711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5209" y="1756406"/>
            <a:ext cx="3718759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执行网络结构（在线网络）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29177" y="1683526"/>
            <a:ext cx="3091674" cy="35711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38552" y="1756406"/>
            <a:ext cx="2872923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训练机制与超参数设置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503143" y="1683526"/>
            <a:ext cx="4535427" cy="35711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612518" y="1756406"/>
            <a:ext cx="4316677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奖励函数设计与性能结果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4793" y="2179109"/>
            <a:ext cx="2902090" cy="371688"/>
          </a:xfrm>
          <a:prstGeom prst="roundRect">
            <a:avLst/>
          </a:prstGeom>
          <a:solidFill>
            <a:srgbClr val="DDEAF8"/>
          </a:solidFill>
          <a:ln w="8255">
            <a:solidFill>
              <a:srgbClr val="6D8CB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3126" y="2230125"/>
            <a:ext cx="2785423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动作One-Hot（9维）+ 当前SINR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4793" y="2776725"/>
            <a:ext cx="2515631" cy="378976"/>
          </a:xfrm>
          <a:prstGeom prst="roundRect">
            <a:avLst/>
          </a:prstGeom>
          <a:solidFill>
            <a:srgbClr val="DDEAF8"/>
          </a:solidFill>
          <a:ln w="8255">
            <a:solidFill>
              <a:srgbClr val="6D8CB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3126" y="2827741"/>
            <a:ext cx="2398964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Dense(16)×2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44793" y="3381628"/>
            <a:ext cx="2515631" cy="378976"/>
          </a:xfrm>
          <a:prstGeom prst="roundRect">
            <a:avLst/>
          </a:prstGeom>
          <a:solidFill>
            <a:srgbClr val="4D87D0"/>
          </a:solidFill>
          <a:ln w="8255">
            <a:solidFill>
              <a:srgbClr val="6D8CB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3126" y="3432644"/>
            <a:ext cx="2398964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GRU(32, stateful=True)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44793" y="4154155"/>
            <a:ext cx="2515631" cy="393552"/>
          </a:xfrm>
          <a:prstGeom prst="roundRect">
            <a:avLst/>
          </a:prstGeom>
          <a:solidFill>
            <a:srgbClr val="DDEAF8"/>
          </a:solidFill>
          <a:ln w="8255">
            <a:solidFill>
              <a:srgbClr val="6D8CB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3126" y="4205171"/>
            <a:ext cx="2398964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Dense(64)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44793" y="4824650"/>
            <a:ext cx="2515631" cy="393552"/>
          </a:xfrm>
          <a:prstGeom prst="roundRect">
            <a:avLst/>
          </a:prstGeom>
          <a:solidFill>
            <a:srgbClr val="DDEAF8"/>
          </a:solidFill>
          <a:ln w="8255">
            <a:solidFill>
              <a:srgbClr val="6D8CB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3126" y="4875666"/>
            <a:ext cx="2398964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Q值输出（9维）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828754" y="2550797"/>
            <a:ext cx="17500" cy="160336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10800000">
            <a:off x="1793754" y="2689269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828754" y="3155700"/>
            <a:ext cx="17500" cy="160336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0800000">
            <a:off x="1793754" y="3294172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28754" y="3760604"/>
            <a:ext cx="17500" cy="32796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10800000">
            <a:off x="1793754" y="4066699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828754" y="4547707"/>
            <a:ext cx="17500" cy="2113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10800000">
            <a:off x="1793754" y="4737194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60424" y="3571116"/>
            <a:ext cx="539585" cy="3644"/>
          </a:xfrm>
          <a:prstGeom prst="line">
            <a:avLst/>
          </a:prstGeom>
          <a:noFill/>
          <a:ln w="15240">
            <a:solidFill>
              <a:srgbClr val="062B5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500008" y="3571116"/>
            <a:ext cx="3646" cy="1457598"/>
          </a:xfrm>
          <a:prstGeom prst="line">
            <a:avLst/>
          </a:prstGeom>
          <a:noFill/>
          <a:ln w="15240">
            <a:solidFill>
              <a:srgbClr val="062B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960424" y="5028714"/>
            <a:ext cx="539585" cy="3644"/>
          </a:xfrm>
          <a:prstGeom prst="line">
            <a:avLst/>
          </a:prstGeom>
          <a:noFill/>
          <a:ln w="15240">
            <a:solidFill>
              <a:srgbClr val="062B50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6200000">
            <a:off x="2909382" y="3520100"/>
            <a:ext cx="94792" cy="102032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120841" y="4037547"/>
            <a:ext cx="853127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隐藏状态 hₜ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（带入下一步）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335417" y="5538874"/>
            <a:ext cx="3565633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注：输出对应9维动作的Q值，选择最大Q值对应的动作执行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345844" y="2179109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5490638" y="2179109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396885" y="2222837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训练规模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541680" y="2222837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15000 episodes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4345844" y="2569746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90638" y="2569746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396885" y="2613474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交互长度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5541680" y="2613474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每episode 30步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4345844" y="2960382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490638" y="2960382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96885" y="3004110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经验回放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5541680" y="3004110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容量50000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345844" y="3351018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490638" y="3351018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396885" y="3394746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批次大小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5541680" y="3394746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256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4345844" y="3741655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490638" y="3741655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396885" y="3785383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折扣因子 γ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5541680" y="3785383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0.95</a:t>
            </a:r>
            <a:endParaRPr lang="en-US" sz="1050" dirty="0"/>
          </a:p>
        </p:txBody>
      </p:sp>
      <p:sp>
        <p:nvSpPr>
          <p:cNvPr id="63" name="Shape 61"/>
          <p:cNvSpPr/>
          <p:nvPr/>
        </p:nvSpPr>
        <p:spPr>
          <a:xfrm>
            <a:off x="4345844" y="4132291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5490638" y="4132291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396885" y="4176019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软更新系数 τ</a:t>
            </a:r>
            <a:endParaRPr lang="en-US" sz="1050" dirty="0"/>
          </a:p>
        </p:txBody>
      </p:sp>
      <p:sp>
        <p:nvSpPr>
          <p:cNvPr id="66" name="Text 64"/>
          <p:cNvSpPr/>
          <p:nvPr/>
        </p:nvSpPr>
        <p:spPr>
          <a:xfrm>
            <a:off x="5541680" y="4176019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0.005</a:t>
            </a:r>
            <a:endParaRPr lang="en-US" sz="1050" dirty="0"/>
          </a:p>
        </p:txBody>
      </p:sp>
      <p:sp>
        <p:nvSpPr>
          <p:cNvPr id="67" name="Shape 65"/>
          <p:cNvSpPr/>
          <p:nvPr/>
        </p:nvSpPr>
        <p:spPr>
          <a:xfrm>
            <a:off x="4345844" y="4522928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5490638" y="4522928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4396885" y="4566655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探索率 ε</a:t>
            </a:r>
            <a:endParaRPr lang="en-US" sz="1050" dirty="0"/>
          </a:p>
        </p:txBody>
      </p:sp>
      <p:sp>
        <p:nvSpPr>
          <p:cNvPr id="70" name="Text 68"/>
          <p:cNvSpPr/>
          <p:nvPr/>
        </p:nvSpPr>
        <p:spPr>
          <a:xfrm>
            <a:off x="5541680" y="4566655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1.0→0.05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4345844" y="4913564"/>
            <a:ext cx="1144794" cy="390636"/>
          </a:xfrm>
          <a:prstGeom prst="rect">
            <a:avLst/>
          </a:prstGeom>
          <a:solidFill>
            <a:srgbClr val="DDEAF8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5490638" y="4913564"/>
            <a:ext cx="1706254" cy="390636"/>
          </a:xfrm>
          <a:prstGeom prst="rect">
            <a:avLst/>
          </a:prstGeom>
          <a:solidFill>
            <a:srgbClr val="FFFFFF"/>
          </a:solidFill>
          <a:ln w="6985">
            <a:solidFill>
              <a:srgbClr val="B8BEC5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396885" y="4957292"/>
            <a:ext cx="1042711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学习率</a:t>
            </a:r>
            <a:endParaRPr lang="en-US" sz="1050" dirty="0"/>
          </a:p>
        </p:txBody>
      </p:sp>
      <p:sp>
        <p:nvSpPr>
          <p:cNvPr id="74" name="Text 72"/>
          <p:cNvSpPr/>
          <p:nvPr/>
        </p:nvSpPr>
        <p:spPr>
          <a:xfrm>
            <a:off x="5541680" y="4957292"/>
            <a:ext cx="1604170" cy="3031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1e-3→1e-5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4360427" y="5465994"/>
            <a:ext cx="2763548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注：15000 episodes来自文字记录；Double DQN、软更新</a:t>
            </a:r>
            <a:endParaRPr lang="en-US" sz="950" dirty="0"/>
          </a:p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与经验回放共同稳定训练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7772935" y="2193685"/>
            <a:ext cx="1946880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奖励：SINR ≥ 0 dB（正向激励）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9989607" y="2193685"/>
            <a:ext cx="1888546" cy="211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D91E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奖励：SINR &lt; 0 dB（线性惩罚）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7802102" y="3826196"/>
            <a:ext cx="70938" cy="3644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867206" y="3639769"/>
            <a:ext cx="70938" cy="186427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7932310" y="3480592"/>
            <a:ext cx="70938" cy="345603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7997415" y="3344683"/>
            <a:ext cx="70938" cy="481512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8062519" y="3228640"/>
            <a:ext cx="70938" cy="597556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8127623" y="3129559"/>
            <a:ext cx="70938" cy="696637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92728" y="3044960"/>
            <a:ext cx="70938" cy="781235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8257832" y="2972728"/>
            <a:ext cx="70938" cy="853468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8322936" y="2911054"/>
            <a:ext cx="70938" cy="915142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8388040" y="2858394"/>
            <a:ext cx="70938" cy="967801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8453145" y="2813433"/>
            <a:ext cx="70938" cy="1012763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8518249" y="2775043"/>
            <a:ext cx="70938" cy="1051153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8583353" y="2742264"/>
            <a:ext cx="70938" cy="1083931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8648458" y="2714277"/>
            <a:ext cx="70938" cy="1111918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8713562" y="2690381"/>
            <a:ext cx="70938" cy="1135814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8778666" y="2669978"/>
            <a:ext cx="70938" cy="1156217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8843771" y="2652557"/>
            <a:ext cx="70938" cy="1173638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8908875" y="2637683"/>
            <a:ext cx="70938" cy="1188513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8973979" y="2624983"/>
            <a:ext cx="70938" cy="1201213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039084" y="2614139"/>
            <a:ext cx="70938" cy="1212057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9104188" y="2604880"/>
            <a:ext cx="70938" cy="1221315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169292" y="2596975"/>
            <a:ext cx="70938" cy="1229221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0" name="Shape 98"/>
          <p:cNvSpPr/>
          <p:nvPr/>
        </p:nvSpPr>
        <p:spPr>
          <a:xfrm>
            <a:off x="9234397" y="2590225"/>
            <a:ext cx="70938" cy="1235971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9299501" y="2584462"/>
            <a:ext cx="70938" cy="1241734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364605" y="2579541"/>
            <a:ext cx="70938" cy="1246655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3" name="Shape 101"/>
          <p:cNvSpPr/>
          <p:nvPr/>
        </p:nvSpPr>
        <p:spPr>
          <a:xfrm>
            <a:off x="9429710" y="2575339"/>
            <a:ext cx="70938" cy="1250856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4" name="Shape 102"/>
          <p:cNvSpPr/>
          <p:nvPr/>
        </p:nvSpPr>
        <p:spPr>
          <a:xfrm>
            <a:off x="9494814" y="2571752"/>
            <a:ext cx="70938" cy="1254444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559918" y="2568689"/>
            <a:ext cx="70938" cy="1257507"/>
          </a:xfrm>
          <a:prstGeom prst="rect">
            <a:avLst/>
          </a:prstGeom>
          <a:solidFill>
            <a:srgbClr val="DDEAF8">
              <a:alpha val="95000"/>
            </a:srgbClr>
          </a:solidFill>
          <a:ln w="12700">
            <a:solidFill>
              <a:srgbClr val="DDEAF8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7802102" y="3826196"/>
            <a:ext cx="1888546" cy="3644"/>
          </a:xfrm>
          <a:prstGeom prst="line">
            <a:avLst/>
          </a:prstGeom>
          <a:noFill/>
          <a:ln w="10160">
            <a:solidFill>
              <a:srgbClr val="101820"/>
            </a:solidFill>
            <a:prstDash val="solid"/>
            <a:tailEnd type="triangle"/>
          </a:ln>
        </p:spPr>
      </p:sp>
      <p:sp>
        <p:nvSpPr>
          <p:cNvPr id="107" name="Shape 105"/>
          <p:cNvSpPr/>
          <p:nvPr/>
        </p:nvSpPr>
        <p:spPr>
          <a:xfrm>
            <a:off x="7802102" y="2521645"/>
            <a:ext cx="3646" cy="1304550"/>
          </a:xfrm>
          <a:prstGeom prst="line">
            <a:avLst/>
          </a:prstGeom>
          <a:noFill/>
          <a:ln w="10160">
            <a:solidFill>
              <a:srgbClr val="101820"/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7765643" y="2456053"/>
            <a:ext cx="72917" cy="80168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 flipV="1">
            <a:off x="7802102" y="3666992"/>
            <a:ext cx="56966" cy="159204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 flipV="1">
            <a:off x="7859068" y="3527661"/>
            <a:ext cx="56966" cy="139331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 flipV="1">
            <a:off x="7916034" y="3405722"/>
            <a:ext cx="56966" cy="121939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 flipV="1">
            <a:off x="7973000" y="3299005"/>
            <a:ext cx="56966" cy="106717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 flipV="1">
            <a:off x="8029967" y="3205608"/>
            <a:ext cx="56966" cy="93396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 flipV="1">
            <a:off x="8086933" y="3123871"/>
            <a:ext cx="56966" cy="81738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 flipV="1">
            <a:off x="8143899" y="3052336"/>
            <a:ext cx="56966" cy="71535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 flipV="1">
            <a:off x="8200866" y="2989730"/>
            <a:ext cx="56966" cy="62605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 flipV="1">
            <a:off x="8257832" y="2934940"/>
            <a:ext cx="56966" cy="54791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 flipV="1">
            <a:off x="8314798" y="2886988"/>
            <a:ext cx="56966" cy="47951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 flipV="1">
            <a:off x="8371764" y="2845023"/>
            <a:ext cx="56966" cy="41966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 flipV="1">
            <a:off x="8428731" y="2808296"/>
            <a:ext cx="56966" cy="36727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 flipV="1">
            <a:off x="8485697" y="2776153"/>
            <a:ext cx="56966" cy="32143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 flipV="1">
            <a:off x="8542663" y="2748022"/>
            <a:ext cx="56966" cy="28130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 flipV="1">
            <a:off x="8599630" y="2723403"/>
            <a:ext cx="56966" cy="24619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 flipV="1">
            <a:off x="8656596" y="2701858"/>
            <a:ext cx="56966" cy="21546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 flipV="1">
            <a:off x="8713562" y="2683001"/>
            <a:ext cx="56966" cy="18856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 flipV="1">
            <a:off x="8770528" y="2666499"/>
            <a:ext cx="56966" cy="16503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 flipV="1">
            <a:off x="8827495" y="2652056"/>
            <a:ext cx="56966" cy="14443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8" name="Shape 126"/>
          <p:cNvSpPr/>
          <p:nvPr/>
        </p:nvSpPr>
        <p:spPr>
          <a:xfrm flipV="1">
            <a:off x="8884461" y="2639416"/>
            <a:ext cx="56966" cy="12640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 flipV="1">
            <a:off x="8941427" y="2628354"/>
            <a:ext cx="56966" cy="11062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 flipV="1">
            <a:off x="8998393" y="2618673"/>
            <a:ext cx="56966" cy="9681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 flipV="1">
            <a:off x="9055360" y="2610200"/>
            <a:ext cx="56966" cy="8473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 flipV="1">
            <a:off x="9112326" y="2602785"/>
            <a:ext cx="56966" cy="7415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 flipV="1">
            <a:off x="9169292" y="2596296"/>
            <a:ext cx="56966" cy="6489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 flipV="1">
            <a:off x="9226259" y="2590616"/>
            <a:ext cx="56966" cy="5679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 flipV="1">
            <a:off x="9283225" y="2585646"/>
            <a:ext cx="56966" cy="4970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9340191" y="2581296"/>
            <a:ext cx="56966" cy="4350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9397157" y="2577489"/>
            <a:ext cx="56966" cy="3807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 flipV="1">
            <a:off x="9454124" y="2574157"/>
            <a:ext cx="56966" cy="3644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 flipV="1">
            <a:off x="9511090" y="2571241"/>
            <a:ext cx="56966" cy="3644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9568056" y="2568689"/>
            <a:ext cx="56966" cy="3644"/>
          </a:xfrm>
          <a:prstGeom prst="line">
            <a:avLst/>
          </a:prstGeom>
          <a:noFill/>
          <a:ln w="21590">
            <a:solidFill>
              <a:srgbClr val="2569C3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7802102" y="2572661"/>
            <a:ext cx="1822921" cy="3644"/>
          </a:xfrm>
          <a:prstGeom prst="line">
            <a:avLst/>
          </a:prstGeom>
          <a:noFill/>
          <a:ln w="8890">
            <a:solidFill>
              <a:srgbClr val="6D8CB0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7634393" y="2434189"/>
            <a:ext cx="153125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900" dirty="0"/>
          </a:p>
        </p:txBody>
      </p:sp>
      <p:sp>
        <p:nvSpPr>
          <p:cNvPr id="143" name="Text 141"/>
          <p:cNvSpPr/>
          <p:nvPr/>
        </p:nvSpPr>
        <p:spPr>
          <a:xfrm>
            <a:off x="7568768" y="2565373"/>
            <a:ext cx="211459" cy="1311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1.0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0.5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</p:txBody>
      </p:sp>
      <p:sp>
        <p:nvSpPr>
          <p:cNvPr id="144" name="Text 142"/>
          <p:cNvSpPr/>
          <p:nvPr/>
        </p:nvSpPr>
        <p:spPr>
          <a:xfrm>
            <a:off x="7743768" y="3862635"/>
            <a:ext cx="1946880" cy="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0              10              20              30</a:t>
            </a:r>
            <a:endParaRPr lang="en-US" sz="850" dirty="0"/>
          </a:p>
        </p:txBody>
      </p:sp>
      <p:sp>
        <p:nvSpPr>
          <p:cNvPr id="145" name="Text 143"/>
          <p:cNvSpPr/>
          <p:nvPr/>
        </p:nvSpPr>
        <p:spPr>
          <a:xfrm>
            <a:off x="8130227" y="4030259"/>
            <a:ext cx="1166669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SINR (dB)</a:t>
            </a:r>
            <a:endParaRPr lang="en-US" sz="950" dirty="0"/>
          </a:p>
        </p:txBody>
      </p:sp>
      <p:sp>
        <p:nvSpPr>
          <p:cNvPr id="146" name="Text 144"/>
          <p:cNvSpPr/>
          <p:nvPr/>
        </p:nvSpPr>
        <p:spPr>
          <a:xfrm>
            <a:off x="8283353" y="3141124"/>
            <a:ext cx="1203128" cy="21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 = 1 − e^(−SINR/10)</a:t>
            </a:r>
            <a:endParaRPr lang="en-US" sz="1050" dirty="0"/>
          </a:p>
        </p:txBody>
      </p:sp>
      <p:sp>
        <p:nvSpPr>
          <p:cNvPr id="147" name="Shape 145"/>
          <p:cNvSpPr/>
          <p:nvPr/>
        </p:nvSpPr>
        <p:spPr>
          <a:xfrm>
            <a:off x="10062524" y="3826196"/>
            <a:ext cx="78446" cy="3644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10138294" y="3770743"/>
            <a:ext cx="78446" cy="55452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10214064" y="3715291"/>
            <a:ext cx="78446" cy="110904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10289834" y="3659839"/>
            <a:ext cx="78446" cy="166356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10365604" y="3604387"/>
            <a:ext cx="78446" cy="221808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10441374" y="3548935"/>
            <a:ext cx="78446" cy="277261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10517144" y="3493483"/>
            <a:ext cx="78446" cy="332713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10592914" y="3438031"/>
            <a:ext cx="78446" cy="388165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10668684" y="3382579"/>
            <a:ext cx="78446" cy="443617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10744454" y="3327127"/>
            <a:ext cx="78446" cy="499069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10820225" y="3271674"/>
            <a:ext cx="78446" cy="554521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10895995" y="3216222"/>
            <a:ext cx="78446" cy="609973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10971765" y="3160770"/>
            <a:ext cx="78446" cy="665425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11047535" y="3105318"/>
            <a:ext cx="78446" cy="720877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11123305" y="3049866"/>
            <a:ext cx="78446" cy="776330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11199075" y="2994414"/>
            <a:ext cx="78446" cy="831782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>
            <a:off x="11274845" y="2938962"/>
            <a:ext cx="78446" cy="887234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11350615" y="2883510"/>
            <a:ext cx="78446" cy="942686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>
            <a:off x="11426385" y="2828058"/>
            <a:ext cx="78446" cy="998138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11502156" y="2772605"/>
            <a:ext cx="78446" cy="1053590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11577926" y="2717153"/>
            <a:ext cx="78446" cy="1109042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>
            <a:off x="11653696" y="2661701"/>
            <a:ext cx="78446" cy="1164494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11729466" y="2606249"/>
            <a:ext cx="78446" cy="1219946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>
            <a:off x="11805236" y="2550797"/>
            <a:ext cx="78446" cy="1275399"/>
          </a:xfrm>
          <a:prstGeom prst="rect">
            <a:avLst/>
          </a:prstGeom>
          <a:solidFill>
            <a:srgbClr val="F9DEDC">
              <a:alpha val="95000"/>
            </a:srgbClr>
          </a:solidFill>
          <a:ln w="12700">
            <a:solidFill>
              <a:srgbClr val="F9DEDC">
                <a:alpha val="0"/>
              </a:srgbClr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10062524" y="3826196"/>
            <a:ext cx="1801046" cy="3644"/>
          </a:xfrm>
          <a:prstGeom prst="line">
            <a:avLst/>
          </a:prstGeom>
          <a:noFill/>
          <a:ln w="10160">
            <a:solidFill>
              <a:srgbClr val="101820"/>
            </a:solidFill>
            <a:prstDash val="solid"/>
            <a:tailEnd type="triangle"/>
          </a:ln>
        </p:spPr>
      </p:sp>
      <p:sp>
        <p:nvSpPr>
          <p:cNvPr id="172" name="Shape 170"/>
          <p:cNvSpPr/>
          <p:nvPr/>
        </p:nvSpPr>
        <p:spPr>
          <a:xfrm>
            <a:off x="10062524" y="2521645"/>
            <a:ext cx="3646" cy="1304550"/>
          </a:xfrm>
          <a:prstGeom prst="line">
            <a:avLst/>
          </a:prstGeom>
          <a:noFill/>
          <a:ln w="10160">
            <a:solidFill>
              <a:srgbClr val="10182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>
            <a:off x="10026065" y="2456053"/>
            <a:ext cx="72917" cy="80168"/>
          </a:xfrm>
          <a:prstGeom prst="triangle">
            <a:avLst/>
          </a:prstGeom>
          <a:solidFill>
            <a:srgbClr val="101820"/>
          </a:solidFill>
          <a:ln w="12700">
            <a:solidFill>
              <a:srgbClr val="101820">
                <a:alpha val="0"/>
              </a:srgbClr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10062524" y="2550797"/>
            <a:ext cx="1742712" cy="1275399"/>
          </a:xfrm>
          <a:prstGeom prst="line">
            <a:avLst/>
          </a:prstGeom>
          <a:noFill/>
          <a:ln w="21590">
            <a:solidFill>
              <a:srgbClr val="D91E18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>
            <a:off x="11768778" y="2514357"/>
            <a:ext cx="72917" cy="72880"/>
          </a:xfrm>
          <a:prstGeom prst="ellipse">
            <a:avLst/>
          </a:prstGeom>
          <a:solidFill>
            <a:srgbClr val="FFFFFF"/>
          </a:solidFill>
          <a:ln w="8890">
            <a:solidFill>
              <a:srgbClr val="101820"/>
            </a:solidFill>
            <a:prstDash val="solid"/>
          </a:ln>
        </p:spPr>
      </p:sp>
      <p:sp>
        <p:nvSpPr>
          <p:cNvPr id="176" name="Text 174"/>
          <p:cNvSpPr/>
          <p:nvPr/>
        </p:nvSpPr>
        <p:spPr>
          <a:xfrm>
            <a:off x="9894815" y="2434189"/>
            <a:ext cx="153125" cy="14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</a:t>
            </a:r>
            <a:endParaRPr lang="en-US" sz="900" dirty="0"/>
          </a:p>
        </p:txBody>
      </p:sp>
      <p:sp>
        <p:nvSpPr>
          <p:cNvPr id="177" name="Text 175"/>
          <p:cNvSpPr/>
          <p:nvPr/>
        </p:nvSpPr>
        <p:spPr>
          <a:xfrm>
            <a:off x="9770856" y="2565373"/>
            <a:ext cx="262501" cy="1311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−0.5</a:t>
            </a:r>
            <a:endParaRPr lang="en-US" sz="850" dirty="0"/>
          </a:p>
          <a:p>
            <a:pPr marL="0" indent="0" algn="r">
              <a:buNone/>
            </a:pPr>
            <a:endParaRPr lang="en-US" sz="850" dirty="0"/>
          </a:p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−1.0</a:t>
            </a:r>
            <a:endParaRPr lang="en-US" sz="850" dirty="0"/>
          </a:p>
        </p:txBody>
      </p:sp>
      <p:sp>
        <p:nvSpPr>
          <p:cNvPr id="178" name="Text 176"/>
          <p:cNvSpPr/>
          <p:nvPr/>
        </p:nvSpPr>
        <p:spPr>
          <a:xfrm>
            <a:off x="9989607" y="3862635"/>
            <a:ext cx="1888546" cy="153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−30          −20          −10            0</a:t>
            </a:r>
            <a:endParaRPr lang="en-US" sz="850" dirty="0"/>
          </a:p>
        </p:txBody>
      </p:sp>
      <p:sp>
        <p:nvSpPr>
          <p:cNvPr id="179" name="Text 177"/>
          <p:cNvSpPr/>
          <p:nvPr/>
        </p:nvSpPr>
        <p:spPr>
          <a:xfrm>
            <a:off x="10354191" y="4030259"/>
            <a:ext cx="1166669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SINR (dB)</a:t>
            </a:r>
            <a:endParaRPr lang="en-US" sz="950" dirty="0"/>
          </a:p>
        </p:txBody>
      </p:sp>
      <p:sp>
        <p:nvSpPr>
          <p:cNvPr id="180" name="Text 178"/>
          <p:cNvSpPr/>
          <p:nvPr/>
        </p:nvSpPr>
        <p:spPr>
          <a:xfrm>
            <a:off x="10813567" y="3316036"/>
            <a:ext cx="1006252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 = SINR / 10</a:t>
            </a:r>
            <a:endParaRPr lang="en-US" sz="1050" dirty="0"/>
          </a:p>
        </p:txBody>
      </p:sp>
      <p:sp>
        <p:nvSpPr>
          <p:cNvPr id="181" name="Shape 179"/>
          <p:cNvSpPr/>
          <p:nvPr/>
        </p:nvSpPr>
        <p:spPr>
          <a:xfrm>
            <a:off x="7648976" y="4394659"/>
            <a:ext cx="4229177" cy="721511"/>
          </a:xfrm>
          <a:prstGeom prst="roundRect">
            <a:avLst/>
          </a:prstGeom>
          <a:solidFill>
            <a:srgbClr val="FFFFFF">
              <a:alpha val="0"/>
            </a:srgbClr>
          </a:solidFill>
          <a:ln w="8255">
            <a:solidFill>
              <a:srgbClr val="6D8CB0"/>
            </a:solidFill>
            <a:prstDash val="solid"/>
          </a:ln>
        </p:spPr>
      </p:sp>
      <p:sp>
        <p:nvSpPr>
          <p:cNvPr id="182" name="Text 180"/>
          <p:cNvSpPr/>
          <p:nvPr/>
        </p:nvSpPr>
        <p:spPr>
          <a:xfrm>
            <a:off x="8239603" y="4452963"/>
            <a:ext cx="3033340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切换惩罚（约束策略抖动）</a:t>
            </a:r>
            <a:endParaRPr lang="en-US" sz="1200" dirty="0"/>
          </a:p>
        </p:txBody>
      </p:sp>
      <p:sp>
        <p:nvSpPr>
          <p:cNvPr id="183" name="Shape 181"/>
          <p:cNvSpPr/>
          <p:nvPr/>
        </p:nvSpPr>
        <p:spPr>
          <a:xfrm>
            <a:off x="8261478" y="4759058"/>
            <a:ext cx="2792715" cy="306096"/>
          </a:xfrm>
          <a:prstGeom prst="roundRect">
            <a:avLst/>
          </a:prstGeom>
          <a:solidFill>
            <a:srgbClr val="F7F7F7"/>
          </a:solidFill>
          <a:ln w="7620">
            <a:solidFill>
              <a:srgbClr val="8FA3B7"/>
            </a:solidFill>
            <a:prstDash val="solid"/>
          </a:ln>
        </p:spPr>
      </p:sp>
      <p:sp>
        <p:nvSpPr>
          <p:cNvPr id="184" name="Text 182"/>
          <p:cNvSpPr/>
          <p:nvPr/>
        </p:nvSpPr>
        <p:spPr>
          <a:xfrm>
            <a:off x="8385436" y="4795498"/>
            <a:ext cx="2544798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r_AC = −0.05 × 切换次数</a:t>
            </a:r>
            <a:endParaRPr lang="en-US" sz="1300" dirty="0"/>
          </a:p>
        </p:txBody>
      </p:sp>
      <p:sp>
        <p:nvSpPr>
          <p:cNvPr id="185" name="Shape 183"/>
          <p:cNvSpPr/>
          <p:nvPr/>
        </p:nvSpPr>
        <p:spPr>
          <a:xfrm>
            <a:off x="7583351" y="5240066"/>
            <a:ext cx="4360427" cy="3644"/>
          </a:xfrm>
          <a:prstGeom prst="line">
            <a:avLst/>
          </a:prstGeom>
          <a:noFill/>
          <a:ln w="8890">
            <a:solidFill>
              <a:srgbClr val="6D8CB0"/>
            </a:solidFill>
            <a:prstDash val="solid"/>
          </a:ln>
        </p:spPr>
      </p:sp>
      <p:sp>
        <p:nvSpPr>
          <p:cNvPr id="186" name="Text 184"/>
          <p:cNvSpPr/>
          <p:nvPr/>
        </p:nvSpPr>
        <p:spPr>
          <a:xfrm>
            <a:off x="7656268" y="5436842"/>
            <a:ext cx="1873963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联合策略最终SINR</a:t>
            </a:r>
            <a:endParaRPr lang="en-US" sz="1400" dirty="0"/>
          </a:p>
        </p:txBody>
      </p:sp>
      <p:sp>
        <p:nvSpPr>
          <p:cNvPr id="187" name="Text 185"/>
          <p:cNvSpPr/>
          <p:nvPr/>
        </p:nvSpPr>
        <p:spPr>
          <a:xfrm>
            <a:off x="9544814" y="5356674"/>
            <a:ext cx="2019796" cy="48100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9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9.50 ± 0.57</a:t>
            </a:r>
            <a:endParaRPr lang="en-US" sz="2900" dirty="0"/>
          </a:p>
        </p:txBody>
      </p:sp>
      <p:sp>
        <p:nvSpPr>
          <p:cNvPr id="188" name="Text 186"/>
          <p:cNvSpPr/>
          <p:nvPr/>
        </p:nvSpPr>
        <p:spPr>
          <a:xfrm>
            <a:off x="11550027" y="5553450"/>
            <a:ext cx="328126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dB</a:t>
            </a:r>
            <a:endParaRPr lang="en-US" sz="1300" dirty="0"/>
          </a:p>
        </p:txBody>
      </p:sp>
      <p:sp>
        <p:nvSpPr>
          <p:cNvPr id="189" name="Shape 187"/>
          <p:cNvSpPr/>
          <p:nvPr/>
        </p:nvSpPr>
        <p:spPr>
          <a:xfrm>
            <a:off x="145834" y="6143777"/>
            <a:ext cx="11907320" cy="612191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2843757" y="6260385"/>
            <a:ext cx="6562515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执行层已具备在联合时频空间中稳定寻优的能力</a:t>
            </a:r>
            <a:endParaRPr lang="en-US" sz="1900" dirty="0"/>
          </a:p>
        </p:txBody>
      </p:sp>
      <p:sp>
        <p:nvSpPr>
          <p:cNvPr id="191" name="Shape 5">
            <a:extLst>
              <a:ext uri="{FF2B5EF4-FFF2-40B4-BE49-F238E27FC236}">
                <a16:creationId xmlns:a16="http://schemas.microsoft.com/office/drawing/2014/main" id="{3363F33F-C9CD-1340-FC94-6CD02BCF30D2}"/>
              </a:ext>
            </a:extLst>
          </p:cNvPr>
          <p:cNvSpPr/>
          <p:nvPr/>
        </p:nvSpPr>
        <p:spPr>
          <a:xfrm>
            <a:off x="0" y="524735"/>
            <a:ext cx="12191695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186466" y="131184"/>
            <a:ext cx="5694805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基于分层强化学习的FMCW雷达抗干扰策略优化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756273" y="153048"/>
            <a:ext cx="2223964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研究内容｜元策略控制器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0" y="524735"/>
            <a:ext cx="12191695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27086" y="721511"/>
            <a:ext cx="9676064" cy="371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元控制器利用12维语义特征，把盲目探索转化为方向明确的策略引导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851048" y="1187943"/>
            <a:ext cx="6730224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65B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机会敏感性特征判断频域或时域的潜在收益，随机森林输出策略及置信度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226042" y="1698102"/>
            <a:ext cx="3412508" cy="3644"/>
          </a:xfrm>
          <a:prstGeom prst="line">
            <a:avLst/>
          </a:prstGeom>
          <a:noFill/>
          <a:ln w="6985">
            <a:solidFill>
              <a:srgbClr val="B4B4B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26042" y="2616389"/>
            <a:ext cx="3412508" cy="3644"/>
          </a:xfrm>
          <a:prstGeom prst="line">
            <a:avLst/>
          </a:prstGeom>
          <a:noFill/>
          <a:ln w="6985">
            <a:solidFill>
              <a:srgbClr val="B4B4B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26042" y="3680436"/>
            <a:ext cx="3412508" cy="3644"/>
          </a:xfrm>
          <a:prstGeom prst="line">
            <a:avLst/>
          </a:prstGeom>
          <a:noFill/>
          <a:ln w="6985">
            <a:solidFill>
              <a:srgbClr val="B4B4B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6042" y="4474827"/>
            <a:ext cx="3412508" cy="3644"/>
          </a:xfrm>
          <a:prstGeom prst="line">
            <a:avLst/>
          </a:prstGeom>
          <a:noFill/>
          <a:ln w="6985">
            <a:solidFill>
              <a:srgbClr val="B4B4B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6042" y="5261930"/>
            <a:ext cx="3412508" cy="3644"/>
          </a:xfrm>
          <a:prstGeom prst="line">
            <a:avLst/>
          </a:prstGeom>
          <a:noFill/>
          <a:ln w="6985">
            <a:solidFill>
              <a:srgbClr val="B4B4B4"/>
            </a:solidFill>
            <a:prstDash val="solid"/>
          </a:ln>
        </p:spPr>
      </p:sp>
      <p:pic>
        <p:nvPicPr>
          <p:cNvPr id="15" name="Image 0" descr="feature_signal_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001" y="1843862"/>
            <a:ext cx="656252" cy="655919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283336" y="1916742"/>
            <a:ext cx="2005213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信号质量统计（4维）：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317716" y="1916742"/>
            <a:ext cx="31354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4维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283336" y="2222837"/>
            <a:ext cx="2114588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μ、σ、Δ、SINR_min</a:t>
            </a:r>
            <a:endParaRPr lang="en-US" sz="1100" dirty="0"/>
          </a:p>
        </p:txBody>
      </p:sp>
      <p:pic>
        <p:nvPicPr>
          <p:cNvPr id="19" name="Image 1" descr="feature_action_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709" y="2784013"/>
            <a:ext cx="648960" cy="685071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1283336" y="2798589"/>
            <a:ext cx="2005213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动作行为（3维）：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3317716" y="2798589"/>
            <a:ext cx="31354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3维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1283336" y="3119260"/>
            <a:ext cx="2114588" cy="4518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H_action、频域切换率、</a:t>
            </a:r>
            <a:endParaRPr lang="en-US" sz="1100" dirty="0"/>
          </a:p>
          <a:p>
            <a:pPr marL="0" indent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时域切换率</a:t>
            </a:r>
            <a:endParaRPr lang="en-US" sz="1100" dirty="0"/>
          </a:p>
        </p:txBody>
      </p:sp>
      <p:pic>
        <p:nvPicPr>
          <p:cNvPr id="23" name="Image 2" descr="feature_shield_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168" y="3775180"/>
            <a:ext cx="554168" cy="619479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1283336" y="3833484"/>
            <a:ext cx="2005213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避干扰效能（2维）：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3317716" y="3833484"/>
            <a:ext cx="31354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2维</a:t>
            </a:r>
            <a:endParaRPr lang="en-US" sz="1100" dirty="0"/>
          </a:p>
        </p:txBody>
      </p:sp>
      <p:sp>
        <p:nvSpPr>
          <p:cNvPr id="26" name="Text 21"/>
          <p:cNvSpPr/>
          <p:nvPr/>
        </p:nvSpPr>
        <p:spPr>
          <a:xfrm>
            <a:off x="1283336" y="4132291"/>
            <a:ext cx="2114588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r_avoid、SINR增益</a:t>
            </a:r>
            <a:endParaRPr lang="en-US" sz="1100" dirty="0"/>
          </a:p>
        </p:txBody>
      </p:sp>
      <p:pic>
        <p:nvPicPr>
          <p:cNvPr id="27" name="Image 3" descr="feature_target_icon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2709" y="4554995"/>
            <a:ext cx="605210" cy="619479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283336" y="4606011"/>
            <a:ext cx="2005213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维度敏感性（3维）：</a:t>
            </a:r>
            <a:endParaRPr lang="en-US" sz="1100" dirty="0"/>
          </a:p>
        </p:txBody>
      </p:sp>
      <p:sp>
        <p:nvSpPr>
          <p:cNvPr id="29" name="Text 23"/>
          <p:cNvSpPr/>
          <p:nvPr/>
        </p:nvSpPr>
        <p:spPr>
          <a:xfrm>
            <a:off x="3317716" y="4606011"/>
            <a:ext cx="31354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3维</a:t>
            </a:r>
            <a:endParaRPr lang="en-US" sz="1100" dirty="0"/>
          </a:p>
        </p:txBody>
      </p:sp>
      <p:sp>
        <p:nvSpPr>
          <p:cNvPr id="30" name="Text 24"/>
          <p:cNvSpPr/>
          <p:nvPr/>
        </p:nvSpPr>
        <p:spPr>
          <a:xfrm>
            <a:off x="1283336" y="4912106"/>
            <a:ext cx="2223964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fc_gap、td_gap、fc_td_ratio</a:t>
            </a:r>
            <a:endParaRPr lang="en-US" sz="1100" dirty="0"/>
          </a:p>
        </p:txBody>
      </p:sp>
      <p:sp>
        <p:nvSpPr>
          <p:cNvPr id="31" name="Shape 25"/>
          <p:cNvSpPr/>
          <p:nvPr/>
        </p:nvSpPr>
        <p:spPr>
          <a:xfrm>
            <a:off x="3645842" y="1698102"/>
            <a:ext cx="131250" cy="3644"/>
          </a:xfrm>
          <a:prstGeom prst="line">
            <a:avLst/>
          </a:prstGeom>
          <a:noFill/>
          <a:ln w="12700">
            <a:solidFill>
              <a:srgbClr val="062B50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777092" y="1698102"/>
            <a:ext cx="131250" cy="1559630"/>
          </a:xfrm>
          <a:prstGeom prst="line">
            <a:avLst/>
          </a:prstGeom>
          <a:noFill/>
          <a:ln w="12700">
            <a:solidFill>
              <a:srgbClr val="062B50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3908342" y="3257732"/>
            <a:ext cx="3646" cy="444567"/>
          </a:xfrm>
          <a:prstGeom prst="line">
            <a:avLst/>
          </a:prstGeom>
          <a:noFill/>
          <a:ln w="12700">
            <a:solidFill>
              <a:srgbClr val="062B5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 flipV="1">
            <a:off x="3777092" y="3702300"/>
            <a:ext cx="131250" cy="1559630"/>
          </a:xfrm>
          <a:prstGeom prst="line">
            <a:avLst/>
          </a:prstGeom>
          <a:noFill/>
          <a:ln w="12700">
            <a:solidFill>
              <a:srgbClr val="062B5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645842" y="5261930"/>
            <a:ext cx="131250" cy="3644"/>
          </a:xfrm>
          <a:prstGeom prst="line">
            <a:avLst/>
          </a:prstGeom>
          <a:noFill/>
          <a:ln w="12700">
            <a:solidFill>
              <a:srgbClr val="062B50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3937509" y="3265020"/>
            <a:ext cx="488543" cy="52473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12维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4418760" y="3425356"/>
            <a:ext cx="80209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 rot="5400000">
            <a:off x="4491677" y="3374340"/>
            <a:ext cx="123959" cy="131184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601052" y="1625222"/>
            <a:ext cx="2530214" cy="3716876"/>
          </a:xfrm>
          <a:prstGeom prst="roundRect">
            <a:avLst/>
          </a:prstGeom>
          <a:solidFill>
            <a:srgbClr val="FCFAF5">
              <a:alpha val="0"/>
            </a:srgbClr>
          </a:solidFill>
          <a:ln w="9525">
            <a:solidFill>
              <a:srgbClr val="6D8CB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601052" y="1625222"/>
            <a:ext cx="2530214" cy="400840"/>
          </a:xfrm>
          <a:prstGeom prst="round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4892720" y="1734542"/>
            <a:ext cx="1968755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随机森林（元策略分类器）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4783345" y="2128094"/>
            <a:ext cx="2158338" cy="415416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93A8BC"/>
            </a:solidFill>
            <a:prstDash val="solid"/>
          </a:ln>
        </p:spPr>
      </p:sp>
      <p:pic>
        <p:nvPicPr>
          <p:cNvPr id="43" name="Image 4" descr="rf_stage_0_icon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70845" y="2106230"/>
            <a:ext cx="452084" cy="451855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5439596" y="2186397"/>
            <a:ext cx="1407295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4000个场景</a:t>
            </a:r>
            <a:endParaRPr lang="en-US" sz="1100" dirty="0"/>
          </a:p>
        </p:txBody>
      </p:sp>
      <p:sp>
        <p:nvSpPr>
          <p:cNvPr id="45" name="Shape 38"/>
          <p:cNvSpPr/>
          <p:nvPr/>
        </p:nvSpPr>
        <p:spPr>
          <a:xfrm>
            <a:off x="5095429" y="2543509"/>
            <a:ext cx="17500" cy="7288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 rot="10800000">
            <a:off x="5060429" y="2594525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7" name="Shape 40"/>
          <p:cNvSpPr/>
          <p:nvPr/>
        </p:nvSpPr>
        <p:spPr>
          <a:xfrm>
            <a:off x="5912097" y="2543509"/>
            <a:ext cx="17500" cy="72880"/>
          </a:xfrm>
          <a:prstGeom prst="rect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48" name="Shape 41"/>
          <p:cNvSpPr/>
          <p:nvPr/>
        </p:nvSpPr>
        <p:spPr>
          <a:xfrm rot="10800000">
            <a:off x="5877097" y="2594525"/>
            <a:ext cx="87500" cy="87456"/>
          </a:xfrm>
          <a:prstGeom prst="triangle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49" name="Shape 42"/>
          <p:cNvSpPr/>
          <p:nvPr/>
        </p:nvSpPr>
        <p:spPr>
          <a:xfrm>
            <a:off x="4783345" y="2674693"/>
            <a:ext cx="2158338" cy="415416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93A8BC"/>
            </a:solidFill>
            <a:prstDash val="solid"/>
          </a:ln>
        </p:spPr>
      </p:sp>
      <p:pic>
        <p:nvPicPr>
          <p:cNvPr id="50" name="Image 5" descr="rf_stage_1_icon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78136" y="2667405"/>
            <a:ext cx="444793" cy="451855"/>
          </a:xfrm>
          <a:prstGeom prst="rect">
            <a:avLst/>
          </a:prstGeom>
        </p:spPr>
      </p:pic>
      <p:sp>
        <p:nvSpPr>
          <p:cNvPr id="51" name="Text 43"/>
          <p:cNvSpPr/>
          <p:nvPr/>
        </p:nvSpPr>
        <p:spPr>
          <a:xfrm>
            <a:off x="5439596" y="2732997"/>
            <a:ext cx="1407295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训练/测试 = 8:2</a:t>
            </a:r>
            <a:endParaRPr lang="en-US" sz="1100" dirty="0"/>
          </a:p>
        </p:txBody>
      </p:sp>
      <p:sp>
        <p:nvSpPr>
          <p:cNvPr id="52" name="Shape 44"/>
          <p:cNvSpPr/>
          <p:nvPr/>
        </p:nvSpPr>
        <p:spPr>
          <a:xfrm>
            <a:off x="5095429" y="3090108"/>
            <a:ext cx="17500" cy="7288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53" name="Shape 45"/>
          <p:cNvSpPr/>
          <p:nvPr/>
        </p:nvSpPr>
        <p:spPr>
          <a:xfrm rot="10800000">
            <a:off x="5060429" y="3141124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54" name="Shape 46"/>
          <p:cNvSpPr/>
          <p:nvPr/>
        </p:nvSpPr>
        <p:spPr>
          <a:xfrm>
            <a:off x="5912097" y="3090108"/>
            <a:ext cx="17500" cy="72880"/>
          </a:xfrm>
          <a:prstGeom prst="rect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55" name="Shape 47"/>
          <p:cNvSpPr/>
          <p:nvPr/>
        </p:nvSpPr>
        <p:spPr>
          <a:xfrm rot="10800000">
            <a:off x="5877097" y="3141124"/>
            <a:ext cx="87500" cy="87456"/>
          </a:xfrm>
          <a:prstGeom prst="triangle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4783345" y="3221292"/>
            <a:ext cx="2158338" cy="415416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93A8BC"/>
            </a:solidFill>
            <a:prstDash val="solid"/>
          </a:ln>
        </p:spPr>
      </p:sp>
      <p:pic>
        <p:nvPicPr>
          <p:cNvPr id="57" name="Image 6" descr="rf_stage_2_icon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8136" y="3214004"/>
            <a:ext cx="444793" cy="466431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5439596" y="3279596"/>
            <a:ext cx="1407295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5折交叉验证</a:t>
            </a:r>
            <a:endParaRPr lang="en-US" sz="1100" dirty="0"/>
          </a:p>
        </p:txBody>
      </p:sp>
      <p:sp>
        <p:nvSpPr>
          <p:cNvPr id="59" name="Shape 50"/>
          <p:cNvSpPr/>
          <p:nvPr/>
        </p:nvSpPr>
        <p:spPr>
          <a:xfrm>
            <a:off x="5095429" y="3636708"/>
            <a:ext cx="17500" cy="80168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60" name="Shape 51"/>
          <p:cNvSpPr/>
          <p:nvPr/>
        </p:nvSpPr>
        <p:spPr>
          <a:xfrm rot="10800000">
            <a:off x="5060429" y="3695012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61" name="Shape 52"/>
          <p:cNvSpPr/>
          <p:nvPr/>
        </p:nvSpPr>
        <p:spPr>
          <a:xfrm>
            <a:off x="5912097" y="3636708"/>
            <a:ext cx="17500" cy="80168"/>
          </a:xfrm>
          <a:prstGeom prst="rect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62" name="Shape 53"/>
          <p:cNvSpPr/>
          <p:nvPr/>
        </p:nvSpPr>
        <p:spPr>
          <a:xfrm rot="10800000">
            <a:off x="5877097" y="3695012"/>
            <a:ext cx="87500" cy="87456"/>
          </a:xfrm>
          <a:prstGeom prst="triangle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63" name="Shape 54"/>
          <p:cNvSpPr/>
          <p:nvPr/>
        </p:nvSpPr>
        <p:spPr>
          <a:xfrm>
            <a:off x="4783345" y="3775180"/>
            <a:ext cx="2158338" cy="415416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93A8BC"/>
            </a:solidFill>
            <a:prstDash val="solid"/>
          </a:ln>
        </p:spPr>
      </p:sp>
      <p:pic>
        <p:nvPicPr>
          <p:cNvPr id="64" name="Image 7" descr="rf_stage_3_icon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56261" y="3782468"/>
            <a:ext cx="488543" cy="437279"/>
          </a:xfrm>
          <a:prstGeom prst="rect">
            <a:avLst/>
          </a:prstGeom>
        </p:spPr>
      </p:pic>
      <p:sp>
        <p:nvSpPr>
          <p:cNvPr id="65" name="Text 55"/>
          <p:cNvSpPr/>
          <p:nvPr/>
        </p:nvSpPr>
        <p:spPr>
          <a:xfrm>
            <a:off x="5439596" y="3833484"/>
            <a:ext cx="1407295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200棵树</a:t>
            </a:r>
            <a:endParaRPr lang="en-US" sz="1100" dirty="0"/>
          </a:p>
        </p:txBody>
      </p:sp>
      <p:sp>
        <p:nvSpPr>
          <p:cNvPr id="66" name="Shape 56"/>
          <p:cNvSpPr/>
          <p:nvPr/>
        </p:nvSpPr>
        <p:spPr>
          <a:xfrm>
            <a:off x="5095429" y="4190595"/>
            <a:ext cx="17500" cy="51016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67" name="Shape 57"/>
          <p:cNvSpPr/>
          <p:nvPr/>
        </p:nvSpPr>
        <p:spPr>
          <a:xfrm rot="10800000">
            <a:off x="5060429" y="4219747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68" name="Shape 58"/>
          <p:cNvSpPr/>
          <p:nvPr/>
        </p:nvSpPr>
        <p:spPr>
          <a:xfrm>
            <a:off x="5912097" y="4190595"/>
            <a:ext cx="17500" cy="51016"/>
          </a:xfrm>
          <a:prstGeom prst="rect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69" name="Shape 59"/>
          <p:cNvSpPr/>
          <p:nvPr/>
        </p:nvSpPr>
        <p:spPr>
          <a:xfrm rot="10800000">
            <a:off x="5877097" y="4219747"/>
            <a:ext cx="87500" cy="87456"/>
          </a:xfrm>
          <a:prstGeom prst="triangle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70" name="Shape 60"/>
          <p:cNvSpPr/>
          <p:nvPr/>
        </p:nvSpPr>
        <p:spPr>
          <a:xfrm>
            <a:off x="4783345" y="4299915"/>
            <a:ext cx="2158338" cy="415416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93A8BC"/>
            </a:solidFill>
            <a:prstDash val="solid"/>
          </a:ln>
        </p:spPr>
      </p:sp>
      <p:pic>
        <p:nvPicPr>
          <p:cNvPr id="71" name="Image 8" descr="rf_stage_4_icon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70845" y="4321779"/>
            <a:ext cx="459376" cy="459143"/>
          </a:xfrm>
          <a:prstGeom prst="rect">
            <a:avLst/>
          </a:prstGeom>
        </p:spPr>
      </p:pic>
      <p:sp>
        <p:nvSpPr>
          <p:cNvPr id="72" name="Text 61"/>
          <p:cNvSpPr/>
          <p:nvPr/>
        </p:nvSpPr>
        <p:spPr>
          <a:xfrm>
            <a:off x="5439596" y="4358219"/>
            <a:ext cx="1407295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max_depth=12，leaf=5</a:t>
            </a:r>
            <a:endParaRPr lang="en-US" sz="1100" dirty="0"/>
          </a:p>
        </p:txBody>
      </p:sp>
      <p:sp>
        <p:nvSpPr>
          <p:cNvPr id="73" name="Shape 62"/>
          <p:cNvSpPr/>
          <p:nvPr/>
        </p:nvSpPr>
        <p:spPr>
          <a:xfrm>
            <a:off x="5095429" y="4715330"/>
            <a:ext cx="17500" cy="7288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74" name="Shape 63"/>
          <p:cNvSpPr/>
          <p:nvPr/>
        </p:nvSpPr>
        <p:spPr>
          <a:xfrm rot="10800000">
            <a:off x="5060429" y="4766346"/>
            <a:ext cx="87500" cy="87456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75" name="Shape 64"/>
          <p:cNvSpPr/>
          <p:nvPr/>
        </p:nvSpPr>
        <p:spPr>
          <a:xfrm>
            <a:off x="5912097" y="4715330"/>
            <a:ext cx="17500" cy="72880"/>
          </a:xfrm>
          <a:prstGeom prst="rect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76" name="Shape 65"/>
          <p:cNvSpPr/>
          <p:nvPr/>
        </p:nvSpPr>
        <p:spPr>
          <a:xfrm rot="10800000">
            <a:off x="5877097" y="4766346"/>
            <a:ext cx="87500" cy="87456"/>
          </a:xfrm>
          <a:prstGeom prst="triangle">
            <a:avLst/>
          </a:prstGeom>
          <a:solidFill>
            <a:srgbClr val="6D8CB0"/>
          </a:solidFill>
          <a:ln w="12700">
            <a:solidFill>
              <a:srgbClr val="6D8CB0">
                <a:alpha val="0"/>
              </a:srgbClr>
            </a:solidFill>
            <a:prstDash val="solid"/>
          </a:ln>
        </p:spPr>
      </p:sp>
      <p:sp>
        <p:nvSpPr>
          <p:cNvPr id="77" name="Shape 66"/>
          <p:cNvSpPr/>
          <p:nvPr/>
        </p:nvSpPr>
        <p:spPr>
          <a:xfrm>
            <a:off x="4783345" y="4846514"/>
            <a:ext cx="2158338" cy="415416"/>
          </a:xfrm>
          <a:prstGeom prst="roundRect">
            <a:avLst/>
          </a:prstGeom>
          <a:solidFill>
            <a:srgbClr val="F7F8F8"/>
          </a:solidFill>
          <a:ln w="6985">
            <a:solidFill>
              <a:srgbClr val="93A8BC"/>
            </a:solidFill>
            <a:prstDash val="solid"/>
          </a:ln>
        </p:spPr>
      </p:sp>
      <p:pic>
        <p:nvPicPr>
          <p:cNvPr id="78" name="Image 9" descr="rf_stage_5_icon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78136" y="4853802"/>
            <a:ext cx="452084" cy="451855"/>
          </a:xfrm>
          <a:prstGeom prst="rect">
            <a:avLst/>
          </a:prstGeom>
        </p:spPr>
      </p:pic>
      <p:sp>
        <p:nvSpPr>
          <p:cNvPr id="79" name="Text 67"/>
          <p:cNvSpPr/>
          <p:nvPr/>
        </p:nvSpPr>
        <p:spPr>
          <a:xfrm>
            <a:off x="5439596" y="4904818"/>
            <a:ext cx="1407295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准确率约80%—85%</a:t>
            </a:r>
            <a:endParaRPr lang="en-US" sz="1100" dirty="0"/>
          </a:p>
        </p:txBody>
      </p:sp>
      <p:sp>
        <p:nvSpPr>
          <p:cNvPr id="80" name="Shape 68"/>
          <p:cNvSpPr/>
          <p:nvPr/>
        </p:nvSpPr>
        <p:spPr>
          <a:xfrm>
            <a:off x="7393767" y="1596070"/>
            <a:ext cx="3646" cy="3899075"/>
          </a:xfrm>
          <a:prstGeom prst="line">
            <a:avLst/>
          </a:prstGeom>
          <a:noFill/>
          <a:ln w="6985">
            <a:solidFill>
              <a:srgbClr val="B6B6B6"/>
            </a:solidFill>
            <a:prstDash val="solid"/>
          </a:ln>
        </p:spPr>
      </p:sp>
      <p:sp>
        <p:nvSpPr>
          <p:cNvPr id="81" name="Shape 69"/>
          <p:cNvSpPr/>
          <p:nvPr/>
        </p:nvSpPr>
        <p:spPr>
          <a:xfrm>
            <a:off x="7131267" y="3425356"/>
            <a:ext cx="284376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2" name="Shape 70"/>
          <p:cNvSpPr/>
          <p:nvPr/>
        </p:nvSpPr>
        <p:spPr>
          <a:xfrm rot="5400000">
            <a:off x="7408351" y="3374340"/>
            <a:ext cx="123959" cy="131184"/>
          </a:xfrm>
          <a:prstGeom prst="triangl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3" name="Shape 71"/>
          <p:cNvSpPr/>
          <p:nvPr/>
        </p:nvSpPr>
        <p:spPr>
          <a:xfrm>
            <a:off x="7678143" y="1625222"/>
            <a:ext cx="4156260" cy="400840"/>
          </a:xfrm>
          <a:prstGeom prst="round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4" name="Text 72"/>
          <p:cNvSpPr/>
          <p:nvPr/>
        </p:nvSpPr>
        <p:spPr>
          <a:xfrm>
            <a:off x="8166686" y="1734542"/>
            <a:ext cx="3186466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三类策略输出（含置信度 p ∈ [0,1]）</a:t>
            </a:r>
            <a:endParaRPr lang="en-US" sz="1250" dirty="0"/>
          </a:p>
        </p:txBody>
      </p:sp>
      <p:sp>
        <p:nvSpPr>
          <p:cNvPr id="85" name="Shape 73"/>
          <p:cNvSpPr/>
          <p:nvPr/>
        </p:nvSpPr>
        <p:spPr>
          <a:xfrm>
            <a:off x="7678143" y="2128094"/>
            <a:ext cx="838544" cy="357112"/>
          </a:xfrm>
          <a:prstGeom prst="rect">
            <a:avLst/>
          </a:prstGeom>
          <a:solidFill>
            <a:srgbClr val="E5EBF0"/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86" name="Text 74"/>
          <p:cNvSpPr/>
          <p:nvPr/>
        </p:nvSpPr>
        <p:spPr>
          <a:xfrm>
            <a:off x="7714601" y="2171821"/>
            <a:ext cx="765627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策略编号</a:t>
            </a:r>
            <a:endParaRPr lang="en-US" sz="850" dirty="0"/>
          </a:p>
        </p:txBody>
      </p:sp>
      <p:sp>
        <p:nvSpPr>
          <p:cNvPr id="87" name="Shape 75"/>
          <p:cNvSpPr/>
          <p:nvPr/>
        </p:nvSpPr>
        <p:spPr>
          <a:xfrm>
            <a:off x="8516687" y="2128094"/>
            <a:ext cx="940627" cy="357112"/>
          </a:xfrm>
          <a:prstGeom prst="rect">
            <a:avLst/>
          </a:prstGeom>
          <a:solidFill>
            <a:srgbClr val="E5EBF0"/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88" name="Text 76"/>
          <p:cNvSpPr/>
          <p:nvPr/>
        </p:nvSpPr>
        <p:spPr>
          <a:xfrm>
            <a:off x="8553145" y="2171821"/>
            <a:ext cx="867710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策略名称</a:t>
            </a:r>
            <a:endParaRPr lang="en-US" sz="850" dirty="0"/>
          </a:p>
        </p:txBody>
      </p:sp>
      <p:sp>
        <p:nvSpPr>
          <p:cNvPr id="89" name="Shape 77"/>
          <p:cNvSpPr/>
          <p:nvPr/>
        </p:nvSpPr>
        <p:spPr>
          <a:xfrm>
            <a:off x="9457314" y="2128094"/>
            <a:ext cx="1647921" cy="357112"/>
          </a:xfrm>
          <a:prstGeom prst="rect">
            <a:avLst/>
          </a:prstGeom>
          <a:solidFill>
            <a:srgbClr val="E5EBF0"/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90" name="Text 78"/>
          <p:cNvSpPr/>
          <p:nvPr/>
        </p:nvSpPr>
        <p:spPr>
          <a:xfrm>
            <a:off x="9493772" y="2171821"/>
            <a:ext cx="1575004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动作空间约束（下一层HRL）</a:t>
            </a:r>
            <a:endParaRPr lang="en-US" sz="850" dirty="0"/>
          </a:p>
        </p:txBody>
      </p:sp>
      <p:sp>
        <p:nvSpPr>
          <p:cNvPr id="91" name="Shape 79"/>
          <p:cNvSpPr/>
          <p:nvPr/>
        </p:nvSpPr>
        <p:spPr>
          <a:xfrm>
            <a:off x="11105234" y="2128094"/>
            <a:ext cx="729168" cy="357112"/>
          </a:xfrm>
          <a:prstGeom prst="rect">
            <a:avLst/>
          </a:prstGeom>
          <a:solidFill>
            <a:srgbClr val="E5EBF0"/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92" name="Text 80"/>
          <p:cNvSpPr/>
          <p:nvPr/>
        </p:nvSpPr>
        <p:spPr>
          <a:xfrm>
            <a:off x="11141693" y="2171821"/>
            <a:ext cx="656252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置信度 p</a:t>
            </a:r>
            <a:endParaRPr lang="en-US" sz="850" dirty="0"/>
          </a:p>
        </p:txBody>
      </p:sp>
      <p:sp>
        <p:nvSpPr>
          <p:cNvPr id="93" name="Shape 81"/>
          <p:cNvSpPr/>
          <p:nvPr/>
        </p:nvSpPr>
        <p:spPr>
          <a:xfrm>
            <a:off x="7678143" y="2485205"/>
            <a:ext cx="838544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94" name="Shape 82"/>
          <p:cNvSpPr/>
          <p:nvPr/>
        </p:nvSpPr>
        <p:spPr>
          <a:xfrm>
            <a:off x="8516687" y="2485205"/>
            <a:ext cx="940627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95" name="Shape 83"/>
          <p:cNvSpPr/>
          <p:nvPr/>
        </p:nvSpPr>
        <p:spPr>
          <a:xfrm>
            <a:off x="9457314" y="2485205"/>
            <a:ext cx="1647921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96" name="Shape 84"/>
          <p:cNvSpPr/>
          <p:nvPr/>
        </p:nvSpPr>
        <p:spPr>
          <a:xfrm>
            <a:off x="11105234" y="2485205"/>
            <a:ext cx="729168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97" name="Shape 85"/>
          <p:cNvSpPr/>
          <p:nvPr/>
        </p:nvSpPr>
        <p:spPr>
          <a:xfrm>
            <a:off x="7955227" y="2565373"/>
            <a:ext cx="247917" cy="247792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98" name="Text 86"/>
          <p:cNvSpPr/>
          <p:nvPr/>
        </p:nvSpPr>
        <p:spPr>
          <a:xfrm>
            <a:off x="7955227" y="2565373"/>
            <a:ext cx="24791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</a:t>
            </a:r>
            <a:endParaRPr lang="en-US" sz="1000" dirty="0"/>
          </a:p>
        </p:txBody>
      </p:sp>
      <p:sp>
        <p:nvSpPr>
          <p:cNvPr id="99" name="Text 87"/>
          <p:cNvSpPr/>
          <p:nvPr/>
        </p:nvSpPr>
        <p:spPr>
          <a:xfrm>
            <a:off x="8582312" y="2543509"/>
            <a:ext cx="809377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频域优先</a:t>
            </a:r>
            <a:endParaRPr lang="en-US" sz="1000" dirty="0"/>
          </a:p>
        </p:txBody>
      </p:sp>
      <p:sp>
        <p:nvSpPr>
          <p:cNvPr id="100" name="Text 88"/>
          <p:cNvSpPr/>
          <p:nvPr/>
        </p:nvSpPr>
        <p:spPr>
          <a:xfrm>
            <a:off x="9508356" y="2543509"/>
            <a:ext cx="153854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固定td，开放3个fc</a:t>
            </a:r>
            <a:endParaRPr lang="en-US" sz="950" dirty="0"/>
          </a:p>
        </p:txBody>
      </p:sp>
      <p:sp>
        <p:nvSpPr>
          <p:cNvPr id="101" name="Text 89"/>
          <p:cNvSpPr/>
          <p:nvPr/>
        </p:nvSpPr>
        <p:spPr>
          <a:xfrm>
            <a:off x="11156276" y="2543509"/>
            <a:ext cx="62708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p₁</a:t>
            </a:r>
            <a:endParaRPr lang="en-US" sz="1100" dirty="0"/>
          </a:p>
        </p:txBody>
      </p:sp>
      <p:sp>
        <p:nvSpPr>
          <p:cNvPr id="102" name="Shape 90"/>
          <p:cNvSpPr/>
          <p:nvPr/>
        </p:nvSpPr>
        <p:spPr>
          <a:xfrm>
            <a:off x="7678143" y="2893333"/>
            <a:ext cx="838544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03" name="Shape 91"/>
          <p:cNvSpPr/>
          <p:nvPr/>
        </p:nvSpPr>
        <p:spPr>
          <a:xfrm>
            <a:off x="8516687" y="2893333"/>
            <a:ext cx="940627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04" name="Shape 92"/>
          <p:cNvSpPr/>
          <p:nvPr/>
        </p:nvSpPr>
        <p:spPr>
          <a:xfrm>
            <a:off x="9457314" y="2893333"/>
            <a:ext cx="1647921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05" name="Shape 93"/>
          <p:cNvSpPr/>
          <p:nvPr/>
        </p:nvSpPr>
        <p:spPr>
          <a:xfrm>
            <a:off x="11105234" y="2893333"/>
            <a:ext cx="729168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06" name="Shape 94"/>
          <p:cNvSpPr/>
          <p:nvPr/>
        </p:nvSpPr>
        <p:spPr>
          <a:xfrm>
            <a:off x="7955227" y="2973501"/>
            <a:ext cx="247917" cy="247792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07" name="Text 95"/>
          <p:cNvSpPr/>
          <p:nvPr/>
        </p:nvSpPr>
        <p:spPr>
          <a:xfrm>
            <a:off x="7955227" y="2973501"/>
            <a:ext cx="24791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1000" dirty="0"/>
          </a:p>
        </p:txBody>
      </p:sp>
      <p:sp>
        <p:nvSpPr>
          <p:cNvPr id="108" name="Text 96"/>
          <p:cNvSpPr/>
          <p:nvPr/>
        </p:nvSpPr>
        <p:spPr>
          <a:xfrm>
            <a:off x="8582312" y="2951637"/>
            <a:ext cx="809377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时域优先</a:t>
            </a:r>
            <a:endParaRPr lang="en-US" sz="1000" dirty="0"/>
          </a:p>
        </p:txBody>
      </p:sp>
      <p:sp>
        <p:nvSpPr>
          <p:cNvPr id="109" name="Text 97"/>
          <p:cNvSpPr/>
          <p:nvPr/>
        </p:nvSpPr>
        <p:spPr>
          <a:xfrm>
            <a:off x="9508356" y="2951637"/>
            <a:ext cx="153854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固定fc，开放3个td</a:t>
            </a:r>
            <a:endParaRPr lang="en-US" sz="950" dirty="0"/>
          </a:p>
        </p:txBody>
      </p:sp>
      <p:sp>
        <p:nvSpPr>
          <p:cNvPr id="110" name="Text 98"/>
          <p:cNvSpPr/>
          <p:nvPr/>
        </p:nvSpPr>
        <p:spPr>
          <a:xfrm>
            <a:off x="11156276" y="2951637"/>
            <a:ext cx="62708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p₂</a:t>
            </a:r>
            <a:endParaRPr lang="en-US" sz="1100" dirty="0"/>
          </a:p>
        </p:txBody>
      </p:sp>
      <p:sp>
        <p:nvSpPr>
          <p:cNvPr id="111" name="Shape 99"/>
          <p:cNvSpPr/>
          <p:nvPr/>
        </p:nvSpPr>
        <p:spPr>
          <a:xfrm>
            <a:off x="7678143" y="3301460"/>
            <a:ext cx="838544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12" name="Shape 100"/>
          <p:cNvSpPr/>
          <p:nvPr/>
        </p:nvSpPr>
        <p:spPr>
          <a:xfrm>
            <a:off x="8516687" y="3301460"/>
            <a:ext cx="940627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13" name="Shape 101"/>
          <p:cNvSpPr/>
          <p:nvPr/>
        </p:nvSpPr>
        <p:spPr>
          <a:xfrm>
            <a:off x="9457314" y="3301460"/>
            <a:ext cx="1647921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14" name="Shape 102"/>
          <p:cNvSpPr/>
          <p:nvPr/>
        </p:nvSpPr>
        <p:spPr>
          <a:xfrm>
            <a:off x="11105234" y="3301460"/>
            <a:ext cx="729168" cy="40812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8EA4B9"/>
            </a:solidFill>
            <a:prstDash val="solid"/>
          </a:ln>
        </p:spPr>
      </p:sp>
      <p:sp>
        <p:nvSpPr>
          <p:cNvPr id="115" name="Shape 103"/>
          <p:cNvSpPr/>
          <p:nvPr/>
        </p:nvSpPr>
        <p:spPr>
          <a:xfrm>
            <a:off x="7955227" y="3381628"/>
            <a:ext cx="247917" cy="247792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116" name="Text 104"/>
          <p:cNvSpPr/>
          <p:nvPr/>
        </p:nvSpPr>
        <p:spPr>
          <a:xfrm>
            <a:off x="7955227" y="3381628"/>
            <a:ext cx="24791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</a:t>
            </a:r>
            <a:endParaRPr lang="en-US" sz="1000" dirty="0"/>
          </a:p>
        </p:txBody>
      </p:sp>
      <p:sp>
        <p:nvSpPr>
          <p:cNvPr id="117" name="Text 105"/>
          <p:cNvSpPr/>
          <p:nvPr/>
        </p:nvSpPr>
        <p:spPr>
          <a:xfrm>
            <a:off x="8582312" y="3359764"/>
            <a:ext cx="809377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联合探索</a:t>
            </a:r>
            <a:endParaRPr lang="en-US" sz="1000" dirty="0"/>
          </a:p>
        </p:txBody>
      </p:sp>
      <p:sp>
        <p:nvSpPr>
          <p:cNvPr id="118" name="Text 106"/>
          <p:cNvSpPr/>
          <p:nvPr/>
        </p:nvSpPr>
        <p:spPr>
          <a:xfrm>
            <a:off x="9508356" y="3359764"/>
            <a:ext cx="153854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开放9个动作</a:t>
            </a:r>
            <a:endParaRPr lang="en-US" sz="950" dirty="0"/>
          </a:p>
        </p:txBody>
      </p:sp>
      <p:sp>
        <p:nvSpPr>
          <p:cNvPr id="119" name="Text 107"/>
          <p:cNvSpPr/>
          <p:nvPr/>
        </p:nvSpPr>
        <p:spPr>
          <a:xfrm>
            <a:off x="11156276" y="3359764"/>
            <a:ext cx="627085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p₃</a:t>
            </a:r>
            <a:endParaRPr lang="en-US" sz="1100" dirty="0"/>
          </a:p>
        </p:txBody>
      </p:sp>
      <p:sp>
        <p:nvSpPr>
          <p:cNvPr id="120" name="Shape 108"/>
          <p:cNvSpPr/>
          <p:nvPr/>
        </p:nvSpPr>
        <p:spPr>
          <a:xfrm>
            <a:off x="7678143" y="3862635"/>
            <a:ext cx="4156260" cy="1056759"/>
          </a:xfrm>
          <a:prstGeom prst="round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6D8CB0"/>
            </a:solidFill>
            <a:prstDash val="solid"/>
          </a:ln>
        </p:spPr>
      </p:sp>
      <p:pic>
        <p:nvPicPr>
          <p:cNvPr id="121" name="Image 10" descr="guidance_bulb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751060" y="3979243"/>
            <a:ext cx="714585" cy="714223"/>
          </a:xfrm>
          <a:prstGeom prst="rect">
            <a:avLst/>
          </a:prstGeom>
        </p:spPr>
      </p:pic>
      <p:sp>
        <p:nvSpPr>
          <p:cNvPr id="122" name="Shape 109"/>
          <p:cNvSpPr/>
          <p:nvPr/>
        </p:nvSpPr>
        <p:spPr>
          <a:xfrm>
            <a:off x="8443770" y="3993819"/>
            <a:ext cx="3646" cy="801679"/>
          </a:xfrm>
          <a:prstGeom prst="line">
            <a:avLst/>
          </a:prstGeom>
          <a:noFill/>
          <a:ln w="8255">
            <a:solidFill>
              <a:srgbClr val="8FA3B7"/>
            </a:solidFill>
            <a:prstDash val="solid"/>
          </a:ln>
        </p:spPr>
      </p:sp>
      <p:sp>
        <p:nvSpPr>
          <p:cNvPr id="123" name="Text 110"/>
          <p:cNvSpPr/>
          <p:nvPr/>
        </p:nvSpPr>
        <p:spPr>
          <a:xfrm>
            <a:off x="8567728" y="3964667"/>
            <a:ext cx="306250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软引导机制（Soft Guidance）</a:t>
            </a:r>
            <a:endParaRPr lang="en-US" sz="1200" dirty="0"/>
          </a:p>
        </p:txBody>
      </p:sp>
      <p:sp>
        <p:nvSpPr>
          <p:cNvPr id="124" name="Text 111"/>
          <p:cNvSpPr/>
          <p:nvPr/>
        </p:nvSpPr>
        <p:spPr>
          <a:xfrm>
            <a:off x="8567728" y="4219747"/>
            <a:ext cx="3062507" cy="597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lnSpc>
                <a:spcPct val="86000"/>
              </a:lnSpc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 bonus = 12.0 × p²</a:t>
            </a:r>
            <a:endParaRPr lang="en-US" sz="10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 min_strategy_steps = 5</a:t>
            </a:r>
            <a:endParaRPr lang="en-US" sz="1050" dirty="0"/>
          </a:p>
          <a:p>
            <a:pPr marL="0" indent="0">
              <a:lnSpc>
                <a:spcPct val="86000"/>
              </a:lnSpc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•  不强制屏蔽其他动作</a:t>
            </a:r>
            <a:endParaRPr lang="en-US" sz="1050" dirty="0"/>
          </a:p>
        </p:txBody>
      </p:sp>
      <p:sp>
        <p:nvSpPr>
          <p:cNvPr id="125" name="Shape 112"/>
          <p:cNvSpPr/>
          <p:nvPr/>
        </p:nvSpPr>
        <p:spPr>
          <a:xfrm>
            <a:off x="7612518" y="4984986"/>
            <a:ext cx="4280218" cy="466431"/>
          </a:xfrm>
          <a:prstGeom prst="roundRect">
            <a:avLst/>
          </a:prstGeom>
          <a:solidFill>
            <a:srgbClr val="FCFAF5">
              <a:alpha val="0"/>
            </a:srgbClr>
          </a:solidFill>
          <a:ln w="9525">
            <a:solidFill>
              <a:srgbClr val="12355B"/>
            </a:solidFill>
            <a:prstDash val="solid"/>
          </a:ln>
        </p:spPr>
      </p:sp>
      <p:pic>
        <p:nvPicPr>
          <p:cNvPr id="126" name="Image 11" descr="caveat_warni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663560" y="5036002"/>
            <a:ext cx="408334" cy="378976"/>
          </a:xfrm>
          <a:prstGeom prst="rect">
            <a:avLst/>
          </a:prstGeom>
        </p:spPr>
      </p:pic>
      <p:sp>
        <p:nvSpPr>
          <p:cNvPr id="127" name="Text 113"/>
          <p:cNvSpPr/>
          <p:nvPr/>
        </p:nvSpPr>
        <p:spPr>
          <a:xfrm>
            <a:off x="8122936" y="5057866"/>
            <a:ext cx="364584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分类并非100%准确，因此采用软引导而非硬掩码</a:t>
            </a:r>
            <a:endParaRPr lang="en-US" sz="1100" dirty="0"/>
          </a:p>
        </p:txBody>
      </p:sp>
      <p:sp>
        <p:nvSpPr>
          <p:cNvPr id="128" name="Shape 114"/>
          <p:cNvSpPr/>
          <p:nvPr/>
        </p:nvSpPr>
        <p:spPr>
          <a:xfrm>
            <a:off x="255209" y="5648193"/>
            <a:ext cx="11637527" cy="823543"/>
          </a:xfrm>
          <a:prstGeom prst="round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062B50"/>
            </a:solidFill>
            <a:prstDash val="solid"/>
          </a:ln>
        </p:spPr>
      </p:sp>
      <p:pic>
        <p:nvPicPr>
          <p:cNvPr id="129" name="Image 12" descr="conclusion_check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793" y="5772089"/>
            <a:ext cx="554168" cy="553887"/>
          </a:xfrm>
          <a:prstGeom prst="rect">
            <a:avLst/>
          </a:prstGeom>
        </p:spPr>
      </p:pic>
      <p:sp>
        <p:nvSpPr>
          <p:cNvPr id="130" name="Text 115"/>
          <p:cNvSpPr/>
          <p:nvPr/>
        </p:nvSpPr>
        <p:spPr>
          <a:xfrm>
            <a:off x="1232295" y="5866833"/>
            <a:ext cx="5410429" cy="3862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元控制器判断的是“哪个维度存在更好的干扰空穴”</a:t>
            </a:r>
            <a:endParaRPr lang="en-US" sz="1750" dirty="0"/>
          </a:p>
        </p:txBody>
      </p:sp>
      <p:sp>
        <p:nvSpPr>
          <p:cNvPr id="131" name="Shape 116"/>
          <p:cNvSpPr/>
          <p:nvPr/>
        </p:nvSpPr>
        <p:spPr>
          <a:xfrm>
            <a:off x="6788558" y="5757513"/>
            <a:ext cx="3646" cy="612191"/>
          </a:xfrm>
          <a:prstGeom prst="line">
            <a:avLst/>
          </a:prstGeom>
          <a:noFill/>
          <a:ln w="8255">
            <a:solidFill>
              <a:srgbClr val="9BA8B5"/>
            </a:solidFill>
            <a:prstDash val="solid"/>
          </a:ln>
        </p:spPr>
      </p:sp>
      <p:sp>
        <p:nvSpPr>
          <p:cNvPr id="132" name="Text 117"/>
          <p:cNvSpPr/>
          <p:nvPr/>
        </p:nvSpPr>
        <p:spPr>
          <a:xfrm>
            <a:off x="7036475" y="5823105"/>
            <a:ext cx="4426052" cy="47371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通过12维语义特征感知机会，随机森林识别最有潜力的探索方向，</a:t>
            </a:r>
            <a:endParaRPr lang="en-US" sz="105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以软引导将探索资源集中到收益更高的维度，提升整体抗干扰效能。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62501" y="72880"/>
            <a:ext cx="422918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091674" y="102032"/>
            <a:ext cx="5738555" cy="30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基于分层强化学习的FMCW雷达抗干扰策略优化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902107" y="145760"/>
            <a:ext cx="2129172" cy="255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2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工作成果｜阶段性验证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2121880" y="685071"/>
            <a:ext cx="7984394" cy="400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联合执行策略和机会驱动特征已得到阶段性验证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2916673" y="1195231"/>
            <a:ext cx="6467723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50" dirty="0">
                <a:solidFill>
                  <a:srgbClr val="565B61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联合时频策略兼顾性能与稳定性，元控制器主要依赖维度机会特征做判断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109375" y="1523190"/>
            <a:ext cx="6438557" cy="3192140"/>
          </a:xfrm>
          <a:prstGeom prst="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6D8CB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50016" y="1523190"/>
            <a:ext cx="5381263" cy="2091654"/>
          </a:xfrm>
          <a:prstGeom prst="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6D8CB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650016" y="3680436"/>
            <a:ext cx="5381263" cy="1034895"/>
          </a:xfrm>
          <a:prstGeom prst="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6D8CB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79172" y="1596070"/>
            <a:ext cx="2588548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四策略平均SINR对比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35435" y="1603358"/>
            <a:ext cx="284375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特征重要性（元控制器）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60419" y="4321779"/>
            <a:ext cx="5490638" cy="3644"/>
          </a:xfrm>
          <a:prstGeom prst="line">
            <a:avLst/>
          </a:prstGeom>
          <a:noFill/>
          <a:ln w="8255">
            <a:solidFill>
              <a:srgbClr val="B3C1C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25001" y="4234323"/>
            <a:ext cx="240626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−5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60419" y="3845144"/>
            <a:ext cx="5490638" cy="3644"/>
          </a:xfrm>
          <a:prstGeom prst="line">
            <a:avLst/>
          </a:prstGeom>
          <a:noFill/>
          <a:ln w="8255">
            <a:solidFill>
              <a:srgbClr val="B3C1C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5001" y="3757688"/>
            <a:ext cx="240626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860419" y="3368510"/>
            <a:ext cx="5490638" cy="3644"/>
          </a:xfrm>
          <a:prstGeom prst="line">
            <a:avLst/>
          </a:prstGeom>
          <a:noFill/>
          <a:ln w="8255">
            <a:solidFill>
              <a:srgbClr val="B3C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5001" y="3281054"/>
            <a:ext cx="240626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860419" y="2891875"/>
            <a:ext cx="5490638" cy="3644"/>
          </a:xfrm>
          <a:prstGeom prst="line">
            <a:avLst/>
          </a:prstGeom>
          <a:noFill/>
          <a:ln w="8255">
            <a:solidFill>
              <a:srgbClr val="B3C1C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5001" y="2804419"/>
            <a:ext cx="240626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860419" y="2415240"/>
            <a:ext cx="5490638" cy="3644"/>
          </a:xfrm>
          <a:prstGeom prst="line">
            <a:avLst/>
          </a:prstGeom>
          <a:noFill/>
          <a:ln w="8255">
            <a:solidFill>
              <a:srgbClr val="B3C1C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5001" y="2327784"/>
            <a:ext cx="240626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860419" y="1938606"/>
            <a:ext cx="5490638" cy="3644"/>
          </a:xfrm>
          <a:prstGeom prst="line">
            <a:avLst/>
          </a:prstGeom>
          <a:noFill/>
          <a:ln w="8255">
            <a:solidFill>
              <a:srgbClr val="B3C1C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25001" y="1851150"/>
            <a:ext cx="240626" cy="174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860419" y="1938606"/>
            <a:ext cx="3646" cy="2383173"/>
          </a:xfrm>
          <a:prstGeom prst="line">
            <a:avLst/>
          </a:prstGeom>
          <a:noFill/>
          <a:ln w="10795">
            <a:solidFill>
              <a:srgbClr val="10182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0419" y="4321779"/>
            <a:ext cx="5490638" cy="3644"/>
          </a:xfrm>
          <a:prstGeom prst="line">
            <a:avLst/>
          </a:prstGeom>
          <a:noFill/>
          <a:ln w="10795">
            <a:solidFill>
              <a:srgbClr val="10182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 rot="16200000">
            <a:off x="0" y="2966213"/>
            <a:ext cx="70000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平均SINR（dB）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130211" y="3598248"/>
            <a:ext cx="780210" cy="723531"/>
          </a:xfrm>
          <a:prstGeom prst="rect">
            <a:avLst/>
          </a:prstGeom>
          <a:solidFill>
            <a:srgbClr val="A7B8CC"/>
          </a:solidFill>
          <a:ln w="12700">
            <a:solidFill>
              <a:srgbClr val="A7B8CC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520316" y="2659277"/>
            <a:ext cx="3646" cy="1662502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469274" y="2659277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69274" y="4321779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86461" y="2565373"/>
            <a:ext cx="867710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2.59±9.85 dB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1006252" y="4372795"/>
            <a:ext cx="102812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Baseline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59381" y="3059650"/>
            <a:ext cx="780210" cy="1262129"/>
          </a:xfrm>
          <a:prstGeom prst="rect">
            <a:avLst/>
          </a:prstGeom>
          <a:solidFill>
            <a:srgbClr val="8097B3"/>
          </a:solidFill>
          <a:ln w="12700">
            <a:solidFill>
              <a:srgbClr val="8097B3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949486" y="2754604"/>
            <a:ext cx="3646" cy="610092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898444" y="2754604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898444" y="3364697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515631" y="2565373"/>
            <a:ext cx="867710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8.24±3.20 dB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2435422" y="4372795"/>
            <a:ext cx="102812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freq_only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988551" y="3103501"/>
            <a:ext cx="780210" cy="1218278"/>
          </a:xfrm>
          <a:prstGeom prst="rect">
            <a:avLst/>
          </a:prstGeom>
          <a:solidFill>
            <a:srgbClr val="8097B3"/>
          </a:solidFill>
          <a:ln w="12700">
            <a:solidFill>
              <a:srgbClr val="8097B3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378656" y="2663090"/>
            <a:ext cx="3646" cy="880821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327614" y="2663090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327614" y="3543911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44801" y="2565373"/>
            <a:ext cx="867710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7.78±4.62 dB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864592" y="4372795"/>
            <a:ext cx="102812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time_only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5417721" y="2939538"/>
            <a:ext cx="780210" cy="138224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807826" y="2885202"/>
            <a:ext cx="3646" cy="108673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756784" y="2885202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756784" y="2993875"/>
            <a:ext cx="102084" cy="3644"/>
          </a:xfrm>
          <a:prstGeom prst="line">
            <a:avLst/>
          </a:prstGeom>
          <a:noFill/>
          <a:ln w="12700">
            <a:solidFill>
              <a:srgbClr val="10182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73971" y="2681138"/>
            <a:ext cx="867710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9.50±0.57 dB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5293762" y="4372795"/>
            <a:ext cx="1028127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joint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7670851" y="1909454"/>
            <a:ext cx="3646" cy="1610646"/>
          </a:xfrm>
          <a:prstGeom prst="line">
            <a:avLst/>
          </a:prstGeom>
          <a:noFill/>
          <a:ln w="8890">
            <a:solidFill>
              <a:srgbClr val="101820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70851" y="1938606"/>
            <a:ext cx="3682300" cy="218640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839599" y="1924030"/>
            <a:ext cx="74375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fc_td_ratio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11426068" y="1924030"/>
            <a:ext cx="546876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0.3184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670851" y="2266565"/>
            <a:ext cx="2486464" cy="218640"/>
          </a:xfrm>
          <a:prstGeom prst="rect">
            <a:avLst/>
          </a:prstGeom>
          <a:solidFill>
            <a:srgbClr val="8097B3"/>
          </a:solidFill>
          <a:ln w="12700">
            <a:solidFill>
              <a:srgbClr val="8097B3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839599" y="2251989"/>
            <a:ext cx="74375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td_gap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10230232" y="2251989"/>
            <a:ext cx="546876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0.2247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670851" y="2594525"/>
            <a:ext cx="2413547" cy="218640"/>
          </a:xfrm>
          <a:prstGeom prst="rect">
            <a:avLst/>
          </a:prstGeom>
          <a:solidFill>
            <a:srgbClr val="8097B3"/>
          </a:solidFill>
          <a:ln w="12700">
            <a:solidFill>
              <a:srgbClr val="8097B3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839599" y="2579949"/>
            <a:ext cx="74375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fc_gap</a:t>
            </a:r>
            <a:endParaRPr lang="en-US" sz="950" dirty="0"/>
          </a:p>
        </p:txBody>
      </p:sp>
      <p:sp>
        <p:nvSpPr>
          <p:cNvPr id="63" name="Text 61"/>
          <p:cNvSpPr/>
          <p:nvPr/>
        </p:nvSpPr>
        <p:spPr>
          <a:xfrm>
            <a:off x="10157315" y="2579949"/>
            <a:ext cx="546876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0.2202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670851" y="2929773"/>
            <a:ext cx="896877" cy="218640"/>
          </a:xfrm>
          <a:prstGeom prst="rect">
            <a:avLst/>
          </a:prstGeom>
          <a:solidFill>
            <a:srgbClr val="A7B8CC"/>
          </a:solidFill>
          <a:ln w="12700">
            <a:solidFill>
              <a:srgbClr val="A7B8CC">
                <a:alpha val="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6839599" y="2915197"/>
            <a:ext cx="74375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r_avoid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8640645" y="2915197"/>
            <a:ext cx="546876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0.0724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7670851" y="3257732"/>
            <a:ext cx="678127" cy="218640"/>
          </a:xfrm>
          <a:prstGeom prst="rect">
            <a:avLst/>
          </a:prstGeom>
          <a:solidFill>
            <a:srgbClr val="A7B8CC"/>
          </a:solidFill>
          <a:ln w="12700">
            <a:solidFill>
              <a:srgbClr val="A7B8CC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839599" y="3243156"/>
            <a:ext cx="743752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H_action</a:t>
            </a:r>
            <a:endParaRPr lang="en-US" sz="950" dirty="0"/>
          </a:p>
        </p:txBody>
      </p:sp>
      <p:sp>
        <p:nvSpPr>
          <p:cNvPr id="69" name="Text 67"/>
          <p:cNvSpPr/>
          <p:nvPr/>
        </p:nvSpPr>
        <p:spPr>
          <a:xfrm>
            <a:off x="8421895" y="3243156"/>
            <a:ext cx="546876" cy="247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0.0518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9282313" y="3811620"/>
            <a:ext cx="3646" cy="772527"/>
          </a:xfrm>
          <a:prstGeom prst="line">
            <a:avLst/>
          </a:prstGeom>
          <a:noFill/>
          <a:ln w="8255">
            <a:solidFill>
              <a:srgbClr val="8FA3B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6992725" y="3848060"/>
            <a:ext cx="2078130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+6.91 dB</a:t>
            </a:r>
            <a:endParaRPr lang="en-US" sz="2800" dirty="0"/>
          </a:p>
        </p:txBody>
      </p:sp>
      <p:sp>
        <p:nvSpPr>
          <p:cNvPr id="72" name="Text 70"/>
          <p:cNvSpPr/>
          <p:nvPr/>
        </p:nvSpPr>
        <p:spPr>
          <a:xfrm>
            <a:off x="7094808" y="4372795"/>
            <a:ext cx="1917713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joint相对Baseline</a:t>
            </a:r>
            <a:endParaRPr lang="en-US" sz="1300" dirty="0"/>
          </a:p>
        </p:txBody>
      </p:sp>
      <p:sp>
        <p:nvSpPr>
          <p:cNvPr id="73" name="Text 71"/>
          <p:cNvSpPr/>
          <p:nvPr/>
        </p:nvSpPr>
        <p:spPr>
          <a:xfrm>
            <a:off x="9697939" y="3848060"/>
            <a:ext cx="1997921" cy="437279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+2.3 dB</a:t>
            </a:r>
            <a:endParaRPr lang="en-US" sz="2800" dirty="0"/>
          </a:p>
        </p:txBody>
      </p:sp>
      <p:sp>
        <p:nvSpPr>
          <p:cNvPr id="74" name="Text 72"/>
          <p:cNvSpPr/>
          <p:nvPr/>
        </p:nvSpPr>
        <p:spPr>
          <a:xfrm>
            <a:off x="9916690" y="4372795"/>
            <a:ext cx="1662504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GRU组件贡献</a:t>
            </a:r>
            <a:endParaRPr lang="en-US" sz="1300" dirty="0"/>
          </a:p>
        </p:txBody>
      </p:sp>
      <p:sp>
        <p:nvSpPr>
          <p:cNvPr id="75" name="Shape 73"/>
          <p:cNvSpPr/>
          <p:nvPr/>
        </p:nvSpPr>
        <p:spPr>
          <a:xfrm>
            <a:off x="109375" y="4788210"/>
            <a:ext cx="11929195" cy="663207"/>
          </a:xfrm>
          <a:prstGeom prst="rect">
            <a:avLst/>
          </a:prstGeom>
          <a:solidFill>
            <a:srgbClr val="FCFAF5">
              <a:alpha val="0"/>
            </a:srgbClr>
          </a:solidFill>
          <a:ln w="8890">
            <a:solidFill>
              <a:srgbClr val="6D8CB0"/>
            </a:solidFill>
            <a:prstDash val="solid"/>
          </a:ln>
        </p:spPr>
      </p:sp>
      <p:pic>
        <p:nvPicPr>
          <p:cNvPr id="76" name="Image 0" descr="finding_check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501" y="4868378"/>
            <a:ext cx="561460" cy="524735"/>
          </a:xfrm>
          <a:prstGeom prst="rect">
            <a:avLst/>
          </a:prstGeom>
        </p:spPr>
      </p:pic>
      <p:pic>
        <p:nvPicPr>
          <p:cNvPr id="77" name="Image 1" descr="finding_check_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6052" y="4868378"/>
            <a:ext cx="561460" cy="524735"/>
          </a:xfrm>
          <a:prstGeom prst="rect">
            <a:avLst/>
          </a:prstGeom>
        </p:spPr>
      </p:pic>
      <p:pic>
        <p:nvPicPr>
          <p:cNvPr id="78" name="Image 2" descr="finding_check_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9810" y="4868378"/>
            <a:ext cx="561460" cy="524735"/>
          </a:xfrm>
          <a:prstGeom prst="rect">
            <a:avLst/>
          </a:prstGeom>
        </p:spPr>
      </p:pic>
      <p:sp>
        <p:nvSpPr>
          <p:cNvPr id="79" name="Shape 74"/>
          <p:cNvSpPr/>
          <p:nvPr/>
        </p:nvSpPr>
        <p:spPr>
          <a:xfrm>
            <a:off x="3871884" y="4963122"/>
            <a:ext cx="3646" cy="349824"/>
          </a:xfrm>
          <a:prstGeom prst="line">
            <a:avLst/>
          </a:prstGeom>
          <a:noFill/>
          <a:ln w="8255">
            <a:solidFill>
              <a:srgbClr val="9BA8B5"/>
            </a:solidFill>
            <a:prstDash val="solid"/>
          </a:ln>
        </p:spPr>
      </p:sp>
      <p:sp>
        <p:nvSpPr>
          <p:cNvPr id="80" name="Shape 75"/>
          <p:cNvSpPr/>
          <p:nvPr/>
        </p:nvSpPr>
        <p:spPr>
          <a:xfrm>
            <a:off x="7386476" y="4963122"/>
            <a:ext cx="3646" cy="349824"/>
          </a:xfrm>
          <a:prstGeom prst="line">
            <a:avLst/>
          </a:prstGeom>
          <a:noFill/>
          <a:ln w="8255">
            <a:solidFill>
              <a:srgbClr val="9BA8B5"/>
            </a:solidFill>
            <a:prstDash val="solid"/>
          </a:ln>
        </p:spPr>
      </p:sp>
      <p:sp>
        <p:nvSpPr>
          <p:cNvPr id="81" name="Text 76"/>
          <p:cNvSpPr/>
          <p:nvPr/>
        </p:nvSpPr>
        <p:spPr>
          <a:xfrm>
            <a:off x="1363545" y="4875666"/>
            <a:ext cx="2347922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joint最终SINR最高</a:t>
            </a:r>
            <a:endParaRPr lang="en-US" sz="1300" dirty="0"/>
          </a:p>
        </p:txBody>
      </p:sp>
      <p:sp>
        <p:nvSpPr>
          <p:cNvPr id="82" name="Text 77"/>
          <p:cNvSpPr/>
          <p:nvPr/>
        </p:nvSpPr>
        <p:spPr>
          <a:xfrm>
            <a:off x="1363545" y="5138034"/>
            <a:ext cx="2347922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平均SINR达到9.50 dB</a:t>
            </a:r>
            <a:endParaRPr lang="en-US" sz="1050" dirty="0"/>
          </a:p>
        </p:txBody>
      </p:sp>
      <p:sp>
        <p:nvSpPr>
          <p:cNvPr id="83" name="Text 78"/>
          <p:cNvSpPr/>
          <p:nvPr/>
        </p:nvSpPr>
        <p:spPr>
          <a:xfrm>
            <a:off x="5096887" y="4875666"/>
            <a:ext cx="2238547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joint标准差最低</a:t>
            </a:r>
            <a:endParaRPr lang="en-US" sz="1300" dirty="0"/>
          </a:p>
        </p:txBody>
      </p:sp>
      <p:sp>
        <p:nvSpPr>
          <p:cNvPr id="84" name="Text 79"/>
          <p:cNvSpPr/>
          <p:nvPr/>
        </p:nvSpPr>
        <p:spPr>
          <a:xfrm>
            <a:off x="5096887" y="5138034"/>
            <a:ext cx="2238547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标准差仅为0.57 dB</a:t>
            </a:r>
            <a:endParaRPr lang="en-US" sz="1050" dirty="0"/>
          </a:p>
        </p:txBody>
      </p:sp>
      <p:sp>
        <p:nvSpPr>
          <p:cNvPr id="85" name="Text 80"/>
          <p:cNvSpPr/>
          <p:nvPr/>
        </p:nvSpPr>
        <p:spPr>
          <a:xfrm>
            <a:off x="8677104" y="4875666"/>
            <a:ext cx="3040632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2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前三项特征均刻画维度优化机会</a:t>
            </a:r>
            <a:endParaRPr lang="en-US" sz="1220" dirty="0"/>
          </a:p>
        </p:txBody>
      </p:sp>
      <p:sp>
        <p:nvSpPr>
          <p:cNvPr id="86" name="Text 81"/>
          <p:cNvSpPr/>
          <p:nvPr/>
        </p:nvSpPr>
        <p:spPr>
          <a:xfrm>
            <a:off x="8677104" y="5138034"/>
            <a:ext cx="3040632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0182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均为机会相关度量，支持机理设计</a:t>
            </a:r>
            <a:endParaRPr lang="en-US" sz="1050" dirty="0"/>
          </a:p>
        </p:txBody>
      </p:sp>
      <p:sp>
        <p:nvSpPr>
          <p:cNvPr id="87" name="Shape 82"/>
          <p:cNvSpPr/>
          <p:nvPr/>
        </p:nvSpPr>
        <p:spPr>
          <a:xfrm>
            <a:off x="109375" y="5538874"/>
            <a:ext cx="11929195" cy="488295"/>
          </a:xfrm>
          <a:prstGeom prst="rect">
            <a:avLst/>
          </a:prstGeom>
          <a:solidFill>
            <a:srgbClr val="FCFAF5">
              <a:alpha val="0"/>
            </a:srgbClr>
          </a:solidFill>
          <a:ln w="10160">
            <a:solidFill>
              <a:srgbClr val="062B50"/>
            </a:solidFill>
            <a:prstDash val="solid"/>
          </a:ln>
        </p:spPr>
      </p:sp>
      <p:pic>
        <p:nvPicPr>
          <p:cNvPr id="88" name="Image 3" descr="caveat_warn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2923" y="5589889"/>
            <a:ext cx="437501" cy="400840"/>
          </a:xfrm>
          <a:prstGeom prst="rect">
            <a:avLst/>
          </a:prstGeom>
        </p:spPr>
      </p:pic>
      <p:sp>
        <p:nvSpPr>
          <p:cNvPr id="89" name="Text 83"/>
          <p:cNvSpPr/>
          <p:nvPr/>
        </p:nvSpPr>
        <p:spPr>
          <a:xfrm>
            <a:off x="3470841" y="5633617"/>
            <a:ext cx="6059389" cy="30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执行层结果与系统级Meta-RF结果属于不同实验层次</a:t>
            </a:r>
            <a:endParaRPr lang="en-US" sz="1350" dirty="0"/>
          </a:p>
        </p:txBody>
      </p:sp>
      <p:sp>
        <p:nvSpPr>
          <p:cNvPr id="90" name="Shape 84"/>
          <p:cNvSpPr/>
          <p:nvPr/>
        </p:nvSpPr>
        <p:spPr>
          <a:xfrm>
            <a:off x="109375" y="6100049"/>
            <a:ext cx="11929195" cy="641343"/>
          </a:xfrm>
          <a:prstGeom prst="round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pic>
        <p:nvPicPr>
          <p:cNvPr id="91" name="Image 4" descr="conclusion_trophy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4170" y="6121913"/>
            <a:ext cx="612501" cy="597615"/>
          </a:xfrm>
          <a:prstGeom prst="rect">
            <a:avLst/>
          </a:prstGeom>
        </p:spPr>
      </p:pic>
      <p:sp>
        <p:nvSpPr>
          <p:cNvPr id="92" name="Text 85"/>
          <p:cNvSpPr/>
          <p:nvPr/>
        </p:nvSpPr>
        <p:spPr>
          <a:xfrm>
            <a:off x="2114588" y="6209369"/>
            <a:ext cx="8137519" cy="3935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底层证明联合搜索有效，上层进一步学习何时缩小搜索范围</a:t>
            </a:r>
            <a:endParaRPr lang="en-US" sz="1800" dirty="0"/>
          </a:p>
        </p:txBody>
      </p:sp>
      <p:sp>
        <p:nvSpPr>
          <p:cNvPr id="94" name="Shape 5">
            <a:extLst>
              <a:ext uri="{FF2B5EF4-FFF2-40B4-BE49-F238E27FC236}">
                <a16:creationId xmlns:a16="http://schemas.microsoft.com/office/drawing/2014/main" id="{4399BB92-4585-3811-A675-4A3D6A8E786F}"/>
              </a:ext>
            </a:extLst>
          </p:cNvPr>
          <p:cNvSpPr/>
          <p:nvPr/>
        </p:nvSpPr>
        <p:spPr>
          <a:xfrm>
            <a:off x="0" y="524735"/>
            <a:ext cx="12191695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262501" y="58304"/>
            <a:ext cx="481251" cy="3498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09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3069799" y="109320"/>
            <a:ext cx="5104179" cy="30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基于分层强化学习的FMCW雷达抗干扰策略优化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9275022" y="116608"/>
            <a:ext cx="2566673" cy="29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工作成果｜系统验证与问题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3959" y="459143"/>
            <a:ext cx="11936486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92712" y="604903"/>
            <a:ext cx="9442730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Meta-RF提升了系统性能与突变恢复速度，但实时部署仍是关键缺口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253130" y="1042183"/>
            <a:ext cx="7656268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dirty="0">
                <a:solidFill>
                  <a:srgbClr val="4F525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元策略增益在非平稳干扰中最突出，当前仿真实现尚未满足工程时延要求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182292" y="1413870"/>
            <a:ext cx="4032301" cy="4416523"/>
          </a:xfrm>
          <a:prstGeom prst="rect">
            <a:avLst/>
          </a:prstGeom>
          <a:solidFill>
            <a:srgbClr val="FCFAF5">
              <a:alpha val="0"/>
            </a:srgbClr>
          </a:solidFill>
          <a:ln w="9525">
            <a:solidFill>
              <a:srgbClr val="A9BAC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31260" y="1413870"/>
            <a:ext cx="4666678" cy="4416523"/>
          </a:xfrm>
          <a:prstGeom prst="rect">
            <a:avLst/>
          </a:prstGeom>
          <a:solidFill>
            <a:srgbClr val="FCFAF5">
              <a:alpha val="0"/>
            </a:srgbClr>
          </a:solidFill>
          <a:ln w="9525">
            <a:solidFill>
              <a:srgbClr val="A9BAC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092730" y="1413870"/>
            <a:ext cx="2887507" cy="4416523"/>
          </a:xfrm>
          <a:prstGeom prst="rect">
            <a:avLst/>
          </a:prstGeom>
          <a:solidFill>
            <a:srgbClr val="FCFAF5">
              <a:alpha val="0"/>
            </a:srgbClr>
          </a:solidFill>
          <a:ln w="9525">
            <a:solidFill>
              <a:srgbClr val="A9BAC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292" y="1413870"/>
            <a:ext cx="4032301" cy="342536"/>
          </a:xfrm>
          <a:prstGeom prst="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31260" y="1413870"/>
            <a:ext cx="4666678" cy="342536"/>
          </a:xfrm>
          <a:prstGeom prst="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92730" y="1413870"/>
            <a:ext cx="2887507" cy="342536"/>
          </a:xfrm>
          <a:prstGeom prst="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501" y="1443022"/>
            <a:ext cx="3157299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系统级平均SINR与避开率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914595" y="1443022"/>
            <a:ext cx="3500008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动态跳频突变恢复过程（平均SINR, dB）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413564" y="1443022"/>
            <a:ext cx="2253130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关键证据与工程缺口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29168" y="1865726"/>
            <a:ext cx="131250" cy="131184"/>
          </a:xfrm>
          <a:prstGeom prst="rect">
            <a:avLst/>
          </a:prstGeom>
          <a:solidFill>
            <a:srgbClr val="A8BCD2"/>
          </a:solidFill>
          <a:ln w="12700">
            <a:solidFill>
              <a:srgbClr val="A8BCD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8752" y="1807422"/>
            <a:ext cx="765627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793754" y="1865726"/>
            <a:ext cx="131250" cy="131184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983338" y="1807422"/>
            <a:ext cx="765627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Pure DRL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53132" y="1865726"/>
            <a:ext cx="131250" cy="131184"/>
          </a:xfrm>
          <a:prstGeom prst="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142716" y="1807422"/>
            <a:ext cx="765627" cy="240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Meta-RF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6876" y="4314491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9792" y="4234323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−20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6876" y="3995034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9792" y="3914866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−15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46876" y="3675577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9792" y="3595409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−10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46876" y="3356120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69792" y="3275952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−5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46876" y="3036663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9792" y="2956495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46876" y="2717206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69792" y="2637038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46876" y="2397749"/>
            <a:ext cx="3281258" cy="3644"/>
          </a:xfrm>
          <a:prstGeom prst="line">
            <a:avLst/>
          </a:prstGeom>
          <a:noFill/>
          <a:ln w="7620">
            <a:solidFill>
              <a:srgbClr val="B9C7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9792" y="2317581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864592" y="4234323"/>
            <a:ext cx="24791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3864592" y="3850975"/>
            <a:ext cx="24791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3864592" y="3467626"/>
            <a:ext cx="24791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40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3864592" y="3084278"/>
            <a:ext cx="24791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60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3864592" y="2700930"/>
            <a:ext cx="24791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80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3864592" y="2317581"/>
            <a:ext cx="24791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100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546876" y="2397749"/>
            <a:ext cx="3646" cy="1916742"/>
          </a:xfrm>
          <a:prstGeom prst="line">
            <a:avLst/>
          </a:prstGeom>
          <a:noFill/>
          <a:ln w="10160">
            <a:solidFill>
              <a:srgbClr val="0E1114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828134" y="2397749"/>
            <a:ext cx="3646" cy="1916742"/>
          </a:xfrm>
          <a:prstGeom prst="line">
            <a:avLst/>
          </a:prstGeom>
          <a:noFill/>
          <a:ln w="10160">
            <a:solidFill>
              <a:srgbClr val="0E1114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6876" y="3036663"/>
            <a:ext cx="3281258" cy="3644"/>
          </a:xfrm>
          <a:prstGeom prst="line">
            <a:avLst/>
          </a:prstGeom>
          <a:noFill/>
          <a:ln w="12065">
            <a:solidFill>
              <a:srgbClr val="0E111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9792" y="2142670"/>
            <a:ext cx="860419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平均SINR (dB)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3558342" y="2142670"/>
            <a:ext cx="554168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避开率 (%)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94794" y="3036663"/>
            <a:ext cx="291667" cy="783308"/>
          </a:xfrm>
          <a:prstGeom prst="rect">
            <a:avLst/>
          </a:prstGeom>
          <a:solidFill>
            <a:srgbClr val="A8BCD2"/>
          </a:solidFill>
          <a:ln w="12700">
            <a:solidFill>
              <a:srgbClr val="A8BCD2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36460" y="3805396"/>
            <a:ext cx="40833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-12.26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1203128" y="3036663"/>
            <a:ext cx="291667" cy="410183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144794" y="3432270"/>
            <a:ext cx="40833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-6.42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604170" y="3036663"/>
            <a:ext cx="291667" cy="84337"/>
          </a:xfrm>
          <a:prstGeom prst="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545837" y="3106424"/>
            <a:ext cx="408334" cy="196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-1.32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603131" y="2859684"/>
            <a:ext cx="291667" cy="1454807"/>
          </a:xfrm>
          <a:prstGeom prst="rect">
            <a:avLst/>
          </a:prstGeom>
          <a:solidFill>
            <a:srgbClr val="A8BCD2"/>
          </a:solidFill>
          <a:ln w="12700">
            <a:solidFill>
              <a:srgbClr val="A8BCD2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552089" y="2677484"/>
            <a:ext cx="393751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75.9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2996882" y="2675677"/>
            <a:ext cx="291667" cy="1638814"/>
          </a:xfrm>
          <a:prstGeom prst="rect">
            <a:avLst/>
          </a:prstGeom>
          <a:solidFill>
            <a:srgbClr val="2F6FB5"/>
          </a:solidFill>
          <a:ln w="12700">
            <a:solidFill>
              <a:srgbClr val="2F6FB5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45840" y="2493477"/>
            <a:ext cx="393751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85.5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3390633" y="2589423"/>
            <a:ext cx="291667" cy="1725068"/>
          </a:xfrm>
          <a:prstGeom prst="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339591" y="2407224"/>
            <a:ext cx="393751" cy="182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90.0</a:t>
            </a:r>
            <a:endParaRPr lang="en-US" sz="950" dirty="0"/>
          </a:p>
        </p:txBody>
      </p:sp>
      <p:sp>
        <p:nvSpPr>
          <p:cNvPr id="62" name="Text 60"/>
          <p:cNvSpPr/>
          <p:nvPr/>
        </p:nvSpPr>
        <p:spPr>
          <a:xfrm>
            <a:off x="670835" y="4336355"/>
            <a:ext cx="1370837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平均SINR (dB)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2493756" y="4336355"/>
            <a:ext cx="1341670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避开率 (%)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62501" y="4569571"/>
            <a:ext cx="1152086" cy="276944"/>
          </a:xfrm>
          <a:prstGeom prst="rect">
            <a:avLst/>
          </a:prstGeom>
          <a:solidFill>
            <a:srgbClr val="0A3767"/>
          </a:solidFill>
          <a:ln w="5715">
            <a:solidFill>
              <a:srgbClr val="FFFF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414587" y="4569571"/>
            <a:ext cx="1538545" cy="276944"/>
          </a:xfrm>
          <a:prstGeom prst="rect">
            <a:avLst/>
          </a:prstGeom>
          <a:solidFill>
            <a:srgbClr val="0A3767"/>
          </a:solidFill>
          <a:ln w="5715">
            <a:solidFill>
              <a:srgbClr val="FFFFFF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2953132" y="4569571"/>
            <a:ext cx="1159378" cy="276944"/>
          </a:xfrm>
          <a:prstGeom prst="rect">
            <a:avLst/>
          </a:prstGeom>
          <a:solidFill>
            <a:srgbClr val="0A3767"/>
          </a:solidFill>
          <a:ln w="5715">
            <a:solidFill>
              <a:srgbClr val="FFFFFF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262501" y="4846514"/>
            <a:ext cx="1152086" cy="284232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414587" y="4846514"/>
            <a:ext cx="1538545" cy="284232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2953132" y="4846514"/>
            <a:ext cx="1159378" cy="284232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262501" y="5130746"/>
            <a:ext cx="1152086" cy="276944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414587" y="5130746"/>
            <a:ext cx="1538545" cy="276944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2953132" y="5130746"/>
            <a:ext cx="1159378" cy="276944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262501" y="5407690"/>
            <a:ext cx="1152086" cy="284232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414587" y="5407690"/>
            <a:ext cx="1538545" cy="284232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2953132" y="5407690"/>
            <a:ext cx="1159378" cy="284232"/>
          </a:xfrm>
          <a:prstGeom prst="rect">
            <a:avLst/>
          </a:prstGeom>
          <a:solidFill>
            <a:srgbClr val="FCFAF5">
              <a:alpha val="0"/>
            </a:srgbClr>
          </a:solidFill>
          <a:ln w="5715">
            <a:solidFill>
              <a:srgbClr val="C9D3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20834" y="4569571"/>
            <a:ext cx="1035419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方法</a:t>
            </a:r>
            <a:endParaRPr lang="en-US" sz="1050" dirty="0"/>
          </a:p>
        </p:txBody>
      </p:sp>
      <p:sp>
        <p:nvSpPr>
          <p:cNvPr id="77" name="Text 75"/>
          <p:cNvSpPr/>
          <p:nvPr/>
        </p:nvSpPr>
        <p:spPr>
          <a:xfrm>
            <a:off x="1472920" y="4569571"/>
            <a:ext cx="1421878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平均SINR (dB)</a:t>
            </a:r>
            <a:endParaRPr lang="en-US" sz="1050" dirty="0"/>
          </a:p>
        </p:txBody>
      </p:sp>
      <p:sp>
        <p:nvSpPr>
          <p:cNvPr id="78" name="Text 76"/>
          <p:cNvSpPr/>
          <p:nvPr/>
        </p:nvSpPr>
        <p:spPr>
          <a:xfrm>
            <a:off x="3011465" y="4569571"/>
            <a:ext cx="1042711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避开率 (%)</a:t>
            </a:r>
            <a:endParaRPr lang="en-US" sz="1050" dirty="0"/>
          </a:p>
        </p:txBody>
      </p:sp>
      <p:sp>
        <p:nvSpPr>
          <p:cNvPr id="79" name="Text 77"/>
          <p:cNvSpPr/>
          <p:nvPr/>
        </p:nvSpPr>
        <p:spPr>
          <a:xfrm>
            <a:off x="320834" y="4846514"/>
            <a:ext cx="1035419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A8BCD2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■  Baseline</a:t>
            </a:r>
            <a:endParaRPr lang="en-US" sz="950" dirty="0"/>
          </a:p>
        </p:txBody>
      </p:sp>
      <p:sp>
        <p:nvSpPr>
          <p:cNvPr id="80" name="Text 78"/>
          <p:cNvSpPr/>
          <p:nvPr/>
        </p:nvSpPr>
        <p:spPr>
          <a:xfrm>
            <a:off x="1472920" y="4846514"/>
            <a:ext cx="1421878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−12.26±7.65 dB</a:t>
            </a:r>
            <a:endParaRPr lang="en-US" sz="950" dirty="0"/>
          </a:p>
        </p:txBody>
      </p:sp>
      <p:sp>
        <p:nvSpPr>
          <p:cNvPr id="81" name="Text 79"/>
          <p:cNvSpPr/>
          <p:nvPr/>
        </p:nvSpPr>
        <p:spPr>
          <a:xfrm>
            <a:off x="3011465" y="4846514"/>
            <a:ext cx="1042711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75.9%</a:t>
            </a:r>
            <a:endParaRPr lang="en-US" sz="950" dirty="0"/>
          </a:p>
        </p:txBody>
      </p:sp>
      <p:sp>
        <p:nvSpPr>
          <p:cNvPr id="82" name="Text 80"/>
          <p:cNvSpPr/>
          <p:nvPr/>
        </p:nvSpPr>
        <p:spPr>
          <a:xfrm>
            <a:off x="320834" y="5130746"/>
            <a:ext cx="1035419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■  Pure DRL</a:t>
            </a:r>
            <a:endParaRPr lang="en-US" sz="950" dirty="0"/>
          </a:p>
        </p:txBody>
      </p:sp>
      <p:sp>
        <p:nvSpPr>
          <p:cNvPr id="83" name="Text 81"/>
          <p:cNvSpPr/>
          <p:nvPr/>
        </p:nvSpPr>
        <p:spPr>
          <a:xfrm>
            <a:off x="1472920" y="5130746"/>
            <a:ext cx="1421878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−6.42±10.03 dB</a:t>
            </a:r>
            <a:endParaRPr lang="en-US" sz="950" dirty="0"/>
          </a:p>
        </p:txBody>
      </p:sp>
      <p:sp>
        <p:nvSpPr>
          <p:cNvPr id="84" name="Text 82"/>
          <p:cNvSpPr/>
          <p:nvPr/>
        </p:nvSpPr>
        <p:spPr>
          <a:xfrm>
            <a:off x="3011465" y="5130746"/>
            <a:ext cx="1042711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85.5%</a:t>
            </a:r>
            <a:endParaRPr lang="en-US" sz="950" dirty="0"/>
          </a:p>
        </p:txBody>
      </p:sp>
      <p:sp>
        <p:nvSpPr>
          <p:cNvPr id="85" name="Text 83"/>
          <p:cNvSpPr/>
          <p:nvPr/>
        </p:nvSpPr>
        <p:spPr>
          <a:xfrm>
            <a:off x="320834" y="5407690"/>
            <a:ext cx="1035419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0A3767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■  Meta-RF</a:t>
            </a:r>
            <a:endParaRPr lang="en-US" sz="950" dirty="0"/>
          </a:p>
        </p:txBody>
      </p:sp>
      <p:sp>
        <p:nvSpPr>
          <p:cNvPr id="86" name="Text 84"/>
          <p:cNvSpPr/>
          <p:nvPr/>
        </p:nvSpPr>
        <p:spPr>
          <a:xfrm>
            <a:off x="1472920" y="5407690"/>
            <a:ext cx="1421878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−1.32±10.54 dB</a:t>
            </a:r>
            <a:endParaRPr lang="en-US" sz="950" dirty="0"/>
          </a:p>
        </p:txBody>
      </p:sp>
      <p:sp>
        <p:nvSpPr>
          <p:cNvPr id="87" name="Text 85"/>
          <p:cNvSpPr/>
          <p:nvPr/>
        </p:nvSpPr>
        <p:spPr>
          <a:xfrm>
            <a:off x="3011465" y="5407690"/>
            <a:ext cx="1042711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90.0%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4666678" y="4657027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04177" y="4576859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−10</a:t>
            </a:r>
            <a:endParaRPr lang="en-US" sz="850" dirty="0"/>
          </a:p>
        </p:txBody>
      </p:sp>
      <p:sp>
        <p:nvSpPr>
          <p:cNvPr id="90" name="Shape 88"/>
          <p:cNvSpPr/>
          <p:nvPr/>
        </p:nvSpPr>
        <p:spPr>
          <a:xfrm>
            <a:off x="4666678" y="4377350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4404177" y="4297182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−8</a:t>
            </a:r>
            <a:endParaRPr lang="en-US" sz="850" dirty="0"/>
          </a:p>
        </p:txBody>
      </p:sp>
      <p:sp>
        <p:nvSpPr>
          <p:cNvPr id="92" name="Shape 90"/>
          <p:cNvSpPr/>
          <p:nvPr/>
        </p:nvSpPr>
        <p:spPr>
          <a:xfrm>
            <a:off x="4666678" y="4097673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404177" y="4017505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−6</a:t>
            </a:r>
            <a:endParaRPr lang="en-US" sz="850" dirty="0"/>
          </a:p>
        </p:txBody>
      </p:sp>
      <p:sp>
        <p:nvSpPr>
          <p:cNvPr id="94" name="Shape 92"/>
          <p:cNvSpPr/>
          <p:nvPr/>
        </p:nvSpPr>
        <p:spPr>
          <a:xfrm>
            <a:off x="4666678" y="3817997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4404177" y="3737829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−4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4666678" y="3538320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4404177" y="3458152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−2</a:t>
            </a:r>
            <a:endParaRPr lang="en-US" sz="850" dirty="0"/>
          </a:p>
        </p:txBody>
      </p:sp>
      <p:sp>
        <p:nvSpPr>
          <p:cNvPr id="98" name="Shape 96"/>
          <p:cNvSpPr/>
          <p:nvPr/>
        </p:nvSpPr>
        <p:spPr>
          <a:xfrm>
            <a:off x="4666678" y="3258643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4404177" y="3178475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4666678" y="2978967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4404177" y="2898799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4666678" y="2699290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404177" y="2619122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4</a:t>
            </a:r>
            <a:endParaRPr lang="en-US" sz="850" dirty="0"/>
          </a:p>
        </p:txBody>
      </p:sp>
      <p:sp>
        <p:nvSpPr>
          <p:cNvPr id="104" name="Shape 102"/>
          <p:cNvSpPr/>
          <p:nvPr/>
        </p:nvSpPr>
        <p:spPr>
          <a:xfrm>
            <a:off x="4666678" y="2419613"/>
            <a:ext cx="4178135" cy="3644"/>
          </a:xfrm>
          <a:prstGeom prst="line">
            <a:avLst/>
          </a:prstGeom>
          <a:noFill/>
          <a:ln w="6985">
            <a:solidFill>
              <a:srgbClr val="B9C7D4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4404177" y="2339445"/>
            <a:ext cx="211459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6</a:t>
            </a:r>
            <a:endParaRPr lang="en-US" sz="850" dirty="0"/>
          </a:p>
        </p:txBody>
      </p:sp>
      <p:sp>
        <p:nvSpPr>
          <p:cNvPr id="106" name="Shape 104"/>
          <p:cNvSpPr/>
          <p:nvPr/>
        </p:nvSpPr>
        <p:spPr>
          <a:xfrm>
            <a:off x="4666678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64594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0</a:t>
            </a:r>
            <a:endParaRPr lang="en-US" sz="850" dirty="0"/>
          </a:p>
        </p:txBody>
      </p:sp>
      <p:sp>
        <p:nvSpPr>
          <p:cNvPr id="108" name="Shape 106"/>
          <p:cNvSpPr/>
          <p:nvPr/>
        </p:nvSpPr>
        <p:spPr>
          <a:xfrm>
            <a:off x="5246974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5144891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</a:t>
            </a:r>
            <a:endParaRPr lang="en-US" sz="850" dirty="0"/>
          </a:p>
        </p:txBody>
      </p:sp>
      <p:sp>
        <p:nvSpPr>
          <p:cNvPr id="110" name="Shape 108"/>
          <p:cNvSpPr/>
          <p:nvPr/>
        </p:nvSpPr>
        <p:spPr>
          <a:xfrm>
            <a:off x="5827271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725187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850" dirty="0"/>
          </a:p>
        </p:txBody>
      </p:sp>
      <p:sp>
        <p:nvSpPr>
          <p:cNvPr id="112" name="Shape 110"/>
          <p:cNvSpPr/>
          <p:nvPr/>
        </p:nvSpPr>
        <p:spPr>
          <a:xfrm>
            <a:off x="6407567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6305484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15</a:t>
            </a:r>
            <a:endParaRPr lang="en-US" sz="850" dirty="0"/>
          </a:p>
        </p:txBody>
      </p:sp>
      <p:sp>
        <p:nvSpPr>
          <p:cNvPr id="114" name="Shape 112"/>
          <p:cNvSpPr/>
          <p:nvPr/>
        </p:nvSpPr>
        <p:spPr>
          <a:xfrm>
            <a:off x="6987864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6885780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20</a:t>
            </a:r>
            <a:endParaRPr lang="en-US" sz="850" dirty="0"/>
          </a:p>
        </p:txBody>
      </p:sp>
      <p:sp>
        <p:nvSpPr>
          <p:cNvPr id="116" name="Shape 114"/>
          <p:cNvSpPr/>
          <p:nvPr/>
        </p:nvSpPr>
        <p:spPr>
          <a:xfrm>
            <a:off x="7568160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7466077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25</a:t>
            </a:r>
            <a:endParaRPr lang="en-US" sz="850" dirty="0"/>
          </a:p>
        </p:txBody>
      </p:sp>
      <p:sp>
        <p:nvSpPr>
          <p:cNvPr id="118" name="Shape 116"/>
          <p:cNvSpPr/>
          <p:nvPr/>
        </p:nvSpPr>
        <p:spPr>
          <a:xfrm>
            <a:off x="8148457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046373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30</a:t>
            </a:r>
            <a:endParaRPr lang="en-US" sz="850" dirty="0"/>
          </a:p>
        </p:txBody>
      </p:sp>
      <p:sp>
        <p:nvSpPr>
          <p:cNvPr id="120" name="Shape 118"/>
          <p:cNvSpPr/>
          <p:nvPr/>
        </p:nvSpPr>
        <p:spPr>
          <a:xfrm>
            <a:off x="8728753" y="4657027"/>
            <a:ext cx="3646" cy="43728"/>
          </a:xfrm>
          <a:prstGeom prst="line">
            <a:avLst/>
          </a:prstGeom>
          <a:noFill/>
          <a:ln w="8255">
            <a:solidFill>
              <a:srgbClr val="0E1114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8626669" y="4693467"/>
            <a:ext cx="204167" cy="160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35</a:t>
            </a:r>
            <a:endParaRPr lang="en-US" sz="850" dirty="0"/>
          </a:p>
        </p:txBody>
      </p:sp>
      <p:sp>
        <p:nvSpPr>
          <p:cNvPr id="122" name="Shape 120"/>
          <p:cNvSpPr/>
          <p:nvPr/>
        </p:nvSpPr>
        <p:spPr>
          <a:xfrm>
            <a:off x="4666678" y="2419613"/>
            <a:ext cx="3646" cy="2237413"/>
          </a:xfrm>
          <a:prstGeom prst="line">
            <a:avLst/>
          </a:prstGeom>
          <a:noFill/>
          <a:ln w="10160">
            <a:solidFill>
              <a:srgbClr val="0E1114"/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4666678" y="4657027"/>
            <a:ext cx="4178135" cy="3644"/>
          </a:xfrm>
          <a:prstGeom prst="line">
            <a:avLst/>
          </a:prstGeom>
          <a:noFill/>
          <a:ln w="10160">
            <a:solidFill>
              <a:srgbClr val="0E1114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404177" y="2142670"/>
            <a:ext cx="787502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平均SINR (dB)</a:t>
            </a:r>
            <a:endParaRPr lang="en-US" sz="850" dirty="0"/>
          </a:p>
        </p:txBody>
      </p:sp>
      <p:sp>
        <p:nvSpPr>
          <p:cNvPr id="125" name="Text 123"/>
          <p:cNvSpPr/>
          <p:nvPr/>
        </p:nvSpPr>
        <p:spPr>
          <a:xfrm>
            <a:off x="6329181" y="4853802"/>
            <a:ext cx="838544" cy="189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时间步</a:t>
            </a:r>
            <a:endParaRPr lang="en-US" sz="1000" dirty="0"/>
          </a:p>
        </p:txBody>
      </p:sp>
      <p:sp>
        <p:nvSpPr>
          <p:cNvPr id="126" name="Shape 124"/>
          <p:cNvSpPr/>
          <p:nvPr/>
        </p:nvSpPr>
        <p:spPr>
          <a:xfrm>
            <a:off x="7831268" y="1967758"/>
            <a:ext cx="320834" cy="3644"/>
          </a:xfrm>
          <a:prstGeom prst="line">
            <a:avLst/>
          </a:prstGeom>
          <a:noFill/>
          <a:ln w="22860">
            <a:solidFill>
              <a:srgbClr val="062B50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217728" y="1851150"/>
            <a:ext cx="62708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Meta-RF</a:t>
            </a:r>
            <a:endParaRPr lang="en-US" sz="1050" dirty="0"/>
          </a:p>
        </p:txBody>
      </p:sp>
      <p:sp>
        <p:nvSpPr>
          <p:cNvPr id="128" name="Shape 126"/>
          <p:cNvSpPr/>
          <p:nvPr/>
        </p:nvSpPr>
        <p:spPr>
          <a:xfrm>
            <a:off x="7831268" y="2200973"/>
            <a:ext cx="80209" cy="3644"/>
          </a:xfrm>
          <a:prstGeom prst="line">
            <a:avLst/>
          </a:prstGeom>
          <a:noFill/>
          <a:ln w="22860">
            <a:solidFill>
              <a:srgbClr val="2F6FB5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7947935" y="2200973"/>
            <a:ext cx="80209" cy="3644"/>
          </a:xfrm>
          <a:prstGeom prst="line">
            <a:avLst/>
          </a:prstGeom>
          <a:noFill/>
          <a:ln w="22860">
            <a:solidFill>
              <a:srgbClr val="2F6FB5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8064602" y="2200973"/>
            <a:ext cx="87500" cy="3644"/>
          </a:xfrm>
          <a:prstGeom prst="line">
            <a:avLst/>
          </a:prstGeom>
          <a:noFill/>
          <a:ln w="22860">
            <a:solidFill>
              <a:srgbClr val="2F6FB5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8217728" y="2084366"/>
            <a:ext cx="627085" cy="233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Pure DRL</a:t>
            </a:r>
            <a:endParaRPr lang="en-US" sz="1050" dirty="0"/>
          </a:p>
        </p:txBody>
      </p:sp>
      <p:sp>
        <p:nvSpPr>
          <p:cNvPr id="132" name="Shape 130"/>
          <p:cNvSpPr/>
          <p:nvPr/>
        </p:nvSpPr>
        <p:spPr>
          <a:xfrm>
            <a:off x="4666678" y="2978967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4666678" y="3342546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4782737" y="2992950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4782737" y="3356530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 flipV="1">
            <a:off x="4898796" y="2978967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 flipV="1">
            <a:off x="4898796" y="3354293"/>
            <a:ext cx="67314" cy="1622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38" name="Shape 136"/>
          <p:cNvSpPr/>
          <p:nvPr/>
        </p:nvSpPr>
        <p:spPr>
          <a:xfrm>
            <a:off x="5014855" y="2978967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5014855" y="3342546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40" name="Shape 138"/>
          <p:cNvSpPr/>
          <p:nvPr/>
        </p:nvSpPr>
        <p:spPr>
          <a:xfrm flipV="1">
            <a:off x="5130915" y="2964983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41" name="Shape 139"/>
          <p:cNvSpPr/>
          <p:nvPr/>
        </p:nvSpPr>
        <p:spPr>
          <a:xfrm>
            <a:off x="5130915" y="3356530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42" name="Shape 140"/>
          <p:cNvSpPr/>
          <p:nvPr/>
        </p:nvSpPr>
        <p:spPr>
          <a:xfrm>
            <a:off x="5246974" y="2964983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246974" y="3370514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44" name="Shape 142"/>
          <p:cNvSpPr/>
          <p:nvPr/>
        </p:nvSpPr>
        <p:spPr>
          <a:xfrm flipV="1">
            <a:off x="5363033" y="2978967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45" name="Shape 143"/>
          <p:cNvSpPr/>
          <p:nvPr/>
        </p:nvSpPr>
        <p:spPr>
          <a:xfrm>
            <a:off x="5363033" y="3384498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46" name="Shape 144"/>
          <p:cNvSpPr/>
          <p:nvPr/>
        </p:nvSpPr>
        <p:spPr>
          <a:xfrm>
            <a:off x="5479093" y="2978967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47" name="Shape 145"/>
          <p:cNvSpPr/>
          <p:nvPr/>
        </p:nvSpPr>
        <p:spPr>
          <a:xfrm>
            <a:off x="5479093" y="3398482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48" name="Shape 146"/>
          <p:cNvSpPr/>
          <p:nvPr/>
        </p:nvSpPr>
        <p:spPr>
          <a:xfrm>
            <a:off x="5595152" y="3006934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49" name="Shape 147"/>
          <p:cNvSpPr/>
          <p:nvPr/>
        </p:nvSpPr>
        <p:spPr>
          <a:xfrm>
            <a:off x="5595152" y="3412465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50" name="Shape 148"/>
          <p:cNvSpPr/>
          <p:nvPr/>
        </p:nvSpPr>
        <p:spPr>
          <a:xfrm>
            <a:off x="5711211" y="3034902"/>
            <a:ext cx="116059" cy="41952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51" name="Shape 149"/>
          <p:cNvSpPr/>
          <p:nvPr/>
        </p:nvSpPr>
        <p:spPr>
          <a:xfrm>
            <a:off x="5711211" y="3426449"/>
            <a:ext cx="67314" cy="3244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52" name="Shape 150"/>
          <p:cNvSpPr/>
          <p:nvPr/>
        </p:nvSpPr>
        <p:spPr>
          <a:xfrm>
            <a:off x="5827271" y="3076853"/>
            <a:ext cx="116059" cy="69919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53" name="Shape 151"/>
          <p:cNvSpPr/>
          <p:nvPr/>
        </p:nvSpPr>
        <p:spPr>
          <a:xfrm>
            <a:off x="5827271" y="3482385"/>
            <a:ext cx="67314" cy="3244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54" name="Shape 152"/>
          <p:cNvSpPr/>
          <p:nvPr/>
        </p:nvSpPr>
        <p:spPr>
          <a:xfrm>
            <a:off x="5943330" y="3146773"/>
            <a:ext cx="116059" cy="111871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55" name="Shape 153"/>
          <p:cNvSpPr/>
          <p:nvPr/>
        </p:nvSpPr>
        <p:spPr>
          <a:xfrm>
            <a:off x="5943330" y="3538320"/>
            <a:ext cx="67314" cy="64885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56" name="Shape 154"/>
          <p:cNvSpPr/>
          <p:nvPr/>
        </p:nvSpPr>
        <p:spPr>
          <a:xfrm>
            <a:off x="6059389" y="3258643"/>
            <a:ext cx="116059" cy="13983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57" name="Shape 155"/>
          <p:cNvSpPr/>
          <p:nvPr/>
        </p:nvSpPr>
        <p:spPr>
          <a:xfrm>
            <a:off x="6059389" y="3650191"/>
            <a:ext cx="67314" cy="81106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58" name="Shape 156"/>
          <p:cNvSpPr/>
          <p:nvPr/>
        </p:nvSpPr>
        <p:spPr>
          <a:xfrm>
            <a:off x="6175448" y="3398482"/>
            <a:ext cx="116059" cy="167806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59" name="Shape 157"/>
          <p:cNvSpPr/>
          <p:nvPr/>
        </p:nvSpPr>
        <p:spPr>
          <a:xfrm>
            <a:off x="6175448" y="3790029"/>
            <a:ext cx="67314" cy="81106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60" name="Shape 158"/>
          <p:cNvSpPr/>
          <p:nvPr/>
        </p:nvSpPr>
        <p:spPr>
          <a:xfrm>
            <a:off x="6291508" y="3566288"/>
            <a:ext cx="116059" cy="111871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61" name="Shape 159"/>
          <p:cNvSpPr/>
          <p:nvPr/>
        </p:nvSpPr>
        <p:spPr>
          <a:xfrm>
            <a:off x="6291508" y="3929867"/>
            <a:ext cx="67314" cy="56774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62" name="Shape 160"/>
          <p:cNvSpPr/>
          <p:nvPr/>
        </p:nvSpPr>
        <p:spPr>
          <a:xfrm>
            <a:off x="6407567" y="3678158"/>
            <a:ext cx="116059" cy="69919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63" name="Shape 161"/>
          <p:cNvSpPr/>
          <p:nvPr/>
        </p:nvSpPr>
        <p:spPr>
          <a:xfrm flipV="1">
            <a:off x="6407567" y="4003422"/>
            <a:ext cx="67314" cy="2433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64" name="Shape 162"/>
          <p:cNvSpPr/>
          <p:nvPr/>
        </p:nvSpPr>
        <p:spPr>
          <a:xfrm>
            <a:off x="6523626" y="3748077"/>
            <a:ext cx="116059" cy="41952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65" name="Shape 163"/>
          <p:cNvSpPr/>
          <p:nvPr/>
        </p:nvSpPr>
        <p:spPr>
          <a:xfrm flipV="1">
            <a:off x="6523626" y="3969581"/>
            <a:ext cx="67314" cy="1622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66" name="Shape 164"/>
          <p:cNvSpPr/>
          <p:nvPr/>
        </p:nvSpPr>
        <p:spPr>
          <a:xfrm>
            <a:off x="6639686" y="3790029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67" name="Shape 165"/>
          <p:cNvSpPr/>
          <p:nvPr/>
        </p:nvSpPr>
        <p:spPr>
          <a:xfrm>
            <a:off x="6639686" y="3957835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68" name="Shape 166"/>
          <p:cNvSpPr/>
          <p:nvPr/>
        </p:nvSpPr>
        <p:spPr>
          <a:xfrm flipV="1">
            <a:off x="6755745" y="3762061"/>
            <a:ext cx="116059" cy="55935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69" name="Shape 167"/>
          <p:cNvSpPr/>
          <p:nvPr/>
        </p:nvSpPr>
        <p:spPr>
          <a:xfrm>
            <a:off x="6755745" y="3971819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70" name="Shape 168"/>
          <p:cNvSpPr/>
          <p:nvPr/>
        </p:nvSpPr>
        <p:spPr>
          <a:xfrm flipV="1">
            <a:off x="6871804" y="3650191"/>
            <a:ext cx="116059" cy="111871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71" name="Shape 169"/>
          <p:cNvSpPr/>
          <p:nvPr/>
        </p:nvSpPr>
        <p:spPr>
          <a:xfrm>
            <a:off x="6871804" y="3985803"/>
            <a:ext cx="67314" cy="1622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72" name="Shape 170"/>
          <p:cNvSpPr/>
          <p:nvPr/>
        </p:nvSpPr>
        <p:spPr>
          <a:xfrm flipV="1">
            <a:off x="6987864" y="3510352"/>
            <a:ext cx="116059" cy="13983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73" name="Shape 171"/>
          <p:cNvSpPr/>
          <p:nvPr/>
        </p:nvSpPr>
        <p:spPr>
          <a:xfrm flipV="1">
            <a:off x="6987864" y="4005660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74" name="Shape 172"/>
          <p:cNvSpPr/>
          <p:nvPr/>
        </p:nvSpPr>
        <p:spPr>
          <a:xfrm flipV="1">
            <a:off x="7103923" y="3356530"/>
            <a:ext cx="116059" cy="153822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75" name="Shape 173"/>
          <p:cNvSpPr/>
          <p:nvPr/>
        </p:nvSpPr>
        <p:spPr>
          <a:xfrm flipV="1">
            <a:off x="7103923" y="3959233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76" name="Shape 174"/>
          <p:cNvSpPr/>
          <p:nvPr/>
        </p:nvSpPr>
        <p:spPr>
          <a:xfrm flipV="1">
            <a:off x="7219982" y="3244659"/>
            <a:ext cx="116059" cy="111871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77" name="Shape 175"/>
          <p:cNvSpPr/>
          <p:nvPr/>
        </p:nvSpPr>
        <p:spPr>
          <a:xfrm flipV="1">
            <a:off x="7219982" y="3864982"/>
            <a:ext cx="67314" cy="64885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78" name="Shape 176"/>
          <p:cNvSpPr/>
          <p:nvPr/>
        </p:nvSpPr>
        <p:spPr>
          <a:xfrm flipV="1">
            <a:off x="7336041" y="3146773"/>
            <a:ext cx="116059" cy="97887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79" name="Shape 177"/>
          <p:cNvSpPr/>
          <p:nvPr/>
        </p:nvSpPr>
        <p:spPr>
          <a:xfrm flipV="1">
            <a:off x="7336041" y="3777443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80" name="Shape 178"/>
          <p:cNvSpPr/>
          <p:nvPr/>
        </p:nvSpPr>
        <p:spPr>
          <a:xfrm flipV="1">
            <a:off x="7452101" y="3104821"/>
            <a:ext cx="116059" cy="41952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81" name="Shape 179"/>
          <p:cNvSpPr/>
          <p:nvPr/>
        </p:nvSpPr>
        <p:spPr>
          <a:xfrm flipV="1">
            <a:off x="7452101" y="3707524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82" name="Shape 180"/>
          <p:cNvSpPr/>
          <p:nvPr/>
        </p:nvSpPr>
        <p:spPr>
          <a:xfrm flipV="1">
            <a:off x="7568160" y="3062870"/>
            <a:ext cx="116059" cy="41952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83" name="Shape 181"/>
          <p:cNvSpPr/>
          <p:nvPr/>
        </p:nvSpPr>
        <p:spPr>
          <a:xfrm flipV="1">
            <a:off x="7568160" y="3637605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84" name="Shape 182"/>
          <p:cNvSpPr/>
          <p:nvPr/>
        </p:nvSpPr>
        <p:spPr>
          <a:xfrm flipV="1">
            <a:off x="7684219" y="3020918"/>
            <a:ext cx="116059" cy="41952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85" name="Shape 183"/>
          <p:cNvSpPr/>
          <p:nvPr/>
        </p:nvSpPr>
        <p:spPr>
          <a:xfrm flipV="1">
            <a:off x="7684219" y="3567686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86" name="Shape 184"/>
          <p:cNvSpPr/>
          <p:nvPr/>
        </p:nvSpPr>
        <p:spPr>
          <a:xfrm flipV="1">
            <a:off x="7800279" y="2992950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87" name="Shape 185"/>
          <p:cNvSpPr/>
          <p:nvPr/>
        </p:nvSpPr>
        <p:spPr>
          <a:xfrm flipV="1">
            <a:off x="7800279" y="3497767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88" name="Shape 186"/>
          <p:cNvSpPr/>
          <p:nvPr/>
        </p:nvSpPr>
        <p:spPr>
          <a:xfrm flipV="1">
            <a:off x="7916338" y="2978967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89" name="Shape 187"/>
          <p:cNvSpPr/>
          <p:nvPr/>
        </p:nvSpPr>
        <p:spPr>
          <a:xfrm flipV="1">
            <a:off x="7916338" y="3427848"/>
            <a:ext cx="67314" cy="40553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90" name="Shape 188"/>
          <p:cNvSpPr/>
          <p:nvPr/>
        </p:nvSpPr>
        <p:spPr>
          <a:xfrm flipV="1">
            <a:off x="8032397" y="2964983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91" name="Shape 189"/>
          <p:cNvSpPr/>
          <p:nvPr/>
        </p:nvSpPr>
        <p:spPr>
          <a:xfrm flipV="1">
            <a:off x="8032397" y="3366039"/>
            <a:ext cx="67314" cy="3244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92" name="Shape 190"/>
          <p:cNvSpPr/>
          <p:nvPr/>
        </p:nvSpPr>
        <p:spPr>
          <a:xfrm flipV="1">
            <a:off x="8148457" y="2950999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93" name="Shape 191"/>
          <p:cNvSpPr/>
          <p:nvPr/>
        </p:nvSpPr>
        <p:spPr>
          <a:xfrm flipV="1">
            <a:off x="8148457" y="3310104"/>
            <a:ext cx="67314" cy="3244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94" name="Shape 192"/>
          <p:cNvSpPr/>
          <p:nvPr/>
        </p:nvSpPr>
        <p:spPr>
          <a:xfrm flipV="1">
            <a:off x="8264516" y="2937015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95" name="Shape 193"/>
          <p:cNvSpPr/>
          <p:nvPr/>
        </p:nvSpPr>
        <p:spPr>
          <a:xfrm flipV="1">
            <a:off x="8264516" y="3262279"/>
            <a:ext cx="67314" cy="2433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96" name="Shape 194"/>
          <p:cNvSpPr/>
          <p:nvPr/>
        </p:nvSpPr>
        <p:spPr>
          <a:xfrm>
            <a:off x="8380575" y="2937015"/>
            <a:ext cx="116059" cy="27968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97" name="Shape 195"/>
          <p:cNvSpPr/>
          <p:nvPr/>
        </p:nvSpPr>
        <p:spPr>
          <a:xfrm flipV="1">
            <a:off x="8380575" y="3212217"/>
            <a:ext cx="67314" cy="3244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198" name="Shape 196"/>
          <p:cNvSpPr/>
          <p:nvPr/>
        </p:nvSpPr>
        <p:spPr>
          <a:xfrm flipV="1">
            <a:off x="8496634" y="2950999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199" name="Shape 197"/>
          <p:cNvSpPr/>
          <p:nvPr/>
        </p:nvSpPr>
        <p:spPr>
          <a:xfrm flipV="1">
            <a:off x="8496634" y="3156282"/>
            <a:ext cx="67314" cy="32442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200" name="Shape 198"/>
          <p:cNvSpPr/>
          <p:nvPr/>
        </p:nvSpPr>
        <p:spPr>
          <a:xfrm flipV="1">
            <a:off x="8612694" y="2937015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201" name="Shape 199"/>
          <p:cNvSpPr/>
          <p:nvPr/>
        </p:nvSpPr>
        <p:spPr>
          <a:xfrm>
            <a:off x="8612694" y="3132789"/>
            <a:ext cx="67314" cy="3644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202" name="Shape 200"/>
          <p:cNvSpPr/>
          <p:nvPr/>
        </p:nvSpPr>
        <p:spPr>
          <a:xfrm>
            <a:off x="8728753" y="2937015"/>
            <a:ext cx="116059" cy="13984"/>
          </a:xfrm>
          <a:prstGeom prst="line">
            <a:avLst/>
          </a:prstGeom>
          <a:noFill/>
          <a:ln w="19685">
            <a:solidFill>
              <a:srgbClr val="062B50"/>
            </a:solidFill>
            <a:prstDash val="solid"/>
          </a:ln>
        </p:spPr>
      </p:sp>
      <p:sp>
        <p:nvSpPr>
          <p:cNvPr id="203" name="Shape 201"/>
          <p:cNvSpPr/>
          <p:nvPr/>
        </p:nvSpPr>
        <p:spPr>
          <a:xfrm flipV="1">
            <a:off x="8728753" y="3124678"/>
            <a:ext cx="67314" cy="8111"/>
          </a:xfrm>
          <a:prstGeom prst="line">
            <a:avLst/>
          </a:prstGeom>
          <a:noFill/>
          <a:ln w="18415">
            <a:solidFill>
              <a:srgbClr val="2F6FB5"/>
            </a:solidFill>
            <a:prstDash val="solid"/>
          </a:ln>
        </p:spPr>
      </p:sp>
      <p:sp>
        <p:nvSpPr>
          <p:cNvPr id="204" name="Shape 202"/>
          <p:cNvSpPr/>
          <p:nvPr/>
        </p:nvSpPr>
        <p:spPr>
          <a:xfrm>
            <a:off x="6407567" y="2120806"/>
            <a:ext cx="3646" cy="2536221"/>
          </a:xfrm>
          <a:prstGeom prst="line">
            <a:avLst/>
          </a:prstGeom>
          <a:noFill/>
          <a:ln w="10160">
            <a:solidFill>
              <a:srgbClr val="B51618"/>
            </a:solidFill>
            <a:prstDash val="solid"/>
          </a:ln>
        </p:spPr>
      </p:sp>
      <p:sp>
        <p:nvSpPr>
          <p:cNvPr id="205" name="Text 203"/>
          <p:cNvSpPr/>
          <p:nvPr/>
        </p:nvSpPr>
        <p:spPr>
          <a:xfrm>
            <a:off x="5649232" y="1873014"/>
            <a:ext cx="1516670" cy="262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516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第15步随机跳频</a:t>
            </a:r>
            <a:endParaRPr lang="en-US" sz="1200" dirty="0"/>
          </a:p>
        </p:txBody>
      </p:sp>
      <p:sp>
        <p:nvSpPr>
          <p:cNvPr id="206" name="Text 204"/>
          <p:cNvSpPr/>
          <p:nvPr/>
        </p:nvSpPr>
        <p:spPr>
          <a:xfrm>
            <a:off x="4776053" y="2667405"/>
            <a:ext cx="670835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+2.0 dB</a:t>
            </a:r>
            <a:endParaRPr lang="en-US" sz="1150" dirty="0"/>
          </a:p>
        </p:txBody>
      </p:sp>
      <p:sp>
        <p:nvSpPr>
          <p:cNvPr id="207" name="Text 205"/>
          <p:cNvSpPr/>
          <p:nvPr/>
        </p:nvSpPr>
        <p:spPr>
          <a:xfrm>
            <a:off x="4776053" y="3410780"/>
            <a:ext cx="670835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−0.5 dB</a:t>
            </a:r>
            <a:endParaRPr lang="en-US" sz="1150" dirty="0"/>
          </a:p>
        </p:txBody>
      </p:sp>
      <p:sp>
        <p:nvSpPr>
          <p:cNvPr id="208" name="Text 206"/>
          <p:cNvSpPr/>
          <p:nvPr/>
        </p:nvSpPr>
        <p:spPr>
          <a:xfrm>
            <a:off x="6423973" y="3797044"/>
            <a:ext cx="656252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−4.0 dB</a:t>
            </a:r>
            <a:endParaRPr lang="en-US" sz="1150" dirty="0"/>
          </a:p>
        </p:txBody>
      </p:sp>
      <p:sp>
        <p:nvSpPr>
          <p:cNvPr id="209" name="Text 207"/>
          <p:cNvSpPr/>
          <p:nvPr/>
        </p:nvSpPr>
        <p:spPr>
          <a:xfrm>
            <a:off x="6496890" y="4168731"/>
            <a:ext cx="656252" cy="204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−5.5 dB</a:t>
            </a:r>
            <a:endParaRPr lang="en-US" sz="1150" dirty="0"/>
          </a:p>
        </p:txBody>
      </p:sp>
      <p:sp>
        <p:nvSpPr>
          <p:cNvPr id="210" name="Shape 208"/>
          <p:cNvSpPr/>
          <p:nvPr/>
        </p:nvSpPr>
        <p:spPr>
          <a:xfrm>
            <a:off x="6755745" y="2966213"/>
            <a:ext cx="3646" cy="1056759"/>
          </a:xfrm>
          <a:prstGeom prst="line">
            <a:avLst/>
          </a:prstGeom>
          <a:noFill/>
          <a:ln w="9525">
            <a:solidFill>
              <a:srgbClr val="062B50"/>
            </a:solidFill>
            <a:prstDash val="solid"/>
          </a:ln>
        </p:spPr>
      </p:sp>
      <p:sp>
        <p:nvSpPr>
          <p:cNvPr id="211" name="Shape 209"/>
          <p:cNvSpPr/>
          <p:nvPr/>
        </p:nvSpPr>
        <p:spPr>
          <a:xfrm>
            <a:off x="7336041" y="2966213"/>
            <a:ext cx="3646" cy="1056759"/>
          </a:xfrm>
          <a:prstGeom prst="line">
            <a:avLst/>
          </a:prstGeom>
          <a:noFill/>
          <a:ln w="9525">
            <a:solidFill>
              <a:srgbClr val="062B50"/>
            </a:solidFill>
            <a:prstDash val="solid"/>
          </a:ln>
        </p:spPr>
      </p:sp>
      <p:sp>
        <p:nvSpPr>
          <p:cNvPr id="212" name="Shape 210"/>
          <p:cNvSpPr/>
          <p:nvPr/>
        </p:nvSpPr>
        <p:spPr>
          <a:xfrm>
            <a:off x="6755745" y="3090108"/>
            <a:ext cx="580296" cy="3644"/>
          </a:xfrm>
          <a:prstGeom prst="line">
            <a:avLst/>
          </a:prstGeom>
          <a:noFill/>
          <a:ln w="12700">
            <a:solidFill>
              <a:srgbClr val="062B50"/>
            </a:solidFill>
            <a:prstDash val="solid"/>
          </a:ln>
        </p:spPr>
      </p:sp>
      <p:sp>
        <p:nvSpPr>
          <p:cNvPr id="213" name="Text 211"/>
          <p:cNvSpPr/>
          <p:nvPr/>
        </p:nvSpPr>
        <p:spPr>
          <a:xfrm>
            <a:off x="6883410" y="2827741"/>
            <a:ext cx="510418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5步</a:t>
            </a:r>
            <a:endParaRPr lang="en-US" sz="1250" dirty="0"/>
          </a:p>
        </p:txBody>
      </p:sp>
      <p:sp>
        <p:nvSpPr>
          <p:cNvPr id="214" name="Shape 212"/>
          <p:cNvSpPr/>
          <p:nvPr/>
        </p:nvSpPr>
        <p:spPr>
          <a:xfrm>
            <a:off x="7336041" y="3250444"/>
            <a:ext cx="3646" cy="1064047"/>
          </a:xfrm>
          <a:prstGeom prst="line">
            <a:avLst/>
          </a:prstGeom>
          <a:noFill/>
          <a:ln w="9525">
            <a:solidFill>
              <a:srgbClr val="2F6FB5"/>
            </a:solidFill>
            <a:prstDash val="solid"/>
          </a:ln>
        </p:spPr>
      </p:sp>
      <p:sp>
        <p:nvSpPr>
          <p:cNvPr id="215" name="Shape 213"/>
          <p:cNvSpPr/>
          <p:nvPr/>
        </p:nvSpPr>
        <p:spPr>
          <a:xfrm>
            <a:off x="8496634" y="3250444"/>
            <a:ext cx="3646" cy="1064047"/>
          </a:xfrm>
          <a:prstGeom prst="line">
            <a:avLst/>
          </a:prstGeom>
          <a:noFill/>
          <a:ln w="9525">
            <a:solidFill>
              <a:srgbClr val="2F6FB5"/>
            </a:solidFill>
            <a:prstDash val="solid"/>
          </a:ln>
        </p:spPr>
      </p:sp>
      <p:sp>
        <p:nvSpPr>
          <p:cNvPr id="216" name="Shape 214"/>
          <p:cNvSpPr/>
          <p:nvPr/>
        </p:nvSpPr>
        <p:spPr>
          <a:xfrm>
            <a:off x="7336041" y="4139579"/>
            <a:ext cx="1160593" cy="3644"/>
          </a:xfrm>
          <a:prstGeom prst="line">
            <a:avLst/>
          </a:prstGeom>
          <a:noFill/>
          <a:ln w="12700">
            <a:solidFill>
              <a:srgbClr val="2F6FB5"/>
            </a:solidFill>
            <a:prstDash val="solid"/>
          </a:ln>
        </p:spPr>
      </p:sp>
      <p:sp>
        <p:nvSpPr>
          <p:cNvPr id="217" name="Text 215"/>
          <p:cNvSpPr/>
          <p:nvPr/>
        </p:nvSpPr>
        <p:spPr>
          <a:xfrm>
            <a:off x="7742249" y="3877211"/>
            <a:ext cx="583335" cy="225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8步</a:t>
            </a:r>
            <a:endParaRPr lang="en-US" sz="1250" dirty="0"/>
          </a:p>
        </p:txBody>
      </p:sp>
      <p:sp>
        <p:nvSpPr>
          <p:cNvPr id="218" name="Shape 216"/>
          <p:cNvSpPr/>
          <p:nvPr/>
        </p:nvSpPr>
        <p:spPr>
          <a:xfrm>
            <a:off x="4469802" y="5087018"/>
            <a:ext cx="1130211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19" name="Shape 217"/>
          <p:cNvSpPr/>
          <p:nvPr/>
        </p:nvSpPr>
        <p:spPr>
          <a:xfrm>
            <a:off x="5600013" y="5087018"/>
            <a:ext cx="1173961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0" name="Shape 218"/>
          <p:cNvSpPr/>
          <p:nvPr/>
        </p:nvSpPr>
        <p:spPr>
          <a:xfrm>
            <a:off x="6773974" y="5087018"/>
            <a:ext cx="1101044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1" name="Shape 219"/>
          <p:cNvSpPr/>
          <p:nvPr/>
        </p:nvSpPr>
        <p:spPr>
          <a:xfrm>
            <a:off x="7875018" y="5087018"/>
            <a:ext cx="1013544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2" name="Shape 220"/>
          <p:cNvSpPr/>
          <p:nvPr/>
        </p:nvSpPr>
        <p:spPr>
          <a:xfrm>
            <a:off x="4469802" y="5385826"/>
            <a:ext cx="1130211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3" name="Shape 221"/>
          <p:cNvSpPr/>
          <p:nvPr/>
        </p:nvSpPr>
        <p:spPr>
          <a:xfrm>
            <a:off x="5600013" y="5385826"/>
            <a:ext cx="1173961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4" name="Shape 222"/>
          <p:cNvSpPr/>
          <p:nvPr/>
        </p:nvSpPr>
        <p:spPr>
          <a:xfrm>
            <a:off x="6773974" y="5385826"/>
            <a:ext cx="1101044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5" name="Shape 223"/>
          <p:cNvSpPr/>
          <p:nvPr/>
        </p:nvSpPr>
        <p:spPr>
          <a:xfrm>
            <a:off x="7875018" y="5385826"/>
            <a:ext cx="1013544" cy="298808"/>
          </a:xfrm>
          <a:prstGeom prst="rect">
            <a:avLst/>
          </a:prstGeom>
          <a:solidFill>
            <a:srgbClr val="FCFAF5">
              <a:alpha val="0"/>
            </a:srgbClr>
          </a:solidFill>
          <a:ln w="7620">
            <a:solidFill>
              <a:srgbClr val="4E6176"/>
            </a:solidFill>
            <a:prstDash val="solid"/>
          </a:ln>
        </p:spPr>
      </p:sp>
      <p:sp>
        <p:nvSpPr>
          <p:cNvPr id="226" name="Text 224"/>
          <p:cNvSpPr/>
          <p:nvPr/>
        </p:nvSpPr>
        <p:spPr>
          <a:xfrm>
            <a:off x="4513552" y="5087018"/>
            <a:ext cx="1042711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━  Meta-RF</a:t>
            </a:r>
            <a:endParaRPr lang="en-US" sz="950" dirty="0"/>
          </a:p>
        </p:txBody>
      </p:sp>
      <p:sp>
        <p:nvSpPr>
          <p:cNvPr id="227" name="Text 225"/>
          <p:cNvSpPr/>
          <p:nvPr/>
        </p:nvSpPr>
        <p:spPr>
          <a:xfrm>
            <a:off x="5643763" y="5087018"/>
            <a:ext cx="1086461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突变前：+2.0 dB</a:t>
            </a:r>
            <a:endParaRPr lang="en-US" sz="950" dirty="0"/>
          </a:p>
        </p:txBody>
      </p:sp>
      <p:sp>
        <p:nvSpPr>
          <p:cNvPr id="228" name="Text 226"/>
          <p:cNvSpPr/>
          <p:nvPr/>
        </p:nvSpPr>
        <p:spPr>
          <a:xfrm>
            <a:off x="6817724" y="5087018"/>
            <a:ext cx="1013544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最低点：−4.0 dB</a:t>
            </a:r>
            <a:endParaRPr lang="en-US" sz="950" dirty="0"/>
          </a:p>
        </p:txBody>
      </p:sp>
      <p:sp>
        <p:nvSpPr>
          <p:cNvPr id="229" name="Text 227"/>
          <p:cNvSpPr/>
          <p:nvPr/>
        </p:nvSpPr>
        <p:spPr>
          <a:xfrm>
            <a:off x="7918769" y="5087018"/>
            <a:ext cx="926044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恢复约：5步</a:t>
            </a:r>
            <a:endParaRPr lang="en-US" sz="950" dirty="0"/>
          </a:p>
        </p:txBody>
      </p:sp>
      <p:sp>
        <p:nvSpPr>
          <p:cNvPr id="230" name="Text 228"/>
          <p:cNvSpPr/>
          <p:nvPr/>
        </p:nvSpPr>
        <p:spPr>
          <a:xfrm>
            <a:off x="4513552" y="5385826"/>
            <a:ext cx="1042711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┄  Pure DRL</a:t>
            </a:r>
            <a:endParaRPr lang="en-US" sz="950" dirty="0"/>
          </a:p>
        </p:txBody>
      </p:sp>
      <p:sp>
        <p:nvSpPr>
          <p:cNvPr id="231" name="Text 229"/>
          <p:cNvSpPr/>
          <p:nvPr/>
        </p:nvSpPr>
        <p:spPr>
          <a:xfrm>
            <a:off x="5643763" y="5385826"/>
            <a:ext cx="1086461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突变前：−0.5 dB</a:t>
            </a:r>
            <a:endParaRPr lang="en-US" sz="950" dirty="0"/>
          </a:p>
        </p:txBody>
      </p:sp>
      <p:sp>
        <p:nvSpPr>
          <p:cNvPr id="232" name="Text 230"/>
          <p:cNvSpPr/>
          <p:nvPr/>
        </p:nvSpPr>
        <p:spPr>
          <a:xfrm>
            <a:off x="6817724" y="5385826"/>
            <a:ext cx="1013544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最低点：−5.5 dB</a:t>
            </a:r>
            <a:endParaRPr lang="en-US" sz="950" dirty="0"/>
          </a:p>
        </p:txBody>
      </p:sp>
      <p:sp>
        <p:nvSpPr>
          <p:cNvPr id="233" name="Text 231"/>
          <p:cNvSpPr/>
          <p:nvPr/>
        </p:nvSpPr>
        <p:spPr>
          <a:xfrm>
            <a:off x="7918769" y="5385826"/>
            <a:ext cx="926044" cy="298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F6FB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恢复约：8步</a:t>
            </a:r>
            <a:endParaRPr lang="en-US" sz="950" dirty="0"/>
          </a:p>
        </p:txBody>
      </p:sp>
      <p:sp>
        <p:nvSpPr>
          <p:cNvPr id="234" name="Shape 232"/>
          <p:cNvSpPr/>
          <p:nvPr/>
        </p:nvSpPr>
        <p:spPr>
          <a:xfrm>
            <a:off x="9245855" y="1931318"/>
            <a:ext cx="2544798" cy="1042183"/>
          </a:xfrm>
          <a:prstGeom prst="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062B50"/>
            </a:solidFill>
            <a:prstDash val="solid"/>
          </a:ln>
        </p:spPr>
      </p:sp>
      <p:sp>
        <p:nvSpPr>
          <p:cNvPr id="235" name="Text 233"/>
          <p:cNvSpPr/>
          <p:nvPr/>
        </p:nvSpPr>
        <p:spPr>
          <a:xfrm>
            <a:off x="9420855" y="2033350"/>
            <a:ext cx="2187505" cy="59032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+5.1 dB</a:t>
            </a:r>
            <a:endParaRPr lang="en-US" sz="3400" dirty="0"/>
          </a:p>
        </p:txBody>
      </p:sp>
      <p:sp>
        <p:nvSpPr>
          <p:cNvPr id="236" name="Text 234"/>
          <p:cNvSpPr/>
          <p:nvPr/>
        </p:nvSpPr>
        <p:spPr>
          <a:xfrm>
            <a:off x="9406272" y="2623677"/>
            <a:ext cx="2223964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Meta-RF相对Pure DRL</a:t>
            </a:r>
            <a:endParaRPr lang="en-US" sz="1400" dirty="0"/>
          </a:p>
        </p:txBody>
      </p:sp>
      <p:sp>
        <p:nvSpPr>
          <p:cNvPr id="237" name="Shape 235"/>
          <p:cNvSpPr/>
          <p:nvPr/>
        </p:nvSpPr>
        <p:spPr>
          <a:xfrm>
            <a:off x="9245855" y="3075532"/>
            <a:ext cx="2544798" cy="1034895"/>
          </a:xfrm>
          <a:prstGeom prst="rect">
            <a:avLst/>
          </a:prstGeom>
          <a:solidFill>
            <a:srgbClr val="FCFAF5">
              <a:alpha val="0"/>
            </a:srgbClr>
          </a:solidFill>
          <a:ln w="11430">
            <a:solidFill>
              <a:srgbClr val="062B50"/>
            </a:solidFill>
            <a:prstDash val="solid"/>
          </a:ln>
        </p:spPr>
      </p:sp>
      <p:sp>
        <p:nvSpPr>
          <p:cNvPr id="238" name="Text 236"/>
          <p:cNvSpPr/>
          <p:nvPr/>
        </p:nvSpPr>
        <p:spPr>
          <a:xfrm>
            <a:off x="9428147" y="3148412"/>
            <a:ext cx="2187505" cy="5684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37.5 %</a:t>
            </a:r>
            <a:endParaRPr lang="en-US" sz="3400" dirty="0"/>
          </a:p>
        </p:txBody>
      </p:sp>
      <p:sp>
        <p:nvSpPr>
          <p:cNvPr id="239" name="Text 237"/>
          <p:cNvSpPr/>
          <p:nvPr/>
        </p:nvSpPr>
        <p:spPr>
          <a:xfrm>
            <a:off x="9428147" y="3716876"/>
            <a:ext cx="2187505" cy="276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40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恢复步数减少</a:t>
            </a:r>
            <a:endParaRPr lang="en-US" sz="1400" dirty="0"/>
          </a:p>
        </p:txBody>
      </p:sp>
      <p:sp>
        <p:nvSpPr>
          <p:cNvPr id="240" name="Shape 238"/>
          <p:cNvSpPr/>
          <p:nvPr/>
        </p:nvSpPr>
        <p:spPr>
          <a:xfrm>
            <a:off x="9245855" y="4234323"/>
            <a:ext cx="2544798" cy="1129639"/>
          </a:xfrm>
          <a:prstGeom prst="rect">
            <a:avLst/>
          </a:prstGeom>
          <a:solidFill>
            <a:srgbClr val="FFF8E8"/>
          </a:solidFill>
          <a:ln w="11430">
            <a:solidFill>
              <a:srgbClr val="C87900"/>
            </a:solidFill>
            <a:prstDash val="solid"/>
          </a:ln>
        </p:spPr>
      </p:sp>
      <p:sp>
        <p:nvSpPr>
          <p:cNvPr id="241" name="Text 239"/>
          <p:cNvSpPr/>
          <p:nvPr/>
        </p:nvSpPr>
        <p:spPr>
          <a:xfrm>
            <a:off x="9333355" y="4292627"/>
            <a:ext cx="991669" cy="50287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2700" b="1" dirty="0">
                <a:solidFill>
                  <a:srgbClr val="C87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99.6</a:t>
            </a:r>
            <a:endParaRPr lang="en-US" sz="2700" dirty="0"/>
          </a:p>
        </p:txBody>
      </p:sp>
      <p:sp>
        <p:nvSpPr>
          <p:cNvPr id="242" name="Text 240"/>
          <p:cNvSpPr/>
          <p:nvPr/>
        </p:nvSpPr>
        <p:spPr>
          <a:xfrm>
            <a:off x="10346899" y="4401947"/>
            <a:ext cx="357293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C8790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ms</a:t>
            </a:r>
            <a:endParaRPr lang="en-US" sz="1700" dirty="0"/>
          </a:p>
        </p:txBody>
      </p:sp>
      <p:sp>
        <p:nvSpPr>
          <p:cNvPr id="243" name="Shape 241"/>
          <p:cNvSpPr/>
          <p:nvPr/>
        </p:nvSpPr>
        <p:spPr>
          <a:xfrm>
            <a:off x="9362522" y="4853802"/>
            <a:ext cx="2304172" cy="3644"/>
          </a:xfrm>
          <a:prstGeom prst="line">
            <a:avLst/>
          </a:prstGeom>
          <a:noFill/>
          <a:ln w="11430">
            <a:solidFill>
              <a:srgbClr val="C87900"/>
            </a:solidFill>
            <a:prstDash val="solid"/>
          </a:ln>
        </p:spPr>
      </p:sp>
      <p:sp>
        <p:nvSpPr>
          <p:cNvPr id="244" name="Shape 242"/>
          <p:cNvSpPr/>
          <p:nvPr/>
        </p:nvSpPr>
        <p:spPr>
          <a:xfrm>
            <a:off x="10762525" y="4380083"/>
            <a:ext cx="3646" cy="357112"/>
          </a:xfrm>
          <a:prstGeom prst="line">
            <a:avLst/>
          </a:prstGeom>
          <a:noFill/>
          <a:ln w="8890">
            <a:solidFill>
              <a:srgbClr val="C87900"/>
            </a:solidFill>
            <a:prstDash val="solid"/>
          </a:ln>
        </p:spPr>
      </p:sp>
      <p:sp>
        <p:nvSpPr>
          <p:cNvPr id="245" name="Text 243"/>
          <p:cNvSpPr/>
          <p:nvPr/>
        </p:nvSpPr>
        <p:spPr>
          <a:xfrm>
            <a:off x="10813567" y="4401947"/>
            <a:ext cx="882294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当前仿真实现耗时</a:t>
            </a:r>
            <a:endParaRPr lang="en-US" sz="850" dirty="0"/>
          </a:p>
        </p:txBody>
      </p:sp>
      <p:sp>
        <p:nvSpPr>
          <p:cNvPr id="246" name="Text 244"/>
          <p:cNvSpPr/>
          <p:nvPr/>
        </p:nvSpPr>
        <p:spPr>
          <a:xfrm>
            <a:off x="9384397" y="4948546"/>
            <a:ext cx="2267714" cy="3060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B51618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尚未满足50 μs工程时延</a:t>
            </a:r>
            <a:endParaRPr lang="en-US" sz="1550" dirty="0"/>
          </a:p>
        </p:txBody>
      </p:sp>
      <p:sp>
        <p:nvSpPr>
          <p:cNvPr id="247" name="Shape 245"/>
          <p:cNvSpPr/>
          <p:nvPr/>
        </p:nvSpPr>
        <p:spPr>
          <a:xfrm>
            <a:off x="9187522" y="5451418"/>
            <a:ext cx="2661465" cy="306096"/>
          </a:xfrm>
          <a:prstGeom prst="rect">
            <a:avLst/>
          </a:prstGeom>
          <a:solidFill>
            <a:srgbClr val="F2F2EF"/>
          </a:solidFill>
          <a:ln w="8890">
            <a:solidFill>
              <a:srgbClr val="9A9A96"/>
            </a:solidFill>
            <a:prstDash val="solid"/>
          </a:ln>
        </p:spPr>
      </p:sp>
      <p:pic>
        <p:nvPicPr>
          <p:cNvPr id="248" name="Image 0" descr="caveat_inf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5855" y="5473282"/>
            <a:ext cx="277084" cy="276944"/>
          </a:xfrm>
          <a:prstGeom prst="rect">
            <a:avLst/>
          </a:prstGeom>
        </p:spPr>
      </p:pic>
      <p:sp>
        <p:nvSpPr>
          <p:cNvPr id="249" name="Text 246"/>
          <p:cNvSpPr/>
          <p:nvPr/>
        </p:nvSpPr>
        <p:spPr>
          <a:xfrm>
            <a:off x="9552106" y="5465994"/>
            <a:ext cx="2216672" cy="269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70" dirty="0">
                <a:solidFill>
                  <a:srgbClr val="0E11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耗时采用专利说明书中的保守口径</a:t>
            </a:r>
            <a:endParaRPr lang="en-US" sz="970" dirty="0"/>
          </a:p>
        </p:txBody>
      </p:sp>
      <p:sp>
        <p:nvSpPr>
          <p:cNvPr id="250" name="Shape 247"/>
          <p:cNvSpPr/>
          <p:nvPr/>
        </p:nvSpPr>
        <p:spPr>
          <a:xfrm>
            <a:off x="182292" y="5961577"/>
            <a:ext cx="11797944" cy="655919"/>
          </a:xfrm>
          <a:prstGeom prst="round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pic>
        <p:nvPicPr>
          <p:cNvPr id="251" name="Image 1" descr="conclusion_check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2502" y="6056321"/>
            <a:ext cx="473959" cy="466431"/>
          </a:xfrm>
          <a:prstGeom prst="rect">
            <a:avLst/>
          </a:prstGeom>
        </p:spPr>
      </p:pic>
      <p:sp>
        <p:nvSpPr>
          <p:cNvPr id="252" name="Text 248"/>
          <p:cNvSpPr/>
          <p:nvPr/>
        </p:nvSpPr>
        <p:spPr>
          <a:xfrm>
            <a:off x="1604170" y="6049033"/>
            <a:ext cx="9479189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算法有效性已形成证据闭环，后续重点是实时化、鲁棒性与部署验证</a:t>
            </a:r>
            <a:endParaRPr lang="en-US" sz="2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/>
          <p:nvPr/>
        </p:nvSpPr>
        <p:spPr>
          <a:xfrm>
            <a:off x="145834" y="72880"/>
            <a:ext cx="350001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10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3266674" y="102032"/>
            <a:ext cx="5651055" cy="3352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基于分层强化学习的FMCW雷达抗干扰策略优化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135440" y="102032"/>
            <a:ext cx="1801046" cy="3206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计划与进度安排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5625" y="466431"/>
            <a:ext cx="12053153" cy="29152"/>
          </a:xfrm>
          <a:prstGeom prst="rect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6255" y="736087"/>
            <a:ext cx="8071894" cy="44456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实验闭环已经完成，当前任务是沉淀论文并完成答辩验收</a:t>
            </a:r>
            <a:endParaRPr lang="en-US" sz="2500" dirty="0"/>
          </a:p>
        </p:txBody>
      </p:sp>
      <p:sp>
        <p:nvSpPr>
          <p:cNvPr id="9" name="Text 7"/>
          <p:cNvSpPr/>
          <p:nvPr/>
        </p:nvSpPr>
        <p:spPr>
          <a:xfrm>
            <a:off x="3222924" y="1268111"/>
            <a:ext cx="5760430" cy="3425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D5055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研究工作由算法验证阶段转入成果固化与答辩交付阶段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4793" y="2193685"/>
            <a:ext cx="11265651" cy="3381628"/>
          </a:xfrm>
          <a:prstGeom prst="roundRect">
            <a:avLst/>
          </a:prstGeom>
          <a:solidFill>
            <a:srgbClr val="EDF3F8"/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4793" y="2193685"/>
            <a:ext cx="3806259" cy="3381628"/>
          </a:xfrm>
          <a:prstGeom prst="roundRect">
            <a:avLst/>
          </a:prstGeom>
          <a:solidFill>
            <a:srgbClr val="E4EDF6">
              <a:alpha val="82000"/>
            </a:srgbClr>
          </a:solidFill>
          <a:ln w="12700">
            <a:solidFill>
              <a:srgbClr val="E4EDF6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35426" y="2193685"/>
            <a:ext cx="4229177" cy="3381628"/>
          </a:xfrm>
          <a:prstGeom prst="roundRect">
            <a:avLst/>
          </a:prstGeom>
          <a:solidFill>
            <a:srgbClr val="EDF3F8">
              <a:alpha val="85000"/>
            </a:srgbClr>
          </a:solidFill>
          <a:ln w="12700">
            <a:solidFill>
              <a:srgbClr val="EDF3F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21893" y="2193685"/>
            <a:ext cx="3988551" cy="3381628"/>
          </a:xfrm>
          <a:prstGeom prst="roundRect">
            <a:avLst/>
          </a:prstGeom>
          <a:solidFill>
            <a:srgbClr val="E8F0F7">
              <a:alpha val="85000"/>
            </a:srgbClr>
          </a:solidFill>
          <a:ln w="12700">
            <a:solidFill>
              <a:srgbClr val="E8F0F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05215" y="2222837"/>
            <a:ext cx="2318755" cy="3644"/>
          </a:xfrm>
          <a:prstGeom prst="line">
            <a:avLst/>
          </a:prstGeom>
          <a:noFill/>
          <a:ln w="69850">
            <a:solidFill>
              <a:srgbClr val="A7AFB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4958345" y="2113518"/>
            <a:ext cx="226042" cy="225928"/>
          </a:xfrm>
          <a:prstGeom prst="triangle">
            <a:avLst/>
          </a:prstGeom>
          <a:solidFill>
            <a:srgbClr val="A7AFB8"/>
          </a:solidFill>
          <a:ln w="12700">
            <a:solidFill>
              <a:srgbClr val="A7AFB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57307" y="2222837"/>
            <a:ext cx="2238547" cy="3644"/>
          </a:xfrm>
          <a:prstGeom prst="line">
            <a:avLst/>
          </a:prstGeom>
          <a:noFill/>
          <a:ln w="69850">
            <a:solidFill>
              <a:srgbClr val="A7AFB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8822937" y="2113518"/>
            <a:ext cx="226042" cy="225928"/>
          </a:xfrm>
          <a:prstGeom prst="triangle">
            <a:avLst/>
          </a:prstGeom>
          <a:solidFill>
            <a:srgbClr val="A7AFB8"/>
          </a:solidFill>
          <a:ln w="12700">
            <a:solidFill>
              <a:srgbClr val="A7AFB8">
                <a:alpha val="0"/>
              </a:srgbClr>
            </a:solidFill>
            <a:prstDash val="solid"/>
          </a:ln>
        </p:spPr>
      </p:sp>
      <p:pic>
        <p:nvPicPr>
          <p:cNvPr id="18" name="Image 0" descr="stage_complete_ico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6670" y="1617934"/>
            <a:ext cx="1225003" cy="1224383"/>
          </a:xfrm>
          <a:prstGeom prst="rect">
            <a:avLst/>
          </a:prstGeom>
        </p:spPr>
      </p:pic>
      <p:pic>
        <p:nvPicPr>
          <p:cNvPr id="19" name="Image 1" descr="stage_writing_icon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54179" y="1617934"/>
            <a:ext cx="1210419" cy="1224383"/>
          </a:xfrm>
          <a:prstGeom prst="rect">
            <a:avLst/>
          </a:prstGeom>
        </p:spPr>
      </p:pic>
      <p:pic>
        <p:nvPicPr>
          <p:cNvPr id="20" name="Image 2" descr="stage_defense_icon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9397" y="1617934"/>
            <a:ext cx="1210419" cy="1231671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523962" y="2871469"/>
            <a:ext cx="1225003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已完成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5454179" y="2871469"/>
            <a:ext cx="1210419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进行中</a:t>
            </a:r>
            <a:endParaRPr lang="en-US" sz="2400" dirty="0"/>
          </a:p>
        </p:txBody>
      </p:sp>
      <p:sp>
        <p:nvSpPr>
          <p:cNvPr id="23" name="Text 18"/>
          <p:cNvSpPr/>
          <p:nvPr/>
        </p:nvSpPr>
        <p:spPr>
          <a:xfrm>
            <a:off x="9107313" y="2871469"/>
            <a:ext cx="1421878" cy="41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下一阶段</a:t>
            </a:r>
            <a:endParaRPr lang="en-US" sz="2400" dirty="0"/>
          </a:p>
        </p:txBody>
      </p:sp>
      <p:sp>
        <p:nvSpPr>
          <p:cNvPr id="24" name="Shape 19"/>
          <p:cNvSpPr/>
          <p:nvPr/>
        </p:nvSpPr>
        <p:spPr>
          <a:xfrm>
            <a:off x="940627" y="3308748"/>
            <a:ext cx="2391672" cy="3644"/>
          </a:xfrm>
          <a:prstGeom prst="line">
            <a:avLst/>
          </a:prstGeom>
          <a:noFill/>
          <a:ln w="10160">
            <a:solidFill>
              <a:srgbClr val="062B50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911460" y="3272308"/>
            <a:ext cx="72917" cy="72880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3288549" y="3272308"/>
            <a:ext cx="72917" cy="72880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863553" y="3308748"/>
            <a:ext cx="2391672" cy="3644"/>
          </a:xfrm>
          <a:prstGeom prst="line">
            <a:avLst/>
          </a:prstGeom>
          <a:noFill/>
          <a:ln w="10160">
            <a:solidFill>
              <a:srgbClr val="062B50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4834386" y="3272308"/>
            <a:ext cx="72917" cy="72880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7211475" y="3272308"/>
            <a:ext cx="72917" cy="72880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626062" y="3308748"/>
            <a:ext cx="2391672" cy="3644"/>
          </a:xfrm>
          <a:prstGeom prst="line">
            <a:avLst/>
          </a:prstGeom>
          <a:noFill/>
          <a:ln w="10160">
            <a:solidFill>
              <a:srgbClr val="062B50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8596895" y="3272308"/>
            <a:ext cx="72917" cy="72880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10973984" y="3272308"/>
            <a:ext cx="72917" cy="72880"/>
          </a:xfrm>
          <a:prstGeom prst="ellipse">
            <a:avLst/>
          </a:prstGeom>
          <a:solidFill>
            <a:srgbClr val="062B50"/>
          </a:solidFill>
          <a:ln w="12700">
            <a:solidFill>
              <a:srgbClr val="062B50">
                <a:alpha val="0"/>
              </a:srgbClr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1385420" y="3374340"/>
            <a:ext cx="1502087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实验全部完成</a:t>
            </a:r>
            <a:endParaRPr lang="en-US" sz="1550" dirty="0"/>
          </a:p>
        </p:txBody>
      </p:sp>
      <p:sp>
        <p:nvSpPr>
          <p:cNvPr id="34" name="Text 29"/>
          <p:cNvSpPr/>
          <p:nvPr/>
        </p:nvSpPr>
        <p:spPr>
          <a:xfrm>
            <a:off x="5308346" y="3374340"/>
            <a:ext cx="1502087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正在撰写论文</a:t>
            </a:r>
            <a:endParaRPr lang="en-US" sz="1550" dirty="0"/>
          </a:p>
        </p:txBody>
      </p:sp>
      <p:sp>
        <p:nvSpPr>
          <p:cNvPr id="35" name="Text 30"/>
          <p:cNvSpPr/>
          <p:nvPr/>
        </p:nvSpPr>
        <p:spPr>
          <a:xfrm>
            <a:off x="8968771" y="3374340"/>
            <a:ext cx="1706254" cy="2842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062B50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答辩准备与验收</a:t>
            </a:r>
            <a:endParaRPr lang="en-US" sz="1550" dirty="0"/>
          </a:p>
        </p:txBody>
      </p:sp>
      <p:pic>
        <p:nvPicPr>
          <p:cNvPr id="36" name="Image 3" descr="done_icon_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3336" y="3687724"/>
            <a:ext cx="335417" cy="327960"/>
          </a:xfrm>
          <a:prstGeom prst="rect">
            <a:avLst/>
          </a:prstGeom>
        </p:spPr>
      </p:pic>
      <p:sp>
        <p:nvSpPr>
          <p:cNvPr id="37" name="Text 31"/>
          <p:cNvSpPr/>
          <p:nvPr/>
        </p:nvSpPr>
        <p:spPr>
          <a:xfrm>
            <a:off x="1385420" y="3673148"/>
            <a:ext cx="212917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FMCW建模与仿真环境</a:t>
            </a:r>
            <a:endParaRPr lang="en-US" sz="1300" dirty="0"/>
          </a:p>
        </p:txBody>
      </p:sp>
      <p:sp>
        <p:nvSpPr>
          <p:cNvPr id="38" name="Shape 32"/>
          <p:cNvSpPr/>
          <p:nvPr/>
        </p:nvSpPr>
        <p:spPr>
          <a:xfrm>
            <a:off x="838544" y="4030259"/>
            <a:ext cx="2639590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39" name="Image 4" descr="done_icon_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336" y="4059411"/>
            <a:ext cx="335417" cy="327960"/>
          </a:xfrm>
          <a:prstGeom prst="rect">
            <a:avLst/>
          </a:prstGeom>
        </p:spPr>
      </p:pic>
      <p:sp>
        <p:nvSpPr>
          <p:cNvPr id="40" name="Text 33"/>
          <p:cNvSpPr/>
          <p:nvPr/>
        </p:nvSpPr>
        <p:spPr>
          <a:xfrm>
            <a:off x="1385420" y="4044835"/>
            <a:ext cx="212917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Double DQN+GRU执行层</a:t>
            </a:r>
            <a:endParaRPr lang="en-US" sz="1300" dirty="0"/>
          </a:p>
        </p:txBody>
      </p:sp>
      <p:sp>
        <p:nvSpPr>
          <p:cNvPr id="41" name="Shape 34"/>
          <p:cNvSpPr/>
          <p:nvPr/>
        </p:nvSpPr>
        <p:spPr>
          <a:xfrm>
            <a:off x="838544" y="4401947"/>
            <a:ext cx="2639590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42" name="Image 5" descr="done_icon_2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3336" y="4423811"/>
            <a:ext cx="335417" cy="32796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1385420" y="4409235"/>
            <a:ext cx="212917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Meta-RF元策略</a:t>
            </a:r>
            <a:endParaRPr lang="en-US" sz="1300" dirty="0"/>
          </a:p>
        </p:txBody>
      </p:sp>
      <p:sp>
        <p:nvSpPr>
          <p:cNvPr id="44" name="Shape 36"/>
          <p:cNvSpPr/>
          <p:nvPr/>
        </p:nvSpPr>
        <p:spPr>
          <a:xfrm>
            <a:off x="838544" y="4766346"/>
            <a:ext cx="2639590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45" name="Image 6" descr="done_icon_3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336" y="4788210"/>
            <a:ext cx="335417" cy="313384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385420" y="4773634"/>
            <a:ext cx="212917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全部对比与动态跳频实验</a:t>
            </a:r>
            <a:endParaRPr lang="en-US" sz="1300" dirty="0"/>
          </a:p>
        </p:txBody>
      </p:sp>
      <p:sp>
        <p:nvSpPr>
          <p:cNvPr id="47" name="Shape 38"/>
          <p:cNvSpPr/>
          <p:nvPr/>
        </p:nvSpPr>
        <p:spPr>
          <a:xfrm>
            <a:off x="838544" y="5130746"/>
            <a:ext cx="2639590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48" name="Image 7" descr="done_icon_4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3336" y="5145322"/>
            <a:ext cx="335417" cy="327960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1385420" y="5130746"/>
            <a:ext cx="2129172" cy="313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实验分析与专利材料</a:t>
            </a:r>
            <a:endParaRPr lang="en-US" sz="1300" dirty="0"/>
          </a:p>
        </p:txBody>
      </p:sp>
      <p:pic>
        <p:nvPicPr>
          <p:cNvPr id="50" name="Image 8" descr="doing_icon_0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739594" y="3789756"/>
            <a:ext cx="386459" cy="320672"/>
          </a:xfrm>
          <a:prstGeom prst="rect">
            <a:avLst/>
          </a:prstGeom>
        </p:spPr>
      </p:pic>
      <p:sp>
        <p:nvSpPr>
          <p:cNvPr id="51" name="Text 40"/>
          <p:cNvSpPr/>
          <p:nvPr/>
        </p:nvSpPr>
        <p:spPr>
          <a:xfrm>
            <a:off x="5308346" y="3775180"/>
            <a:ext cx="2041671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统一技术主线与章节衔接</a:t>
            </a:r>
            <a:endParaRPr lang="en-US" sz="1300" dirty="0"/>
          </a:p>
        </p:txBody>
      </p:sp>
      <p:sp>
        <p:nvSpPr>
          <p:cNvPr id="52" name="Shape 41"/>
          <p:cNvSpPr/>
          <p:nvPr/>
        </p:nvSpPr>
        <p:spPr>
          <a:xfrm>
            <a:off x="4637511" y="4205171"/>
            <a:ext cx="2705215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53" name="Image 9" descr="doing_icon_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739594" y="4307203"/>
            <a:ext cx="386459" cy="342536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5308346" y="4292627"/>
            <a:ext cx="2041671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整理实验图表与结果讨论</a:t>
            </a:r>
            <a:endParaRPr lang="en-US" sz="1300" dirty="0"/>
          </a:p>
        </p:txBody>
      </p:sp>
      <p:sp>
        <p:nvSpPr>
          <p:cNvPr id="55" name="Shape 43"/>
          <p:cNvSpPr/>
          <p:nvPr/>
        </p:nvSpPr>
        <p:spPr>
          <a:xfrm>
            <a:off x="4637511" y="4722618"/>
            <a:ext cx="2705215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56" name="Image 10" descr="doing_icon_2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739594" y="4839226"/>
            <a:ext cx="371876" cy="400840"/>
          </a:xfrm>
          <a:prstGeom prst="rect">
            <a:avLst/>
          </a:prstGeom>
        </p:spPr>
      </p:pic>
      <p:sp>
        <p:nvSpPr>
          <p:cNvPr id="57" name="Text 44"/>
          <p:cNvSpPr/>
          <p:nvPr/>
        </p:nvSpPr>
        <p:spPr>
          <a:xfrm>
            <a:off x="5308346" y="4824650"/>
            <a:ext cx="2041671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补充局限性与工程实时性</a:t>
            </a:r>
            <a:endParaRPr lang="en-US" sz="1300" dirty="0"/>
          </a:p>
        </p:txBody>
      </p:sp>
      <p:pic>
        <p:nvPicPr>
          <p:cNvPr id="58" name="Image 11" descr="next_icon_0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553145" y="3709588"/>
            <a:ext cx="342709" cy="364400"/>
          </a:xfrm>
          <a:prstGeom prst="rect">
            <a:avLst/>
          </a:prstGeom>
        </p:spPr>
      </p:pic>
      <p:sp>
        <p:nvSpPr>
          <p:cNvPr id="59" name="Text 45"/>
          <p:cNvSpPr/>
          <p:nvPr/>
        </p:nvSpPr>
        <p:spPr>
          <a:xfrm>
            <a:off x="9129188" y="3695012"/>
            <a:ext cx="208542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完成论文定稿与材料提交</a:t>
            </a:r>
            <a:endParaRPr lang="en-US" sz="1300" dirty="0"/>
          </a:p>
        </p:txBody>
      </p:sp>
      <p:sp>
        <p:nvSpPr>
          <p:cNvPr id="60" name="Shape 46"/>
          <p:cNvSpPr/>
          <p:nvPr/>
        </p:nvSpPr>
        <p:spPr>
          <a:xfrm>
            <a:off x="8458353" y="4146867"/>
            <a:ext cx="2800007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61" name="Image 12" descr="next_icon_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553145" y="4205171"/>
            <a:ext cx="371876" cy="306096"/>
          </a:xfrm>
          <a:prstGeom prst="rect">
            <a:avLst/>
          </a:prstGeom>
        </p:spPr>
      </p:pic>
      <p:sp>
        <p:nvSpPr>
          <p:cNvPr id="62" name="Text 47"/>
          <p:cNvSpPr/>
          <p:nvPr/>
        </p:nvSpPr>
        <p:spPr>
          <a:xfrm>
            <a:off x="9129188" y="4190595"/>
            <a:ext cx="208542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迭代答辩演示</a:t>
            </a:r>
            <a:endParaRPr lang="en-US" sz="1300" dirty="0"/>
          </a:p>
        </p:txBody>
      </p:sp>
      <p:sp>
        <p:nvSpPr>
          <p:cNvPr id="66" name="Shape 50"/>
          <p:cNvSpPr/>
          <p:nvPr/>
        </p:nvSpPr>
        <p:spPr>
          <a:xfrm>
            <a:off x="8447595" y="4631027"/>
            <a:ext cx="2800007" cy="3644"/>
          </a:xfrm>
          <a:prstGeom prst="line">
            <a:avLst/>
          </a:prstGeom>
          <a:noFill/>
          <a:ln w="6985">
            <a:solidFill>
              <a:srgbClr val="A9B1BA"/>
            </a:solidFill>
            <a:prstDash val="solid"/>
          </a:ln>
        </p:spPr>
      </p:sp>
      <p:pic>
        <p:nvPicPr>
          <p:cNvPr id="67" name="Image 14" descr="next_icon_3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531629" y="4616451"/>
            <a:ext cx="364584" cy="378976"/>
          </a:xfrm>
          <a:prstGeom prst="rect">
            <a:avLst/>
          </a:prstGeom>
        </p:spPr>
      </p:pic>
      <p:sp>
        <p:nvSpPr>
          <p:cNvPr id="68" name="Text 51"/>
          <p:cNvSpPr/>
          <p:nvPr/>
        </p:nvSpPr>
        <p:spPr>
          <a:xfrm>
            <a:off x="9107672" y="4601875"/>
            <a:ext cx="2085422" cy="327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0D1014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完成答辩验收</a:t>
            </a:r>
            <a:endParaRPr lang="en-US" sz="1300" dirty="0"/>
          </a:p>
        </p:txBody>
      </p:sp>
      <p:sp>
        <p:nvSpPr>
          <p:cNvPr id="69" name="Shape 52"/>
          <p:cNvSpPr/>
          <p:nvPr/>
        </p:nvSpPr>
        <p:spPr>
          <a:xfrm>
            <a:off x="444793" y="5626329"/>
            <a:ext cx="11265651" cy="736087"/>
          </a:xfrm>
          <a:prstGeom prst="roundRect">
            <a:avLst/>
          </a:prstGeom>
          <a:solidFill>
            <a:srgbClr val="0A3767"/>
          </a:solidFill>
          <a:ln w="12700">
            <a:solidFill>
              <a:srgbClr val="0A3767">
                <a:alpha val="0"/>
              </a:srgbClr>
            </a:solidFill>
            <a:prstDash val="solid"/>
          </a:ln>
        </p:spPr>
      </p:sp>
      <p:pic>
        <p:nvPicPr>
          <p:cNvPr id="70" name="Image 15" descr="conclusion_icon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01044" y="5691921"/>
            <a:ext cx="692710" cy="597615"/>
          </a:xfrm>
          <a:prstGeom prst="rect">
            <a:avLst/>
          </a:prstGeom>
        </p:spPr>
      </p:pic>
      <p:sp>
        <p:nvSpPr>
          <p:cNvPr id="71" name="Shape 53"/>
          <p:cNvSpPr/>
          <p:nvPr/>
        </p:nvSpPr>
        <p:spPr>
          <a:xfrm>
            <a:off x="2019796" y="5757513"/>
            <a:ext cx="3646" cy="466431"/>
          </a:xfrm>
          <a:prstGeom prst="line">
            <a:avLst/>
          </a:prstGeom>
          <a:noFill/>
          <a:ln w="11430">
            <a:solidFill>
              <a:srgbClr val="BFD1E2"/>
            </a:solidFill>
            <a:prstDash val="solid"/>
          </a:ln>
        </p:spPr>
      </p:sp>
      <p:sp>
        <p:nvSpPr>
          <p:cNvPr id="72" name="Text 54"/>
          <p:cNvSpPr/>
          <p:nvPr/>
        </p:nvSpPr>
        <p:spPr>
          <a:xfrm>
            <a:off x="2347922" y="5757513"/>
            <a:ext cx="8640645" cy="46643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50" b="1" dirty="0">
                <a:solidFill>
                  <a:srgbClr val="FFFFFF"/>
                </a:solidFill>
                <a:latin typeface="PingFang SC" pitchFamily="34" charset="0"/>
                <a:ea typeface="PingFang SC" pitchFamily="34" charset="-122"/>
                <a:cs typeface="PingFang SC" pitchFamily="34" charset="-120"/>
              </a:rPr>
              <a:t>研究方案、核心算法和实验验证已完成；后续聚焦论文质量与答辩交付</a:t>
            </a:r>
            <a:endParaRPr lang="en-US" sz="1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1638</Words>
  <Application>Microsoft Macintosh PowerPoint</Application>
  <PresentationFormat>宽屏</PresentationFormat>
  <Paragraphs>549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7" baseType="lpstr">
      <vt:lpstr>等线</vt:lpstr>
      <vt:lpstr>等线 Light</vt:lpstr>
      <vt:lpstr>Microsoft YaHei</vt:lpstr>
      <vt:lpstr>PingFang SC</vt:lpstr>
      <vt:lpstr>Arial</vt:lpstr>
      <vt:lpstr>Times New Roman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linqu</dc:creator>
  <cp:lastModifiedBy>linqu</cp:lastModifiedBy>
  <cp:revision>4</cp:revision>
  <dcterms:created xsi:type="dcterms:W3CDTF">2026-07-23T09:42:07Z</dcterms:created>
  <dcterms:modified xsi:type="dcterms:W3CDTF">2026-07-23T09:59:43Z</dcterms:modified>
</cp:coreProperties>
</file>