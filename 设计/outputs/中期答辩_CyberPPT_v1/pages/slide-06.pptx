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39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33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84" y="51016"/>
            <a:ext cx="583335" cy="459143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612501" y="51016"/>
            <a:ext cx="277084" cy="459143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6042" y="109320"/>
            <a:ext cx="444793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73966" y="116608"/>
            <a:ext cx="570209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75023" y="145760"/>
            <a:ext cx="2048963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研究内容｜DRL执行层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0210" y="488295"/>
            <a:ext cx="11280235" cy="21864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4379" y="779815"/>
            <a:ext cx="8771896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Double DQN+GRU执行层在9维动作空间中实现稳定的时序决策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792715" y="1282687"/>
            <a:ext cx="661355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GRU负责记忆干扰演变，Double DQN降低Q值过估计，奖励函数约束策略抖动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45834" y="1683526"/>
            <a:ext cx="3937509" cy="4285339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B5BC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9177" y="1683526"/>
            <a:ext cx="3091674" cy="4285339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B5BC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03143" y="1683526"/>
            <a:ext cx="4535427" cy="4285339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B5BC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834" y="1683526"/>
            <a:ext cx="3937509" cy="35711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209" y="1756406"/>
            <a:ext cx="371875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执行网络结构（在线网络）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29177" y="1683526"/>
            <a:ext cx="3091674" cy="35711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8552" y="1756406"/>
            <a:ext cx="2872923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训练机制与超参数设置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03143" y="1683526"/>
            <a:ext cx="4535427" cy="35711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2518" y="1756406"/>
            <a:ext cx="431667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奖励函数设计与性能结果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4793" y="2179109"/>
            <a:ext cx="2902090" cy="371688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126" y="2230125"/>
            <a:ext cx="2785423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动作One-Hot（9维）+ 当前SINR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4793" y="2776725"/>
            <a:ext cx="2515631" cy="378976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126" y="2827741"/>
            <a:ext cx="239896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Dense(16)×2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793" y="3381628"/>
            <a:ext cx="2515631" cy="378976"/>
          </a:xfrm>
          <a:prstGeom prst="roundRect">
            <a:avLst/>
          </a:prstGeom>
          <a:solidFill>
            <a:srgbClr val="4D87D0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126" y="3432644"/>
            <a:ext cx="239896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GRU(32, stateful=True)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4793" y="4154155"/>
            <a:ext cx="2515631" cy="393552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126" y="4205171"/>
            <a:ext cx="2398964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Dense(64)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4793" y="4824650"/>
            <a:ext cx="2515631" cy="393552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126" y="4875666"/>
            <a:ext cx="2398964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Q值输出（9维）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754" y="2550797"/>
            <a:ext cx="17500" cy="16033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1793754" y="2689269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754" y="3155700"/>
            <a:ext cx="17500" cy="16033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0800000">
            <a:off x="1793754" y="3294172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754" y="3760604"/>
            <a:ext cx="17500" cy="32796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1793754" y="4066699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754" y="4547707"/>
            <a:ext cx="17500" cy="2113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1793754" y="4737194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60424" y="3571116"/>
            <a:ext cx="539585" cy="3644"/>
          </a:xfrm>
          <a:prstGeom prst="line">
            <a:avLst/>
          </a:prstGeom>
          <a:noFill/>
          <a:ln w="15240">
            <a:solidFill>
              <a:srgbClr val="062B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00008" y="3571116"/>
            <a:ext cx="3646" cy="1457598"/>
          </a:xfrm>
          <a:prstGeom prst="line">
            <a:avLst/>
          </a:prstGeom>
          <a:noFill/>
          <a:ln w="15240">
            <a:solidFill>
              <a:srgbClr val="062B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0424" y="5028714"/>
            <a:ext cx="539585" cy="3644"/>
          </a:xfrm>
          <a:prstGeom prst="line">
            <a:avLst/>
          </a:prstGeom>
          <a:noFill/>
          <a:ln w="15240">
            <a:solidFill>
              <a:srgbClr val="062B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6200000">
            <a:off x="2909382" y="3520100"/>
            <a:ext cx="94792" cy="102032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0841" y="4037547"/>
            <a:ext cx="853127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隐藏状态 hₜ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（带入下一步）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5417" y="5538874"/>
            <a:ext cx="3565633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注：输出对应9维动作的Q值，选择最大Q值对应的动作执行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45844" y="2179109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90638" y="2179109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96885" y="2222837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训练规模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41680" y="2222837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15000 episodes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345844" y="2569746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90638" y="2569746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96885" y="2613474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交互长度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41680" y="2613474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每episode 30步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45844" y="2960382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90638" y="2960382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96885" y="3004110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经验回放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541680" y="3004110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容量50000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345844" y="3351018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90638" y="3351018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96885" y="3394746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批次大小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541680" y="3394746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256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345844" y="3741655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90638" y="3741655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96885" y="3785383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折扣因子 γ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541680" y="3785383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345844" y="4132291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90638" y="4132291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96885" y="4176019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软更新系数 τ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541680" y="4176019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0.005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345844" y="4522928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90638" y="4522928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96885" y="4566655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探索率 ε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541680" y="4566655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1.0→0.05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345844" y="4913564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90638" y="4913564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96885" y="4957292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学习率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541680" y="4957292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1e-3→1e-5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360427" y="5465994"/>
            <a:ext cx="2763548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注：15000 episodes来自文字记录；Double DQN、软更新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与经验回放共同稳定训练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772935" y="2193685"/>
            <a:ext cx="1946880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奖励：SINR ≥ 0 dB（正向激励）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989607" y="2193685"/>
            <a:ext cx="188854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1E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奖励：SINR &lt; 0 dB（线性惩罚）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802102" y="3826196"/>
            <a:ext cx="70938" cy="364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67206" y="3639769"/>
            <a:ext cx="70938" cy="18642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32310" y="3480592"/>
            <a:ext cx="70938" cy="34560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97415" y="3344683"/>
            <a:ext cx="70938" cy="481512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62519" y="3228640"/>
            <a:ext cx="70938" cy="597556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27623" y="3129559"/>
            <a:ext cx="70938" cy="69663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92728" y="3044960"/>
            <a:ext cx="70938" cy="781235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57832" y="2972728"/>
            <a:ext cx="70938" cy="853468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22936" y="2911054"/>
            <a:ext cx="70938" cy="915142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88040" y="2858394"/>
            <a:ext cx="70938" cy="96780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53145" y="2813433"/>
            <a:ext cx="70938" cy="101276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518249" y="2775043"/>
            <a:ext cx="70938" cy="105115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83353" y="2742264"/>
            <a:ext cx="70938" cy="108393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48458" y="2714277"/>
            <a:ext cx="70938" cy="1111918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13562" y="2690381"/>
            <a:ext cx="70938" cy="113581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8666" y="2669978"/>
            <a:ext cx="70938" cy="115621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43771" y="2652557"/>
            <a:ext cx="70938" cy="1173638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08875" y="2637683"/>
            <a:ext cx="70938" cy="118851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73979" y="2624983"/>
            <a:ext cx="70938" cy="120121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39084" y="2614139"/>
            <a:ext cx="70938" cy="121205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04188" y="2604880"/>
            <a:ext cx="70938" cy="1221315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169292" y="2596975"/>
            <a:ext cx="70938" cy="122922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34397" y="2590225"/>
            <a:ext cx="70938" cy="123597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299501" y="2584462"/>
            <a:ext cx="70938" cy="124173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364605" y="2579541"/>
            <a:ext cx="70938" cy="1246655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29710" y="2575339"/>
            <a:ext cx="70938" cy="1250856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94814" y="2571752"/>
            <a:ext cx="70938" cy="125444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59918" y="2568689"/>
            <a:ext cx="70938" cy="125750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802102" y="3826196"/>
            <a:ext cx="1888546" cy="3644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7802102" y="2521645"/>
            <a:ext cx="3646" cy="1304550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65643" y="2456053"/>
            <a:ext cx="72917" cy="80168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7802102" y="3666992"/>
            <a:ext cx="56966" cy="15920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7859068" y="3527661"/>
            <a:ext cx="56966" cy="13933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7916034" y="3405722"/>
            <a:ext cx="56966" cy="12193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7973000" y="3299005"/>
            <a:ext cx="56966" cy="106717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8029967" y="3205608"/>
            <a:ext cx="56966" cy="9339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8086933" y="3123871"/>
            <a:ext cx="56966" cy="81738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8143899" y="3052336"/>
            <a:ext cx="56966" cy="71535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8200866" y="2989730"/>
            <a:ext cx="56966" cy="62605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8257832" y="2934940"/>
            <a:ext cx="56966" cy="5479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8314798" y="2886988"/>
            <a:ext cx="56966" cy="4795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8371764" y="2845023"/>
            <a:ext cx="56966" cy="4196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8428731" y="2808296"/>
            <a:ext cx="56966" cy="36727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485697" y="2776153"/>
            <a:ext cx="56966" cy="3214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542663" y="2748022"/>
            <a:ext cx="56966" cy="2813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8599630" y="2723403"/>
            <a:ext cx="56966" cy="2461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8656596" y="2701858"/>
            <a:ext cx="56966" cy="2154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8713562" y="2683001"/>
            <a:ext cx="56966" cy="1885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770528" y="2666499"/>
            <a:ext cx="56966" cy="1650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8827495" y="2652056"/>
            <a:ext cx="56966" cy="1444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8884461" y="2639416"/>
            <a:ext cx="56966" cy="1264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8941427" y="2628354"/>
            <a:ext cx="56966" cy="11062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8998393" y="2618673"/>
            <a:ext cx="56966" cy="968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9055360" y="2610200"/>
            <a:ext cx="56966" cy="847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9112326" y="2602785"/>
            <a:ext cx="56966" cy="7415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9169292" y="2596296"/>
            <a:ext cx="56966" cy="648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9226259" y="2590616"/>
            <a:ext cx="56966" cy="567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9283225" y="2585646"/>
            <a:ext cx="56966" cy="497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9340191" y="2581296"/>
            <a:ext cx="56966" cy="435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9397157" y="2577489"/>
            <a:ext cx="56966" cy="3807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9454124" y="2574157"/>
            <a:ext cx="56966" cy="364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9511090" y="2571241"/>
            <a:ext cx="56966" cy="364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9568056" y="2568689"/>
            <a:ext cx="56966" cy="364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802102" y="2572661"/>
            <a:ext cx="1822921" cy="3644"/>
          </a:xfrm>
          <a:prstGeom prst="line">
            <a:avLst/>
          </a:prstGeom>
          <a:noFill/>
          <a:ln w="8890">
            <a:solidFill>
              <a:srgbClr val="6D8CB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634393" y="2434189"/>
            <a:ext cx="153125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7568768" y="2565373"/>
            <a:ext cx="211459" cy="131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7743768" y="3862635"/>
            <a:ext cx="1946880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0              10              20              30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8130227" y="4030259"/>
            <a:ext cx="1166669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SINR (dB)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8283353" y="3141124"/>
            <a:ext cx="1203128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1 − e^(−SINR/10)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10062524" y="3826196"/>
            <a:ext cx="78446" cy="364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138294" y="3770743"/>
            <a:ext cx="78446" cy="55452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214064" y="3715291"/>
            <a:ext cx="78446" cy="11090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289834" y="3659839"/>
            <a:ext cx="78446" cy="166356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365604" y="3604387"/>
            <a:ext cx="78446" cy="221808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441374" y="3548935"/>
            <a:ext cx="78446" cy="277261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517144" y="3493483"/>
            <a:ext cx="78446" cy="332713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92914" y="3438031"/>
            <a:ext cx="78446" cy="388165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668684" y="3382579"/>
            <a:ext cx="78446" cy="443617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744454" y="3327127"/>
            <a:ext cx="78446" cy="499069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820225" y="3271674"/>
            <a:ext cx="78446" cy="554521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895995" y="3216222"/>
            <a:ext cx="78446" cy="609973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71765" y="3160770"/>
            <a:ext cx="78446" cy="665425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047535" y="3105318"/>
            <a:ext cx="78446" cy="720877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1123305" y="3049866"/>
            <a:ext cx="78446" cy="776330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199075" y="2994414"/>
            <a:ext cx="78446" cy="831782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274845" y="2938962"/>
            <a:ext cx="78446" cy="88723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1350615" y="2883510"/>
            <a:ext cx="78446" cy="942686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426385" y="2828058"/>
            <a:ext cx="78446" cy="998138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502156" y="2772605"/>
            <a:ext cx="78446" cy="1053590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577926" y="2717153"/>
            <a:ext cx="78446" cy="1109042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653696" y="2661701"/>
            <a:ext cx="78446" cy="116449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1729466" y="2606249"/>
            <a:ext cx="78446" cy="1219946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805236" y="2550797"/>
            <a:ext cx="78446" cy="1275399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062524" y="3826196"/>
            <a:ext cx="1801046" cy="3644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10062524" y="2521645"/>
            <a:ext cx="3646" cy="1304550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026065" y="2456053"/>
            <a:ext cx="72917" cy="80168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10062524" y="2550797"/>
            <a:ext cx="1742712" cy="1275399"/>
          </a:xfrm>
          <a:prstGeom prst="line">
            <a:avLst/>
          </a:prstGeom>
          <a:noFill/>
          <a:ln w="21590">
            <a:solidFill>
              <a:srgbClr val="D91E1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768778" y="2514357"/>
            <a:ext cx="72917" cy="72880"/>
          </a:xfrm>
          <a:prstGeom prst="ellipse">
            <a:avLst/>
          </a:prstGeom>
          <a:solidFill>
            <a:srgbClr val="FFFFFF"/>
          </a:solidFill>
          <a:ln w="8890">
            <a:solidFill>
              <a:srgbClr val="10182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94815" y="2434189"/>
            <a:ext cx="153125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9770856" y="2565373"/>
            <a:ext cx="262501" cy="131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−0.5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−1.0</a:t>
            </a:r>
            <a:endParaRPr lang="en-US" sz="850" dirty="0"/>
          </a:p>
        </p:txBody>
      </p:sp>
      <p:sp>
        <p:nvSpPr>
          <p:cNvPr id="178" name="Text 176"/>
          <p:cNvSpPr/>
          <p:nvPr/>
        </p:nvSpPr>
        <p:spPr>
          <a:xfrm>
            <a:off x="9989607" y="3862635"/>
            <a:ext cx="1888546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−30          −20          −10            0</a:t>
            </a:r>
            <a:endParaRPr lang="en-US" sz="850" dirty="0"/>
          </a:p>
        </p:txBody>
      </p:sp>
      <p:sp>
        <p:nvSpPr>
          <p:cNvPr id="179" name="Text 177"/>
          <p:cNvSpPr/>
          <p:nvPr/>
        </p:nvSpPr>
        <p:spPr>
          <a:xfrm>
            <a:off x="10354191" y="4030259"/>
            <a:ext cx="1166669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SINR (dB)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10813567" y="3316036"/>
            <a:ext cx="100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SINR / 10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7648976" y="4394659"/>
            <a:ext cx="4229177" cy="721511"/>
          </a:xfrm>
          <a:prstGeom prst="round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239603" y="4452963"/>
            <a:ext cx="3033340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切换惩罚（约束策略抖动）</a:t>
            </a:r>
            <a:endParaRPr lang="en-US" sz="1200" dirty="0"/>
          </a:p>
        </p:txBody>
      </p:sp>
      <p:sp>
        <p:nvSpPr>
          <p:cNvPr id="183" name="Shape 181"/>
          <p:cNvSpPr/>
          <p:nvPr/>
        </p:nvSpPr>
        <p:spPr>
          <a:xfrm>
            <a:off x="8261478" y="4759058"/>
            <a:ext cx="2792715" cy="306096"/>
          </a:xfrm>
          <a:prstGeom prst="roundRect">
            <a:avLst/>
          </a:prstGeom>
          <a:solidFill>
            <a:srgbClr val="F7F7F7"/>
          </a:solidFill>
          <a:ln w="7620">
            <a:solidFill>
              <a:srgbClr val="8FA3B7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385436" y="4795498"/>
            <a:ext cx="2544798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r_AC = −0.05 × 切换次数</a:t>
            </a:r>
            <a:endParaRPr lang="en-US" sz="1300" dirty="0"/>
          </a:p>
        </p:txBody>
      </p:sp>
      <p:sp>
        <p:nvSpPr>
          <p:cNvPr id="185" name="Shape 183"/>
          <p:cNvSpPr/>
          <p:nvPr/>
        </p:nvSpPr>
        <p:spPr>
          <a:xfrm>
            <a:off x="7583351" y="5240066"/>
            <a:ext cx="4360427" cy="3644"/>
          </a:xfrm>
          <a:prstGeom prst="line">
            <a:avLst/>
          </a:prstGeom>
          <a:noFill/>
          <a:ln w="8890">
            <a:solidFill>
              <a:srgbClr val="6D8CB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656268" y="5436842"/>
            <a:ext cx="1873963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联合策略最终SINR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9544814" y="5356674"/>
            <a:ext cx="2019796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9.50 ± 0.57</a:t>
            </a:r>
            <a:endParaRPr lang="en-US" sz="2900" dirty="0"/>
          </a:p>
        </p:txBody>
      </p:sp>
      <p:sp>
        <p:nvSpPr>
          <p:cNvPr id="188" name="Text 186"/>
          <p:cNvSpPr/>
          <p:nvPr/>
        </p:nvSpPr>
        <p:spPr>
          <a:xfrm>
            <a:off x="11550027" y="5553450"/>
            <a:ext cx="328126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dB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145834" y="6143777"/>
            <a:ext cx="11907320" cy="612191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843757" y="6260385"/>
            <a:ext cx="6562515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执行层已具备在联合时频空间中稳定寻优的能力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PresentationFormat>宽屏</PresentationFormat>
  <Paragraphs>61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PingFang SC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linqu</cp:lastModifiedBy>
  <cp:revision>2</cp:revision>
  <dcterms:created xsi:type="dcterms:W3CDTF">2026-07-23T09:03:13Z</dcterms:created>
  <dcterms:modified xsi:type="dcterms:W3CDTF">2026-07-23T09:05:06Z</dcterms:modified>
</cp:coreProperties>
</file>