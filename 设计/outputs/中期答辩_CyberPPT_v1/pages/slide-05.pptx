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33" y="36440"/>
            <a:ext cx="525001" cy="444567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517710" y="36440"/>
            <a:ext cx="218751" cy="444567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292" y="87456"/>
            <a:ext cx="37916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03131" y="102032"/>
            <a:ext cx="6679182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450" dirty="0"/>
          </a:p>
        </p:txBody>
      </p:sp>
      <p:sp>
        <p:nvSpPr>
          <p:cNvPr id="6" name="Shape 4"/>
          <p:cNvSpPr/>
          <p:nvPr/>
        </p:nvSpPr>
        <p:spPr>
          <a:xfrm>
            <a:off x="9566689" y="80168"/>
            <a:ext cx="3646" cy="349824"/>
          </a:xfrm>
          <a:prstGeom prst="line">
            <a:avLst/>
          </a:prstGeom>
          <a:noFill/>
          <a:ln w="10160">
            <a:solidFill>
              <a:srgbClr val="8A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0856" y="145760"/>
            <a:ext cx="2223964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研究内容｜分层系统架构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81007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9379" y="663207"/>
            <a:ext cx="787501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分层架构将场景级战略判断与逐chirp战术执行解耦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75005" y="1071335"/>
            <a:ext cx="7452101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上层识别“应探索哪个维度”，下层回答“下一步采用哪个具体参数”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375" y="1326414"/>
            <a:ext cx="9537522" cy="1625222"/>
          </a:xfrm>
          <a:prstGeom prst="roundRect">
            <a:avLst>
              <a:gd name="adj" fmla="val 2813"/>
            </a:avLst>
          </a:prstGeom>
          <a:solidFill>
            <a:srgbClr val="EEF4FA">
              <a:alpha val="92000"/>
            </a:srgbClr>
          </a:solidFill>
          <a:ln w="8255">
            <a:solidFill>
              <a:srgbClr val="123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7507" y="2069790"/>
            <a:ext cx="320834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201049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7094" y="2069790"/>
            <a:ext cx="328126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797928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2097" y="2069790"/>
            <a:ext cx="35000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394807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0227" y="2069790"/>
            <a:ext cx="517710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8290644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167" y="1734542"/>
            <a:ext cx="1057294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元策略层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场景级战略判断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82295" y="1443022"/>
            <a:ext cx="1305211" cy="1399294"/>
          </a:xfrm>
          <a:prstGeom prst="roundRect">
            <a:avLst>
              <a:gd name="adj" fmla="val 3503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3337" y="1494038"/>
            <a:ext cx="120312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SINR与动作历史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424" y="1450310"/>
            <a:ext cx="1166669" cy="1384718"/>
          </a:xfrm>
          <a:prstGeom prst="roundRect">
            <a:avLst>
              <a:gd name="adj" fmla="val 391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1466" y="1501326"/>
            <a:ext cx="106458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12维特征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07303" y="1464886"/>
            <a:ext cx="1144794" cy="1370142"/>
          </a:xfrm>
          <a:prstGeom prst="roundRect">
            <a:avLst>
              <a:gd name="adj" fmla="val 3994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8345" y="1515902"/>
            <a:ext cx="104271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04182" y="1464886"/>
            <a:ext cx="1276045" cy="1370142"/>
          </a:xfrm>
          <a:prstGeom prst="roundRect">
            <a:avLst>
              <a:gd name="adj" fmla="val 3583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5224" y="1515902"/>
            <a:ext cx="117396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策略标签与置信度 p</a:t>
            </a:r>
            <a:endParaRPr lang="en-US" sz="1100" dirty="0"/>
          </a:p>
        </p:txBody>
      </p:sp>
      <p:pic>
        <p:nvPicPr>
          <p:cNvPr id="29" name="Image 0" descr="history_vis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962" y="1756406"/>
            <a:ext cx="1071878" cy="40812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84379" y="2215549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当前SINR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1684379" y="2346733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干扰类型指示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1684379" y="2477917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最近动作序列</a:t>
            </a:r>
            <a:endParaRPr lang="en-US" sz="730" dirty="0"/>
          </a:p>
        </p:txBody>
      </p:sp>
      <p:sp>
        <p:nvSpPr>
          <p:cNvPr id="33" name="Text 30"/>
          <p:cNvSpPr/>
          <p:nvPr/>
        </p:nvSpPr>
        <p:spPr>
          <a:xfrm>
            <a:off x="1684379" y="2609101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场景上下文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3514592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11467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08342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05218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14592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711467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08342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05218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14592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11467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08342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05218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85425" y="2528933"/>
            <a:ext cx="816669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f₁   ···   f₁₂</a:t>
            </a:r>
            <a:endParaRPr lang="en-US" sz="900" dirty="0"/>
          </a:p>
        </p:txBody>
      </p:sp>
      <p:pic>
        <p:nvPicPr>
          <p:cNvPr id="47" name="Image 1" descr="meta_rf_t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304" y="1800134"/>
            <a:ext cx="802085" cy="663207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031262" y="2543509"/>
            <a:ext cx="9041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随机森林分类器</a:t>
            </a:r>
            <a:endParaRPr lang="en-US" sz="760" dirty="0"/>
          </a:p>
        </p:txBody>
      </p:sp>
      <p:pic>
        <p:nvPicPr>
          <p:cNvPr id="49" name="Image 2" descr="confidence_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766" y="1814710"/>
            <a:ext cx="889585" cy="706935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693766" y="2550797"/>
            <a:ext cx="88229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 ∈ [0,1]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400020" y="1450310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58353" y="1508614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“freq_only”</a:t>
            </a:r>
            <a:endParaRPr lang="en-US" sz="890" dirty="0"/>
          </a:p>
        </p:txBody>
      </p:sp>
      <p:sp>
        <p:nvSpPr>
          <p:cNvPr id="53" name="Text 48"/>
          <p:cNvSpPr/>
          <p:nvPr/>
        </p:nvSpPr>
        <p:spPr>
          <a:xfrm>
            <a:off x="8458353" y="1668950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（频率维度）</a:t>
            </a:r>
            <a:endParaRPr lang="en-US" sz="720" dirty="0"/>
          </a:p>
        </p:txBody>
      </p:sp>
      <p:sp>
        <p:nvSpPr>
          <p:cNvPr id="54" name="Shape 49"/>
          <p:cNvSpPr/>
          <p:nvPr/>
        </p:nvSpPr>
        <p:spPr>
          <a:xfrm>
            <a:off x="8400020" y="1945894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458353" y="2004198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“time_only”</a:t>
            </a:r>
            <a:endParaRPr lang="en-US" sz="890" dirty="0"/>
          </a:p>
        </p:txBody>
      </p:sp>
      <p:sp>
        <p:nvSpPr>
          <p:cNvPr id="56" name="Text 51"/>
          <p:cNvSpPr/>
          <p:nvPr/>
        </p:nvSpPr>
        <p:spPr>
          <a:xfrm>
            <a:off x="8458353" y="2164533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（时延维度）</a:t>
            </a:r>
            <a:endParaRPr lang="en-US" sz="720" dirty="0"/>
          </a:p>
        </p:txBody>
      </p:sp>
      <p:sp>
        <p:nvSpPr>
          <p:cNvPr id="57" name="Shape 52"/>
          <p:cNvSpPr/>
          <p:nvPr/>
        </p:nvSpPr>
        <p:spPr>
          <a:xfrm>
            <a:off x="8400020" y="2441477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58353" y="2499781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“joint”</a:t>
            </a:r>
            <a:endParaRPr lang="en-US" sz="890" dirty="0"/>
          </a:p>
        </p:txBody>
      </p:sp>
      <p:sp>
        <p:nvSpPr>
          <p:cNvPr id="59" name="Text 54"/>
          <p:cNvSpPr/>
          <p:nvPr/>
        </p:nvSpPr>
        <p:spPr>
          <a:xfrm>
            <a:off x="8458353" y="2660117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（联合维度）</a:t>
            </a:r>
            <a:endParaRPr lang="en-US" sz="720" dirty="0"/>
          </a:p>
        </p:txBody>
      </p:sp>
      <p:sp>
        <p:nvSpPr>
          <p:cNvPr id="60" name="Shape 55"/>
          <p:cNvSpPr/>
          <p:nvPr/>
        </p:nvSpPr>
        <p:spPr>
          <a:xfrm flipV="1">
            <a:off x="7875018" y="1588782"/>
            <a:ext cx="466668" cy="488295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>
            <a:off x="7875018" y="2142670"/>
            <a:ext cx="466668" cy="3644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2" name="Shape 57"/>
          <p:cNvSpPr/>
          <p:nvPr/>
        </p:nvSpPr>
        <p:spPr>
          <a:xfrm>
            <a:off x="7875018" y="2208261"/>
            <a:ext cx="466668" cy="451855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3" name="Shape 58"/>
          <p:cNvSpPr/>
          <p:nvPr/>
        </p:nvSpPr>
        <p:spPr>
          <a:xfrm>
            <a:off x="3901051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 rot="10800000">
            <a:off x="3857301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5490638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 rot="10800000">
            <a:off x="5446888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708349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 rot="10800000">
            <a:off x="6664599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589587" y="3133836"/>
            <a:ext cx="7269809" cy="415416"/>
          </a:xfrm>
          <a:prstGeom prst="roundRect">
            <a:avLst>
              <a:gd name="adj" fmla="val 11006"/>
            </a:avLst>
          </a:prstGeom>
          <a:solidFill>
            <a:srgbClr val="EEF4FA">
              <a:alpha val="98000"/>
            </a:srgbClr>
          </a:solidFill>
          <a:ln w="10160">
            <a:solidFill>
              <a:srgbClr val="12355B"/>
            </a:solidFill>
            <a:prstDash val="solid"/>
          </a:ln>
        </p:spPr>
      </p:sp>
      <p:pic>
        <p:nvPicPr>
          <p:cNvPr id="70" name="Image 3" descr="dam_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256" y="3162988"/>
            <a:ext cx="481251" cy="342536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3448966" y="3206716"/>
            <a:ext cx="1064586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DAM软引导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4593761" y="3199428"/>
            <a:ext cx="3646" cy="269656"/>
          </a:xfrm>
          <a:prstGeom prst="line">
            <a:avLst/>
          </a:prstGeom>
          <a:noFill/>
          <a:ln w="8890">
            <a:solidFill>
              <a:srgbClr val="12355B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4885428" y="3206716"/>
            <a:ext cx="1465628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bonus = 12.0 × p²</a:t>
            </a:r>
            <a:endParaRPr lang="en-US" sz="1100" dirty="0"/>
          </a:p>
        </p:txBody>
      </p:sp>
      <p:sp>
        <p:nvSpPr>
          <p:cNvPr id="74" name="Shape 68"/>
          <p:cNvSpPr/>
          <p:nvPr/>
        </p:nvSpPr>
        <p:spPr>
          <a:xfrm>
            <a:off x="6445848" y="3199428"/>
            <a:ext cx="3646" cy="269656"/>
          </a:xfrm>
          <a:prstGeom prst="line">
            <a:avLst/>
          </a:prstGeom>
          <a:noFill/>
          <a:ln w="8890">
            <a:solidFill>
              <a:srgbClr val="12355B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6620849" y="3206716"/>
            <a:ext cx="1684379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策略至少保持5步</a:t>
            </a:r>
            <a:endParaRPr lang="en-US" sz="1070" dirty="0"/>
          </a:p>
        </p:txBody>
      </p:sp>
      <p:sp>
        <p:nvSpPr>
          <p:cNvPr id="76" name="Shape 70"/>
          <p:cNvSpPr/>
          <p:nvPr/>
        </p:nvSpPr>
        <p:spPr>
          <a:xfrm>
            <a:off x="109375" y="3716876"/>
            <a:ext cx="9537522" cy="1370142"/>
          </a:xfrm>
          <a:prstGeom prst="roundRect">
            <a:avLst>
              <a:gd name="adj" fmla="val 3337"/>
            </a:avLst>
          </a:prstGeom>
          <a:solidFill>
            <a:srgbClr val="EEF4FA">
              <a:alpha val="92000"/>
            </a:srgbClr>
          </a:solidFill>
          <a:ln w="8255">
            <a:solidFill>
              <a:srgbClr val="12355B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2800007" y="4329067"/>
            <a:ext cx="21875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 rot="5400000">
            <a:off x="3011465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4688553" y="4329067"/>
            <a:ext cx="21875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 rot="5400000">
            <a:off x="4900011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6278140" y="4329067"/>
            <a:ext cx="226042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 rot="5400000">
            <a:off x="6496890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7809393" y="4329067"/>
            <a:ext cx="233334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 rot="5400000">
            <a:off x="8035435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2654173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 rot="10800000">
            <a:off x="2610423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3937509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 rot="10800000">
            <a:off x="3893759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5497930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 rot="10800000">
            <a:off x="5454179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7196892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 rot="10800000">
            <a:off x="7153142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211459" y="4030259"/>
            <a:ext cx="1035419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</a:t>
            </a:r>
            <a:endParaRPr lang="en-US" sz="98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逐chirp战术动作</a:t>
            </a:r>
            <a:endParaRPr lang="en-US" sz="980" dirty="0"/>
          </a:p>
        </p:txBody>
      </p:sp>
      <p:sp>
        <p:nvSpPr>
          <p:cNvPr id="94" name="Shape 88"/>
          <p:cNvSpPr/>
          <p:nvPr/>
        </p:nvSpPr>
        <p:spPr>
          <a:xfrm>
            <a:off x="1436462" y="3818908"/>
            <a:ext cx="1363545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5" name="Text 89"/>
          <p:cNvSpPr/>
          <p:nvPr/>
        </p:nvSpPr>
        <p:spPr>
          <a:xfrm>
            <a:off x="1487503" y="3869923"/>
            <a:ext cx="126146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状态序列</a:t>
            </a:r>
            <a:endParaRPr lang="en-US" sz="1100" dirty="0"/>
          </a:p>
        </p:txBody>
      </p:sp>
      <p:sp>
        <p:nvSpPr>
          <p:cNvPr id="96" name="Shape 90"/>
          <p:cNvSpPr/>
          <p:nvPr/>
        </p:nvSpPr>
        <p:spPr>
          <a:xfrm>
            <a:off x="3120841" y="3818908"/>
            <a:ext cx="1567712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7" name="Text 91"/>
          <p:cNvSpPr/>
          <p:nvPr/>
        </p:nvSpPr>
        <p:spPr>
          <a:xfrm>
            <a:off x="3171882" y="3869923"/>
            <a:ext cx="146562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</a:t>
            </a:r>
            <a:endParaRPr lang="en-US" sz="1100" dirty="0"/>
          </a:p>
        </p:txBody>
      </p:sp>
      <p:sp>
        <p:nvSpPr>
          <p:cNvPr id="98" name="Shape 92"/>
          <p:cNvSpPr/>
          <p:nvPr/>
        </p:nvSpPr>
        <p:spPr>
          <a:xfrm>
            <a:off x="5009387" y="3818908"/>
            <a:ext cx="1268753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9" name="Text 93"/>
          <p:cNvSpPr/>
          <p:nvPr/>
        </p:nvSpPr>
        <p:spPr>
          <a:xfrm>
            <a:off x="5060429" y="3869923"/>
            <a:ext cx="1166669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值 + bonus</a:t>
            </a:r>
            <a:endParaRPr lang="en-US" sz="1100" dirty="0"/>
          </a:p>
        </p:txBody>
      </p:sp>
      <p:sp>
        <p:nvSpPr>
          <p:cNvPr id="100" name="Shape 94"/>
          <p:cNvSpPr/>
          <p:nvPr/>
        </p:nvSpPr>
        <p:spPr>
          <a:xfrm>
            <a:off x="6606265" y="3818908"/>
            <a:ext cx="1203128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101" name="Text 95"/>
          <p:cNvSpPr/>
          <p:nvPr/>
        </p:nvSpPr>
        <p:spPr>
          <a:xfrm>
            <a:off x="6657307" y="3869923"/>
            <a:ext cx="110104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ε-greedy</a:t>
            </a:r>
            <a:endParaRPr lang="en-US" sz="1100" dirty="0"/>
          </a:p>
        </p:txBody>
      </p:sp>
      <p:sp>
        <p:nvSpPr>
          <p:cNvPr id="102" name="Shape 96"/>
          <p:cNvSpPr/>
          <p:nvPr/>
        </p:nvSpPr>
        <p:spPr>
          <a:xfrm>
            <a:off x="8144811" y="3818908"/>
            <a:ext cx="1421878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8195853" y="3869923"/>
            <a:ext cx="1319795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(fc_index, td_index)</a:t>
            </a:r>
            <a:endParaRPr lang="en-US" sz="1100" dirty="0"/>
          </a:p>
        </p:txBody>
      </p:sp>
      <p:pic>
        <p:nvPicPr>
          <p:cNvPr id="104" name="Image 4" descr="state_seque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837" y="4110427"/>
            <a:ext cx="1166669" cy="364400"/>
          </a:xfrm>
          <a:prstGeom prst="rect">
            <a:avLst/>
          </a:prstGeom>
        </p:spPr>
      </p:pic>
      <p:sp>
        <p:nvSpPr>
          <p:cNvPr id="105" name="Text 98"/>
          <p:cNvSpPr/>
          <p:nvPr/>
        </p:nvSpPr>
        <p:spPr>
          <a:xfrm>
            <a:off x="1538545" y="4489403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最近N=32 chirp观测</a:t>
            </a:r>
            <a:endParaRPr lang="en-US" sz="710" dirty="0"/>
          </a:p>
        </p:txBody>
      </p:sp>
      <p:sp>
        <p:nvSpPr>
          <p:cNvPr id="106" name="Text 99"/>
          <p:cNvSpPr/>
          <p:nvPr/>
        </p:nvSpPr>
        <p:spPr>
          <a:xfrm>
            <a:off x="1538545" y="4620587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SINR序列</a:t>
            </a:r>
            <a:endParaRPr lang="en-US" sz="710" dirty="0"/>
          </a:p>
        </p:txBody>
      </p:sp>
      <p:sp>
        <p:nvSpPr>
          <p:cNvPr id="107" name="Text 100"/>
          <p:cNvSpPr/>
          <p:nvPr/>
        </p:nvSpPr>
        <p:spPr>
          <a:xfrm>
            <a:off x="1538545" y="4751770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选定维度上下文</a:t>
            </a:r>
            <a:endParaRPr lang="en-US" sz="710" dirty="0"/>
          </a:p>
        </p:txBody>
      </p:sp>
      <p:pic>
        <p:nvPicPr>
          <p:cNvPr id="108" name="Image 5" descr="dqn_networ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7508" y="4081275"/>
            <a:ext cx="853127" cy="553887"/>
          </a:xfrm>
          <a:prstGeom prst="rect">
            <a:avLst/>
          </a:prstGeom>
        </p:spPr>
      </p:pic>
      <p:sp>
        <p:nvSpPr>
          <p:cNvPr id="109" name="Shape 101"/>
          <p:cNvSpPr/>
          <p:nvPr/>
        </p:nvSpPr>
        <p:spPr>
          <a:xfrm>
            <a:off x="4025009" y="4365507"/>
            <a:ext cx="14583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 rot="5400000">
            <a:off x="4017718" y="4314491"/>
            <a:ext cx="116667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4112510" y="4197883"/>
            <a:ext cx="459376" cy="386264"/>
          </a:xfrm>
          <a:prstGeom prst="roundRect">
            <a:avLst>
              <a:gd name="adj" fmla="val 1183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112" name="Text 104"/>
          <p:cNvSpPr/>
          <p:nvPr/>
        </p:nvSpPr>
        <p:spPr>
          <a:xfrm>
            <a:off x="4148968" y="4227035"/>
            <a:ext cx="386459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</a:t>
            </a:r>
            <a:endParaRPr lang="en-US" sz="850" dirty="0"/>
          </a:p>
        </p:txBody>
      </p:sp>
      <p:sp>
        <p:nvSpPr>
          <p:cNvPr id="113" name="Text 105"/>
          <p:cNvSpPr/>
          <p:nvPr/>
        </p:nvSpPr>
        <p:spPr>
          <a:xfrm>
            <a:off x="4200010" y="4358219"/>
            <a:ext cx="291667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↻</a:t>
            </a:r>
            <a:endParaRPr lang="en-US" sz="1600" dirty="0"/>
          </a:p>
        </p:txBody>
      </p:sp>
      <p:sp>
        <p:nvSpPr>
          <p:cNvPr id="114" name="Text 106"/>
          <p:cNvSpPr/>
          <p:nvPr/>
        </p:nvSpPr>
        <p:spPr>
          <a:xfrm>
            <a:off x="3295841" y="4686179"/>
            <a:ext cx="123958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时序建模 + 价值估计</a:t>
            </a:r>
            <a:endParaRPr lang="en-US" sz="800" dirty="0"/>
          </a:p>
        </p:txBody>
      </p:sp>
      <p:sp>
        <p:nvSpPr>
          <p:cNvPr id="115" name="Shape 107"/>
          <p:cNvSpPr/>
          <p:nvPr/>
        </p:nvSpPr>
        <p:spPr>
          <a:xfrm>
            <a:off x="5133345" y="4700755"/>
            <a:ext cx="1028127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5206262" y="4292627"/>
            <a:ext cx="109375" cy="400840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17" name="Text 109"/>
          <p:cNvSpPr/>
          <p:nvPr/>
        </p:nvSpPr>
        <p:spPr>
          <a:xfrm>
            <a:off x="5169804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Q₁</a:t>
            </a:r>
            <a:endParaRPr lang="en-US" sz="730" dirty="0"/>
          </a:p>
        </p:txBody>
      </p:sp>
      <p:sp>
        <p:nvSpPr>
          <p:cNvPr id="118" name="Shape 110"/>
          <p:cNvSpPr/>
          <p:nvPr/>
        </p:nvSpPr>
        <p:spPr>
          <a:xfrm>
            <a:off x="5483346" y="4350931"/>
            <a:ext cx="109375" cy="342536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19" name="Text 111"/>
          <p:cNvSpPr/>
          <p:nvPr/>
        </p:nvSpPr>
        <p:spPr>
          <a:xfrm>
            <a:off x="5446888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Q₂</a:t>
            </a:r>
            <a:endParaRPr lang="en-US" sz="730" dirty="0"/>
          </a:p>
        </p:txBody>
      </p:sp>
      <p:sp>
        <p:nvSpPr>
          <p:cNvPr id="120" name="Shape 112"/>
          <p:cNvSpPr/>
          <p:nvPr/>
        </p:nvSpPr>
        <p:spPr>
          <a:xfrm>
            <a:off x="6008347" y="4248899"/>
            <a:ext cx="109375" cy="444567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21" name="Text 113"/>
          <p:cNvSpPr/>
          <p:nvPr/>
        </p:nvSpPr>
        <p:spPr>
          <a:xfrm>
            <a:off x="5971889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Qₙ</a:t>
            </a:r>
            <a:endParaRPr lang="en-US" sz="730" dirty="0"/>
          </a:p>
        </p:txBody>
      </p:sp>
      <p:sp>
        <p:nvSpPr>
          <p:cNvPr id="122" name="Text 114"/>
          <p:cNvSpPr/>
          <p:nvPr/>
        </p:nvSpPr>
        <p:spPr>
          <a:xfrm>
            <a:off x="5702097" y="4248899"/>
            <a:ext cx="204167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···</a:t>
            </a:r>
            <a:endParaRPr lang="en-US" sz="1100" dirty="0"/>
          </a:p>
        </p:txBody>
      </p:sp>
      <p:sp>
        <p:nvSpPr>
          <p:cNvPr id="123" name="Text 115"/>
          <p:cNvSpPr/>
          <p:nvPr/>
        </p:nvSpPr>
        <p:spPr>
          <a:xfrm>
            <a:off x="5184387" y="4737194"/>
            <a:ext cx="918752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bonus</a:t>
            </a:r>
            <a:endParaRPr lang="en-US" sz="870" dirty="0"/>
          </a:p>
        </p:txBody>
      </p:sp>
      <p:pic>
        <p:nvPicPr>
          <p:cNvPr id="124" name="Image 6" descr="epsilon_sca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349" y="4095851"/>
            <a:ext cx="714585" cy="510159"/>
          </a:xfrm>
          <a:prstGeom prst="rect">
            <a:avLst/>
          </a:prstGeom>
        </p:spPr>
      </p:pic>
      <p:sp>
        <p:nvSpPr>
          <p:cNvPr id="125" name="Text 116"/>
          <p:cNvSpPr/>
          <p:nvPr/>
        </p:nvSpPr>
        <p:spPr>
          <a:xfrm>
            <a:off x="6708349" y="4678891"/>
            <a:ext cx="100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探索(ε) / 利用(1−ε)</a:t>
            </a:r>
            <a:endParaRPr lang="en-US" sz="780" dirty="0"/>
          </a:p>
        </p:txBody>
      </p:sp>
      <p:pic>
        <p:nvPicPr>
          <p:cNvPr id="126" name="Image 7" descr="action_gri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895" y="4117715"/>
            <a:ext cx="517710" cy="502871"/>
          </a:xfrm>
          <a:prstGeom prst="rect">
            <a:avLst/>
          </a:prstGeom>
        </p:spPr>
      </p:pic>
      <p:sp>
        <p:nvSpPr>
          <p:cNvPr id="127" name="Text 117"/>
          <p:cNvSpPr/>
          <p:nvPr/>
        </p:nvSpPr>
        <p:spPr>
          <a:xfrm>
            <a:off x="8305228" y="4664315"/>
            <a:ext cx="11229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频率索引 / 时延索引</a:t>
            </a:r>
            <a:endParaRPr lang="en-US" sz="740" dirty="0"/>
          </a:p>
        </p:txBody>
      </p:sp>
      <p:sp>
        <p:nvSpPr>
          <p:cNvPr id="128" name="Text 118"/>
          <p:cNvSpPr/>
          <p:nvPr/>
        </p:nvSpPr>
        <p:spPr>
          <a:xfrm>
            <a:off x="8305228" y="4795498"/>
            <a:ext cx="1122919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具体参数组合</a:t>
            </a:r>
            <a:endParaRPr lang="en-US" sz="730" dirty="0"/>
          </a:p>
        </p:txBody>
      </p:sp>
      <p:sp>
        <p:nvSpPr>
          <p:cNvPr id="129" name="Shape 119"/>
          <p:cNvSpPr/>
          <p:nvPr/>
        </p:nvSpPr>
        <p:spPr>
          <a:xfrm>
            <a:off x="714585" y="5626329"/>
            <a:ext cx="342709" cy="3644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0" name="Shape 120"/>
          <p:cNvSpPr/>
          <p:nvPr/>
        </p:nvSpPr>
        <p:spPr>
          <a:xfrm>
            <a:off x="729168" y="2951637"/>
            <a:ext cx="3646" cy="2667405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1" name="Shape 121"/>
          <p:cNvSpPr/>
          <p:nvPr/>
        </p:nvSpPr>
        <p:spPr>
          <a:xfrm>
            <a:off x="678127" y="2900621"/>
            <a:ext cx="102084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8239603" y="5626329"/>
            <a:ext cx="838544" cy="3644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9078146" y="5123458"/>
            <a:ext cx="3646" cy="502871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9027104" y="5057866"/>
            <a:ext cx="102084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1144794" y="5305658"/>
            <a:ext cx="1028127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反馈: SINR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实测SINR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干扰强度变化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检测结果</a:t>
            </a:r>
            <a:endParaRPr lang="en-US" sz="730" dirty="0"/>
          </a:p>
        </p:txBody>
      </p:sp>
      <p:sp>
        <p:nvSpPr>
          <p:cNvPr id="136" name="Text 126"/>
          <p:cNvSpPr/>
          <p:nvPr/>
        </p:nvSpPr>
        <p:spPr>
          <a:xfrm>
            <a:off x="7313559" y="5298370"/>
            <a:ext cx="969794" cy="6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反馈: 动作记录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fc_index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td_index</a:t>
            </a:r>
            <a:endParaRPr lang="en-US" sz="73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时间戳</a:t>
            </a:r>
            <a:endParaRPr lang="en-US" sz="730" dirty="0"/>
          </a:p>
        </p:txBody>
      </p:sp>
      <p:sp>
        <p:nvSpPr>
          <p:cNvPr id="137" name="Shape 127"/>
          <p:cNvSpPr/>
          <p:nvPr/>
        </p:nvSpPr>
        <p:spPr>
          <a:xfrm>
            <a:off x="2216672" y="5283794"/>
            <a:ext cx="4943762" cy="706935"/>
          </a:xfrm>
          <a:prstGeom prst="roundRect">
            <a:avLst>
              <a:gd name="adj" fmla="val 6467"/>
            </a:avLst>
          </a:prstGeom>
          <a:solidFill>
            <a:srgbClr val="FFFDF8"/>
          </a:solidFill>
          <a:ln w="8255">
            <a:solidFill>
              <a:srgbClr val="A78958"/>
            </a:solidFill>
            <a:prstDash val="solid"/>
          </a:ln>
        </p:spPr>
      </p:sp>
      <p:sp>
        <p:nvSpPr>
          <p:cNvPr id="138" name="Text 128"/>
          <p:cNvSpPr/>
          <p:nvPr/>
        </p:nvSpPr>
        <p:spPr>
          <a:xfrm>
            <a:off x="3784384" y="5371250"/>
            <a:ext cx="1830213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FMCW雷达环境</a:t>
            </a:r>
            <a:endParaRPr lang="en-US" sz="1100" dirty="0"/>
          </a:p>
        </p:txBody>
      </p:sp>
      <p:pic>
        <p:nvPicPr>
          <p:cNvPr id="139" name="Image 8" descr="environment_satellit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8756" y="5465994"/>
            <a:ext cx="430209" cy="451855"/>
          </a:xfrm>
          <a:prstGeom prst="rect">
            <a:avLst/>
          </a:prstGeom>
        </p:spPr>
      </p:pic>
      <p:pic>
        <p:nvPicPr>
          <p:cNvPr id="140" name="Image 9" descr="environment_wav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7925" y="5480570"/>
            <a:ext cx="612501" cy="444567"/>
          </a:xfrm>
          <a:prstGeom prst="rect">
            <a:avLst/>
          </a:prstGeom>
        </p:spPr>
      </p:pic>
      <p:pic>
        <p:nvPicPr>
          <p:cNvPr id="141" name="Image 10" descr="environment_small_car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3344" y="5582601"/>
            <a:ext cx="648960" cy="349824"/>
          </a:xfrm>
          <a:prstGeom prst="rect">
            <a:avLst/>
          </a:prstGeom>
        </p:spPr>
      </p:pic>
      <p:pic>
        <p:nvPicPr>
          <p:cNvPr id="142" name="Image 11" descr="environment_large_car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4804" y="5524298"/>
            <a:ext cx="612501" cy="415416"/>
          </a:xfrm>
          <a:prstGeom prst="rect">
            <a:avLst/>
          </a:prstGeom>
        </p:spPr>
      </p:pic>
      <p:pic>
        <p:nvPicPr>
          <p:cNvPr id="143" name="Image 12" descr="environment_antenn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9806" y="5465994"/>
            <a:ext cx="452084" cy="459143"/>
          </a:xfrm>
          <a:prstGeom prst="rect">
            <a:avLst/>
          </a:prstGeom>
        </p:spPr>
      </p:pic>
      <p:sp>
        <p:nvSpPr>
          <p:cNvPr id="144" name="Shape 129"/>
          <p:cNvSpPr/>
          <p:nvPr/>
        </p:nvSpPr>
        <p:spPr>
          <a:xfrm>
            <a:off x="10069815" y="954727"/>
            <a:ext cx="1939588" cy="3294172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45" name="Shape 130"/>
          <p:cNvSpPr/>
          <p:nvPr/>
        </p:nvSpPr>
        <p:spPr>
          <a:xfrm>
            <a:off x="10069815" y="954727"/>
            <a:ext cx="1939588" cy="473719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10361483" y="1093199"/>
            <a:ext cx="137083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时间尺度对比</a:t>
            </a:r>
            <a:endParaRPr lang="en-US" sz="1300" dirty="0"/>
          </a:p>
        </p:txBody>
      </p:sp>
      <p:pic>
        <p:nvPicPr>
          <p:cNvPr id="147" name="Image 13" descr="meta_clock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57315" y="1705390"/>
            <a:ext cx="721877" cy="721511"/>
          </a:xfrm>
          <a:prstGeom prst="rect">
            <a:avLst/>
          </a:prstGeom>
        </p:spPr>
      </p:pic>
      <p:sp>
        <p:nvSpPr>
          <p:cNvPr id="148" name="Text 132"/>
          <p:cNvSpPr/>
          <p:nvPr/>
        </p:nvSpPr>
        <p:spPr>
          <a:xfrm>
            <a:off x="10937526" y="1719966"/>
            <a:ext cx="962502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元策略层:</a:t>
            </a:r>
            <a:endParaRPr lang="en-US" sz="970" dirty="0"/>
          </a:p>
        </p:txBody>
      </p:sp>
      <p:sp>
        <p:nvSpPr>
          <p:cNvPr id="149" name="Text 133"/>
          <p:cNvSpPr/>
          <p:nvPr/>
        </p:nvSpPr>
        <p:spPr>
          <a:xfrm>
            <a:off x="10937526" y="1938606"/>
            <a:ext cx="962502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测试阶段每</a:t>
            </a:r>
            <a:endParaRPr lang="en-US" sz="92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K=3步触发</a:t>
            </a:r>
            <a:endParaRPr lang="en-US" sz="920" dirty="0"/>
          </a:p>
        </p:txBody>
      </p:sp>
      <p:sp>
        <p:nvSpPr>
          <p:cNvPr id="150" name="Text 134"/>
          <p:cNvSpPr/>
          <p:nvPr/>
        </p:nvSpPr>
        <p:spPr>
          <a:xfrm>
            <a:off x="10653150" y="2470629"/>
            <a:ext cx="124687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(3个chirp更新一次)</a:t>
            </a:r>
            <a:endParaRPr lang="en-US" sz="840" dirty="0"/>
          </a:p>
        </p:txBody>
      </p:sp>
      <p:sp>
        <p:nvSpPr>
          <p:cNvPr id="151" name="Shape 135"/>
          <p:cNvSpPr/>
          <p:nvPr/>
        </p:nvSpPr>
        <p:spPr>
          <a:xfrm>
            <a:off x="10164607" y="2915197"/>
            <a:ext cx="1742712" cy="3644"/>
          </a:xfrm>
          <a:prstGeom prst="line">
            <a:avLst/>
          </a:prstGeom>
          <a:noFill/>
          <a:ln w="8890">
            <a:solidFill>
              <a:srgbClr val="6C89A8"/>
            </a:solidFill>
            <a:prstDash val="solid"/>
          </a:ln>
        </p:spPr>
      </p:sp>
      <p:pic>
        <p:nvPicPr>
          <p:cNvPr id="152" name="Image 14" descr="exec_gaug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6482" y="3221292"/>
            <a:ext cx="700002" cy="568463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0937526" y="3235868"/>
            <a:ext cx="962502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执行层:</a:t>
            </a:r>
            <a:endParaRPr lang="en-US" sz="970" dirty="0"/>
          </a:p>
        </p:txBody>
      </p:sp>
      <p:sp>
        <p:nvSpPr>
          <p:cNvPr id="154" name="Text 137"/>
          <p:cNvSpPr/>
          <p:nvPr/>
        </p:nvSpPr>
        <p:spPr>
          <a:xfrm>
            <a:off x="10937526" y="3454508"/>
            <a:ext cx="9625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逐chirp运行</a:t>
            </a:r>
            <a:endParaRPr lang="en-US" sz="920" dirty="0"/>
          </a:p>
        </p:txBody>
      </p:sp>
      <p:sp>
        <p:nvSpPr>
          <p:cNvPr id="155" name="Text 138"/>
          <p:cNvSpPr/>
          <p:nvPr/>
        </p:nvSpPr>
        <p:spPr>
          <a:xfrm>
            <a:off x="10653150" y="3767892"/>
            <a:ext cx="124687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(每个chirp都决策)</a:t>
            </a:r>
            <a:endParaRPr lang="en-US" sz="840" dirty="0"/>
          </a:p>
        </p:txBody>
      </p:sp>
      <p:sp>
        <p:nvSpPr>
          <p:cNvPr id="156" name="Shape 139"/>
          <p:cNvSpPr/>
          <p:nvPr/>
        </p:nvSpPr>
        <p:spPr>
          <a:xfrm>
            <a:off x="10026065" y="4642451"/>
            <a:ext cx="1983338" cy="1268111"/>
          </a:xfrm>
          <a:prstGeom prst="roundRect">
            <a:avLst>
              <a:gd name="adj" fmla="val 3605"/>
            </a:avLst>
          </a:prstGeom>
          <a:solidFill>
            <a:srgbClr val="FFF9EC"/>
          </a:solidFill>
          <a:ln w="8890">
            <a:solidFill>
              <a:srgbClr val="A78958"/>
            </a:solidFill>
            <a:prstDash val="solid"/>
          </a:ln>
        </p:spPr>
      </p:sp>
      <p:pic>
        <p:nvPicPr>
          <p:cNvPr id="157" name="Image 15" descr="warning_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0024" y="4970410"/>
            <a:ext cx="510418" cy="510159"/>
          </a:xfrm>
          <a:prstGeom prst="rect">
            <a:avLst/>
          </a:prstGeom>
        </p:spPr>
      </p:pic>
      <p:sp>
        <p:nvSpPr>
          <p:cNvPr id="158" name="Text 140"/>
          <p:cNvSpPr/>
          <p:nvPr/>
        </p:nvSpPr>
        <p:spPr>
          <a:xfrm>
            <a:off x="10777109" y="4817362"/>
            <a:ext cx="955211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注意事项:</a:t>
            </a:r>
            <a:endParaRPr lang="en-US" sz="1070" dirty="0"/>
          </a:p>
        </p:txBody>
      </p:sp>
      <p:sp>
        <p:nvSpPr>
          <p:cNvPr id="159" name="Text 141"/>
          <p:cNvSpPr/>
          <p:nvPr/>
        </p:nvSpPr>
        <p:spPr>
          <a:xfrm>
            <a:off x="10762525" y="5065154"/>
            <a:ext cx="1064586" cy="42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决策分工不等于</a:t>
            </a:r>
            <a:endParaRPr lang="en-US" sz="92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当前实现已满足</a:t>
            </a:r>
            <a:endParaRPr lang="en-US" sz="920" dirty="0"/>
          </a:p>
        </p:txBody>
      </p:sp>
      <p:sp>
        <p:nvSpPr>
          <p:cNvPr id="160" name="Text 142"/>
          <p:cNvSpPr/>
          <p:nvPr/>
        </p:nvSpPr>
        <p:spPr>
          <a:xfrm>
            <a:off x="10762525" y="5531586"/>
            <a:ext cx="110104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20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μs工程时延</a:t>
            </a:r>
            <a:endParaRPr lang="en-US" sz="1050" dirty="0"/>
          </a:p>
        </p:txBody>
      </p:sp>
      <p:sp>
        <p:nvSpPr>
          <p:cNvPr id="161" name="Shape 143"/>
          <p:cNvSpPr/>
          <p:nvPr/>
        </p:nvSpPr>
        <p:spPr>
          <a:xfrm>
            <a:off x="175000" y="6172929"/>
            <a:ext cx="11848986" cy="568463"/>
          </a:xfrm>
          <a:prstGeom prst="roundRect">
            <a:avLst>
              <a:gd name="adj" fmla="val 8043"/>
            </a:avLst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pic>
        <p:nvPicPr>
          <p:cNvPr id="162" name="Image 16" descr="school_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6459" y="6216657"/>
            <a:ext cx="495834" cy="495583"/>
          </a:xfrm>
          <a:prstGeom prst="rect">
            <a:avLst/>
          </a:prstGeom>
        </p:spPr>
      </p:pic>
      <p:sp>
        <p:nvSpPr>
          <p:cNvPr id="163" name="Text 144"/>
          <p:cNvSpPr/>
          <p:nvPr/>
        </p:nvSpPr>
        <p:spPr>
          <a:xfrm>
            <a:off x="2333339" y="6318689"/>
            <a:ext cx="8166686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宏观认知与微观控制解耦，使快速执行获得结构化探索方向</a:t>
            </a:r>
            <a:endParaRPr lang="en-US" sz="1750" dirty="0"/>
          </a:p>
        </p:txBody>
      </p:sp>
      <p:sp>
        <p:nvSpPr>
          <p:cNvPr id="164" name="Text 145"/>
          <p:cNvSpPr/>
          <p:nvPr/>
        </p:nvSpPr>
        <p:spPr>
          <a:xfrm>
            <a:off x="9114605" y="6588344"/>
            <a:ext cx="2639590" cy="10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C5D7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来源：E04 / E05 / E10；S2:p3,p9–11；S3:p2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林渠</cp:lastModifiedBy>
  <cp:revision>1</cp:revision>
  <dcterms:created xsi:type="dcterms:W3CDTF">2026-07-23T08:51:20Z</dcterms:created>
  <dcterms:modified xsi:type="dcterms:W3CDTF">2026-07-23T08:51:20Z</dcterms:modified>
</cp:coreProperties>
</file>