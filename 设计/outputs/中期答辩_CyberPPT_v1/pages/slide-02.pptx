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52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184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3094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IVORY">
    <p:bg>
      <p:bgPr>
        <a:solidFill>
          <a:srgbClr val="FC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3959" y="109320"/>
            <a:ext cx="481251" cy="298808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47917" y="145760"/>
            <a:ext cx="226042" cy="211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02</a:t>
            </a:r>
            <a:endParaRPr lang="en-US" sz="16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309385" y="160336"/>
            <a:ext cx="3813551" cy="196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kern="0" spc="25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基于分层强化学习的FMCW雷达抗干扰策略优化</a:t>
            </a:r>
            <a:endParaRPr lang="en-US" sz="12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302110" y="153048"/>
            <a:ext cx="751043" cy="211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研究背景</a:t>
            </a:r>
            <a:endParaRPr lang="en-US" sz="13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23959" y="437279"/>
            <a:ext cx="11951070" cy="14576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08336" y="618165"/>
            <a:ext cx="9967732" cy="386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20" b="1" kern="0" spc="5" dirty="0">
                <a:solidFill>
                  <a:srgbClr val="090B0E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相干干扰使FMCW雷达面临“难识别、难适应、难实时”的复合挑战</a:t>
            </a:r>
            <a:endParaRPr lang="en-US" sz="232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522923" y="1099173"/>
            <a:ext cx="7160433" cy="269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30" kern="0" spc="5" dirty="0">
                <a:solidFill>
                  <a:srgbClr val="5F646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车载雷达密度上升后，相同调频斜率与PRI会产生形态接近真实目标的窄带干扰</a:t>
            </a:r>
            <a:endParaRPr lang="en-US" sz="143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9" name="Image 0" descr="多车FMCW雷达相干干扰道路场景，无文字复杂视觉资产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542" y="1515902"/>
            <a:ext cx="6730224" cy="424161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00001" y="1676238"/>
            <a:ext cx="1217709" cy="3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1070" b="1" dirty="0">
                <a:solidFill>
                  <a:srgbClr val="B4413E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干扰车A</a:t>
            </a:r>
            <a:endParaRPr lang="en-US" sz="107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0" indent="0" algn="ctr">
              <a:lnSpc>
                <a:spcPct val="88000"/>
              </a:lnSpc>
              <a:buNone/>
            </a:pPr>
            <a:r>
              <a:rPr lang="en-US" sz="1070" b="1" dirty="0">
                <a:solidFill>
                  <a:srgbClr val="B4413E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（同斜率 / 同PRI）</a:t>
            </a:r>
            <a:endParaRPr lang="en-US" sz="107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13542" y="3214004"/>
            <a:ext cx="1325687" cy="3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1070" b="1" dirty="0">
                <a:solidFill>
                  <a:srgbClr val="B4413E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干扰车B</a:t>
            </a:r>
            <a:endParaRPr lang="en-US" sz="107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0" indent="0" algn="ctr">
              <a:lnSpc>
                <a:spcPct val="88000"/>
              </a:lnSpc>
              <a:buNone/>
            </a:pPr>
            <a:r>
              <a:rPr lang="en-US" sz="1070" b="1" dirty="0">
                <a:solidFill>
                  <a:srgbClr val="B4413E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（异斜率 / 近PRI）</a:t>
            </a:r>
            <a:endParaRPr lang="en-US" sz="107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541680" y="2040638"/>
            <a:ext cx="1225002" cy="3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1070" b="1" dirty="0">
                <a:solidFill>
                  <a:srgbClr val="B4413E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干扰车C</a:t>
            </a:r>
            <a:endParaRPr lang="en-US" sz="107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0" indent="0" algn="ctr">
              <a:lnSpc>
                <a:spcPct val="88000"/>
              </a:lnSpc>
              <a:buNone/>
            </a:pPr>
            <a:r>
              <a:rPr lang="en-US" sz="1070" b="1" dirty="0">
                <a:solidFill>
                  <a:srgbClr val="B4413E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（同斜率 / 异PRI）</a:t>
            </a:r>
            <a:endParaRPr lang="en-US" sz="107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360185" y="1574206"/>
            <a:ext cx="700002" cy="18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182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真实目标</a:t>
            </a:r>
            <a:endParaRPr lang="en-US" sz="105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3157299" y="4611985"/>
            <a:ext cx="1057294" cy="196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自车（雷达）</a:t>
            </a:r>
            <a:endParaRPr lang="en-US" sz="115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3222924" y="1785558"/>
            <a:ext cx="116667" cy="21864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22924" y="1785558"/>
            <a:ext cx="21875" cy="116608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68760" y="1785558"/>
            <a:ext cx="116667" cy="21864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163551" y="1785558"/>
            <a:ext cx="21875" cy="116608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222924" y="2477917"/>
            <a:ext cx="116667" cy="21864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222924" y="2383173"/>
            <a:ext cx="21875" cy="116608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068760" y="2477917"/>
            <a:ext cx="116667" cy="21864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163551" y="2383173"/>
            <a:ext cx="21875" cy="116608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64584" y="4489403"/>
            <a:ext cx="1596879" cy="1085911"/>
          </a:xfrm>
          <a:prstGeom prst="roundRect">
            <a:avLst>
              <a:gd name="adj" fmla="val 5052"/>
            </a:avLst>
          </a:prstGeom>
          <a:solidFill>
            <a:srgbClr val="F6F4EE">
              <a:alpha val="95000"/>
            </a:srgbClr>
          </a:solidFill>
          <a:ln w="10160">
            <a:solidFill>
              <a:srgbClr val="AAB4BF">
                <a:alpha val="82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 rot="-889589">
            <a:off x="528024" y="4660671"/>
            <a:ext cx="256456" cy="29152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 rot="889589">
            <a:off x="528024" y="4726262"/>
            <a:ext cx="256456" cy="29152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67710" y="4591435"/>
            <a:ext cx="918752" cy="233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0182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自车雷达波束</a:t>
            </a:r>
            <a:endParaRPr lang="en-US" sz="115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7" name="Shape 24"/>
          <p:cNvSpPr/>
          <p:nvPr/>
        </p:nvSpPr>
        <p:spPr>
          <a:xfrm rot="-3378596">
            <a:off x="507440" y="4995554"/>
            <a:ext cx="78872" cy="15305"/>
          </a:xfrm>
          <a:prstGeom prst="rect">
            <a:avLst/>
          </a:prstGeom>
          <a:solidFill>
            <a:srgbClr val="B4413E"/>
          </a:solidFill>
          <a:ln w="12700">
            <a:solidFill>
              <a:srgbClr val="B4413E">
                <a:alpha val="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 rot="4293903">
            <a:off x="521451" y="5028350"/>
            <a:ext cx="138350" cy="15305"/>
          </a:xfrm>
          <a:prstGeom prst="rect">
            <a:avLst/>
          </a:prstGeom>
          <a:solidFill>
            <a:srgbClr val="B4413E"/>
          </a:solidFill>
          <a:ln w="12700">
            <a:solidFill>
              <a:srgbClr val="B4413E">
                <a:alpha val="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 rot="-4293903">
            <a:off x="565201" y="5028350"/>
            <a:ext cx="138350" cy="15305"/>
          </a:xfrm>
          <a:prstGeom prst="rect">
            <a:avLst/>
          </a:prstGeom>
          <a:solidFill>
            <a:srgbClr val="B4413E"/>
          </a:solidFill>
          <a:ln w="12700">
            <a:solidFill>
              <a:srgbClr val="B4413E">
                <a:alpha val="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 rot="4293903">
            <a:off x="608952" y="5028350"/>
            <a:ext cx="138350" cy="15305"/>
          </a:xfrm>
          <a:prstGeom prst="rect">
            <a:avLst/>
          </a:prstGeom>
          <a:solidFill>
            <a:srgbClr val="B4413E"/>
          </a:solidFill>
          <a:ln w="12700">
            <a:solidFill>
              <a:srgbClr val="B4413E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 rot="-3378596">
            <a:off x="682441" y="5061146"/>
            <a:ext cx="78872" cy="15305"/>
          </a:xfrm>
          <a:prstGeom prst="rect">
            <a:avLst/>
          </a:prstGeom>
          <a:solidFill>
            <a:srgbClr val="B4413E"/>
          </a:solidFill>
          <a:ln w="12700">
            <a:solidFill>
              <a:srgbClr val="B4413E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67710" y="4919394"/>
            <a:ext cx="918752" cy="233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0182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干扰信号</a:t>
            </a:r>
            <a:endParaRPr lang="en-US" sz="115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525001" y="5334810"/>
            <a:ext cx="36458" cy="14576"/>
          </a:xfrm>
          <a:prstGeom prst="rect">
            <a:avLst/>
          </a:prstGeom>
          <a:solidFill>
            <a:srgbClr val="8F9AA5"/>
          </a:solidFill>
          <a:ln w="12700">
            <a:solidFill>
              <a:srgbClr val="8F9AA5">
                <a:alpha val="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83335" y="5334810"/>
            <a:ext cx="36458" cy="14576"/>
          </a:xfrm>
          <a:prstGeom prst="rect">
            <a:avLst/>
          </a:prstGeom>
          <a:solidFill>
            <a:srgbClr val="8F9AA5"/>
          </a:solidFill>
          <a:ln w="12700">
            <a:solidFill>
              <a:srgbClr val="8F9AA5">
                <a:alpha val="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41668" y="5334810"/>
            <a:ext cx="36458" cy="14576"/>
          </a:xfrm>
          <a:prstGeom prst="rect">
            <a:avLst/>
          </a:prstGeom>
          <a:solidFill>
            <a:srgbClr val="8F9AA5"/>
          </a:solidFill>
          <a:ln w="12700">
            <a:solidFill>
              <a:srgbClr val="8F9AA5">
                <a:alpha val="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00002" y="5334810"/>
            <a:ext cx="36458" cy="14576"/>
          </a:xfrm>
          <a:prstGeom prst="rect">
            <a:avLst/>
          </a:prstGeom>
          <a:solidFill>
            <a:srgbClr val="8F9AA5"/>
          </a:solidFill>
          <a:ln w="12700">
            <a:solidFill>
              <a:srgbClr val="8F9AA5">
                <a:alpha val="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58335" y="5334810"/>
            <a:ext cx="36458" cy="14576"/>
          </a:xfrm>
          <a:prstGeom prst="rect">
            <a:avLst/>
          </a:prstGeom>
          <a:solidFill>
            <a:srgbClr val="8F9AA5"/>
          </a:solidFill>
          <a:ln w="12700">
            <a:solidFill>
              <a:srgbClr val="8F9AA5">
                <a:alpha val="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67710" y="5218202"/>
            <a:ext cx="918752" cy="233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0182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雷达视线方向</a:t>
            </a:r>
            <a:endParaRPr lang="en-US" sz="115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" name="Shape 36"/>
          <p:cNvSpPr/>
          <p:nvPr/>
        </p:nvSpPr>
        <p:spPr>
          <a:xfrm>
            <a:off x="4221885" y="4022971"/>
            <a:ext cx="2544798" cy="1647086"/>
          </a:xfrm>
          <a:prstGeom prst="roundRect">
            <a:avLst>
              <a:gd name="adj" fmla="val 2221"/>
            </a:avLst>
          </a:prstGeom>
          <a:solidFill>
            <a:srgbClr val="F8F6F0">
              <a:alpha val="98000"/>
            </a:srgbClr>
          </a:solidFill>
          <a:ln w="10160">
            <a:solidFill>
              <a:srgbClr val="A8B2BD">
                <a:alpha val="8800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375010" y="4117715"/>
            <a:ext cx="1691671" cy="204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距离-多普勒谱（示意）</a:t>
            </a:r>
            <a:endParaRPr lang="en-US" sz="125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1" name="Text 38"/>
          <p:cNvSpPr/>
          <p:nvPr/>
        </p:nvSpPr>
        <p:spPr>
          <a:xfrm rot="16200000">
            <a:off x="4353135" y="4540060"/>
            <a:ext cx="466668" cy="160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F646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幅度（dB）</a:t>
            </a:r>
            <a:endParaRPr lang="en-US" sz="9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6139598" y="5203626"/>
            <a:ext cx="342709" cy="160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F646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距离</a:t>
            </a:r>
            <a:endParaRPr lang="en-US" sz="95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3" name="Shape 40"/>
          <p:cNvSpPr/>
          <p:nvPr/>
        </p:nvSpPr>
        <p:spPr>
          <a:xfrm>
            <a:off x="4652094" y="4452963"/>
            <a:ext cx="14583" cy="750663"/>
          </a:xfrm>
          <a:prstGeom prst="rect">
            <a:avLst/>
          </a:prstGeom>
          <a:solidFill>
            <a:srgbClr val="74808C"/>
          </a:solidFill>
          <a:ln w="12700">
            <a:solidFill>
              <a:srgbClr val="74808C">
                <a:alpha val="0"/>
              </a:srgbClr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652094" y="5189050"/>
            <a:ext cx="1735421" cy="14576"/>
          </a:xfrm>
          <a:prstGeom prst="rect">
            <a:avLst/>
          </a:prstGeom>
          <a:solidFill>
            <a:srgbClr val="74808C"/>
          </a:solidFill>
          <a:ln w="12700">
            <a:solidFill>
              <a:srgbClr val="74808C">
                <a:alpha val="0"/>
              </a:srgbClr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 rot="-751728">
            <a:off x="4680461" y="5129653"/>
            <a:ext cx="67226" cy="16762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 rot="-1593903">
            <a:off x="4742583" y="5104145"/>
            <a:ext cx="81524" cy="16762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 rot="678596">
            <a:off x="4819081" y="5093213"/>
            <a:ext cx="74361" cy="16762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 rot="-2319588">
            <a:off x="4882489" y="5071349"/>
            <a:ext cx="93379" cy="16762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 rot="2099521">
            <a:off x="4957592" y="5067705"/>
            <a:ext cx="89006" cy="16762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 rot="-3011666">
            <a:off x="5018062" y="5049485"/>
            <a:ext cx="113900" cy="16762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 rot="2700000">
            <a:off x="5097879" y="5038553"/>
            <a:ext cx="92808" cy="16762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 rot="-3378596">
            <a:off x="5147828" y="5016689"/>
            <a:ext cx="131453" cy="16762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 rot="-4537116">
            <a:off x="5139683" y="4819913"/>
            <a:ext cx="293575" cy="16762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 rot="4398045">
            <a:off x="5241551" y="4787117"/>
            <a:ext cx="228382" cy="16762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 rot="3726164">
            <a:off x="5351238" y="4958385"/>
            <a:ext cx="140258" cy="16762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 rot="-2519233">
            <a:off x="5441588" y="4987537"/>
            <a:ext cx="98100" cy="16762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 rot="3378596">
            <a:off x="5497828" y="5009401"/>
            <a:ext cx="131453" cy="16762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 rot="-3011666">
            <a:off x="5579522" y="5020333"/>
            <a:ext cx="113900" cy="16762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 rot="3572067">
            <a:off x="5637481" y="5038553"/>
            <a:ext cx="143814" cy="16762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 rot="-3145884">
            <a:off x="5722509" y="5053129"/>
            <a:ext cx="119593" cy="16762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 rot="2849373">
            <a:off x="5799518" y="5049485"/>
            <a:ext cx="118700" cy="16762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 rot="-2161642">
            <a:off x="5889488" y="5064061"/>
            <a:ext cx="99178" cy="16762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 rot="2388334">
            <a:off x="5965981" y="5071349"/>
            <a:ext cx="113900" cy="16762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 rot="-956724">
            <a:off x="6064638" y="5093213"/>
            <a:ext cx="106169" cy="16762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 rot="1308085">
            <a:off x="6164552" y="5100501"/>
            <a:ext cx="117801" cy="16762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5279179" y="4635163"/>
            <a:ext cx="102084" cy="102032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2763B0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 rot="2700000">
            <a:off x="5071473" y="4970046"/>
            <a:ext cx="123744" cy="15305"/>
          </a:xfrm>
          <a:prstGeom prst="rect">
            <a:avLst/>
          </a:prstGeom>
          <a:solidFill>
            <a:srgbClr val="B4413E"/>
          </a:solidFill>
          <a:ln w="12700">
            <a:solidFill>
              <a:srgbClr val="B4413E">
                <a:alpha val="0"/>
              </a:srgbClr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 rot="-2700000">
            <a:off x="5071473" y="4970046"/>
            <a:ext cx="123744" cy="15305"/>
          </a:xfrm>
          <a:prstGeom prst="rect">
            <a:avLst/>
          </a:prstGeom>
          <a:solidFill>
            <a:srgbClr val="B4413E"/>
          </a:solidFill>
          <a:ln w="12700">
            <a:solidFill>
              <a:srgbClr val="B4413E">
                <a:alpha val="0"/>
              </a:srgbClr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5126054" y="5094306"/>
            <a:ext cx="14583" cy="58304"/>
          </a:xfrm>
          <a:prstGeom prst="rect">
            <a:avLst/>
          </a:prstGeom>
          <a:solidFill>
            <a:srgbClr val="B4413E">
              <a:alpha val="85000"/>
            </a:srgbClr>
          </a:solidFill>
          <a:ln w="12700">
            <a:solidFill>
              <a:srgbClr val="B4413E">
                <a:alpha val="0"/>
              </a:srgbClr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5126054" y="4984986"/>
            <a:ext cx="14583" cy="58304"/>
          </a:xfrm>
          <a:prstGeom prst="rect">
            <a:avLst/>
          </a:prstGeom>
          <a:solidFill>
            <a:srgbClr val="B4413E">
              <a:alpha val="85000"/>
            </a:srgbClr>
          </a:solidFill>
          <a:ln w="12700">
            <a:solidFill>
              <a:srgbClr val="B4413E">
                <a:alpha val="0"/>
              </a:srgbClr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5126054" y="4875666"/>
            <a:ext cx="14583" cy="58304"/>
          </a:xfrm>
          <a:prstGeom prst="rect">
            <a:avLst/>
          </a:prstGeom>
          <a:solidFill>
            <a:srgbClr val="B4413E">
              <a:alpha val="85000"/>
            </a:srgbClr>
          </a:solidFill>
          <a:ln w="12700">
            <a:solidFill>
              <a:srgbClr val="B4413E">
                <a:alpha val="0"/>
              </a:srgbClr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5126054" y="4766346"/>
            <a:ext cx="14583" cy="58304"/>
          </a:xfrm>
          <a:prstGeom prst="rect">
            <a:avLst/>
          </a:prstGeom>
          <a:solidFill>
            <a:srgbClr val="B4413E">
              <a:alpha val="85000"/>
            </a:srgbClr>
          </a:solidFill>
          <a:ln w="12700">
            <a:solidFill>
              <a:srgbClr val="B4413E">
                <a:alpha val="0"/>
              </a:srgbClr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5126054" y="4657027"/>
            <a:ext cx="14583" cy="58304"/>
          </a:xfrm>
          <a:prstGeom prst="rect">
            <a:avLst/>
          </a:prstGeom>
          <a:solidFill>
            <a:srgbClr val="B4413E">
              <a:alpha val="85000"/>
            </a:srgbClr>
          </a:solidFill>
          <a:ln w="12700">
            <a:solidFill>
              <a:srgbClr val="B4413E">
                <a:alpha val="0"/>
              </a:srgbClr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 rot="2700000">
            <a:off x="5487099" y="4904454"/>
            <a:ext cx="123744" cy="15305"/>
          </a:xfrm>
          <a:prstGeom prst="rect">
            <a:avLst/>
          </a:prstGeom>
          <a:solidFill>
            <a:srgbClr val="B4413E"/>
          </a:solidFill>
          <a:ln w="12700">
            <a:solidFill>
              <a:srgbClr val="B4413E">
                <a:alpha val="0"/>
              </a:srgbClr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 rot="-2700000">
            <a:off x="5487099" y="4904454"/>
            <a:ext cx="123744" cy="15305"/>
          </a:xfrm>
          <a:prstGeom prst="rect">
            <a:avLst/>
          </a:prstGeom>
          <a:solidFill>
            <a:srgbClr val="B4413E"/>
          </a:solidFill>
          <a:ln w="12700">
            <a:solidFill>
              <a:srgbClr val="B4413E">
                <a:alpha val="0"/>
              </a:srgbClr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5541680" y="5094306"/>
            <a:ext cx="14583" cy="58304"/>
          </a:xfrm>
          <a:prstGeom prst="rect">
            <a:avLst/>
          </a:prstGeom>
          <a:solidFill>
            <a:srgbClr val="B4413E">
              <a:alpha val="85000"/>
            </a:srgbClr>
          </a:solidFill>
          <a:ln w="12700">
            <a:solidFill>
              <a:srgbClr val="B4413E">
                <a:alpha val="0"/>
              </a:srgbClr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5541680" y="4984986"/>
            <a:ext cx="14583" cy="58304"/>
          </a:xfrm>
          <a:prstGeom prst="rect">
            <a:avLst/>
          </a:prstGeom>
          <a:solidFill>
            <a:srgbClr val="B4413E">
              <a:alpha val="85000"/>
            </a:srgbClr>
          </a:solidFill>
          <a:ln w="12700">
            <a:solidFill>
              <a:srgbClr val="B4413E">
                <a:alpha val="0"/>
              </a:srgbClr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5541680" y="4875666"/>
            <a:ext cx="14583" cy="58304"/>
          </a:xfrm>
          <a:prstGeom prst="rect">
            <a:avLst/>
          </a:prstGeom>
          <a:solidFill>
            <a:srgbClr val="B4413E">
              <a:alpha val="85000"/>
            </a:srgbClr>
          </a:solidFill>
          <a:ln w="12700">
            <a:solidFill>
              <a:srgbClr val="B4413E">
                <a:alpha val="0"/>
              </a:srgbClr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5541680" y="4766346"/>
            <a:ext cx="14583" cy="58304"/>
          </a:xfrm>
          <a:prstGeom prst="rect">
            <a:avLst/>
          </a:prstGeom>
          <a:solidFill>
            <a:srgbClr val="B4413E">
              <a:alpha val="85000"/>
            </a:srgbClr>
          </a:solidFill>
          <a:ln w="12700">
            <a:solidFill>
              <a:srgbClr val="B4413E">
                <a:alpha val="0"/>
              </a:srgbClr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5541680" y="4657027"/>
            <a:ext cx="14583" cy="58304"/>
          </a:xfrm>
          <a:prstGeom prst="rect">
            <a:avLst/>
          </a:prstGeom>
          <a:solidFill>
            <a:srgbClr val="B4413E">
              <a:alpha val="85000"/>
            </a:srgbClr>
          </a:solidFill>
          <a:ln w="12700">
            <a:solidFill>
              <a:srgbClr val="B4413E">
                <a:alpha val="0"/>
              </a:srgbClr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 rot="2700000">
            <a:off x="5698558" y="4991910"/>
            <a:ext cx="123744" cy="15305"/>
          </a:xfrm>
          <a:prstGeom prst="rect">
            <a:avLst/>
          </a:prstGeom>
          <a:solidFill>
            <a:srgbClr val="B4413E"/>
          </a:solidFill>
          <a:ln w="12700">
            <a:solidFill>
              <a:srgbClr val="B4413E">
                <a:alpha val="0"/>
              </a:srgbClr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 rot="-2700000">
            <a:off x="5698558" y="4991910"/>
            <a:ext cx="123744" cy="15305"/>
          </a:xfrm>
          <a:prstGeom prst="rect">
            <a:avLst/>
          </a:prstGeom>
          <a:solidFill>
            <a:srgbClr val="B4413E"/>
          </a:solidFill>
          <a:ln w="12700">
            <a:solidFill>
              <a:srgbClr val="B4413E">
                <a:alpha val="0"/>
              </a:srgbClr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5753138" y="5094306"/>
            <a:ext cx="14583" cy="58304"/>
          </a:xfrm>
          <a:prstGeom prst="rect">
            <a:avLst/>
          </a:prstGeom>
          <a:solidFill>
            <a:srgbClr val="B4413E">
              <a:alpha val="85000"/>
            </a:srgbClr>
          </a:solidFill>
          <a:ln w="12700">
            <a:solidFill>
              <a:srgbClr val="B4413E">
                <a:alpha val="0"/>
              </a:srgbClr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5753138" y="4984986"/>
            <a:ext cx="14583" cy="58304"/>
          </a:xfrm>
          <a:prstGeom prst="rect">
            <a:avLst/>
          </a:prstGeom>
          <a:solidFill>
            <a:srgbClr val="B4413E">
              <a:alpha val="85000"/>
            </a:srgbClr>
          </a:solidFill>
          <a:ln w="12700">
            <a:solidFill>
              <a:srgbClr val="B4413E">
                <a:alpha val="0"/>
              </a:srgbClr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5753138" y="4875666"/>
            <a:ext cx="14583" cy="58304"/>
          </a:xfrm>
          <a:prstGeom prst="rect">
            <a:avLst/>
          </a:prstGeom>
          <a:solidFill>
            <a:srgbClr val="B4413E">
              <a:alpha val="85000"/>
            </a:srgbClr>
          </a:solidFill>
          <a:ln w="12700">
            <a:solidFill>
              <a:srgbClr val="B4413E">
                <a:alpha val="0"/>
              </a:srgbClr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5753138" y="4766346"/>
            <a:ext cx="14583" cy="58304"/>
          </a:xfrm>
          <a:prstGeom prst="rect">
            <a:avLst/>
          </a:prstGeom>
          <a:solidFill>
            <a:srgbClr val="B4413E">
              <a:alpha val="85000"/>
            </a:srgbClr>
          </a:solidFill>
          <a:ln w="12700">
            <a:solidFill>
              <a:srgbClr val="B4413E">
                <a:alpha val="0"/>
              </a:srgbClr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5753138" y="4657027"/>
            <a:ext cx="14583" cy="58304"/>
          </a:xfrm>
          <a:prstGeom prst="rect">
            <a:avLst/>
          </a:prstGeom>
          <a:solidFill>
            <a:srgbClr val="B4413E">
              <a:alpha val="85000"/>
            </a:srgbClr>
          </a:solidFill>
          <a:ln w="12700">
            <a:solidFill>
              <a:srgbClr val="B4413E">
                <a:alpha val="0"/>
              </a:srgbClr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 rot="2700000">
            <a:off x="5917309" y="5021062"/>
            <a:ext cx="123744" cy="15305"/>
          </a:xfrm>
          <a:prstGeom prst="rect">
            <a:avLst/>
          </a:prstGeom>
          <a:solidFill>
            <a:srgbClr val="B4413E"/>
          </a:solidFill>
          <a:ln w="12700">
            <a:solidFill>
              <a:srgbClr val="B4413E">
                <a:alpha val="0"/>
              </a:srgbClr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 rot="-2700000">
            <a:off x="5917309" y="5021062"/>
            <a:ext cx="123744" cy="15305"/>
          </a:xfrm>
          <a:prstGeom prst="rect">
            <a:avLst/>
          </a:prstGeom>
          <a:solidFill>
            <a:srgbClr val="B4413E"/>
          </a:solidFill>
          <a:ln w="12700">
            <a:solidFill>
              <a:srgbClr val="B4413E">
                <a:alpha val="0"/>
              </a:srgbClr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5971889" y="5094306"/>
            <a:ext cx="14583" cy="58304"/>
          </a:xfrm>
          <a:prstGeom prst="rect">
            <a:avLst/>
          </a:prstGeom>
          <a:solidFill>
            <a:srgbClr val="B4413E">
              <a:alpha val="85000"/>
            </a:srgbClr>
          </a:solidFill>
          <a:ln w="12700">
            <a:solidFill>
              <a:srgbClr val="B4413E">
                <a:alpha val="0"/>
              </a:srgbClr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5971889" y="4984986"/>
            <a:ext cx="14583" cy="58304"/>
          </a:xfrm>
          <a:prstGeom prst="rect">
            <a:avLst/>
          </a:prstGeom>
          <a:solidFill>
            <a:srgbClr val="B4413E">
              <a:alpha val="85000"/>
            </a:srgbClr>
          </a:solidFill>
          <a:ln w="12700">
            <a:solidFill>
              <a:srgbClr val="B4413E">
                <a:alpha val="0"/>
              </a:srgbClr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5971889" y="4875666"/>
            <a:ext cx="14583" cy="58304"/>
          </a:xfrm>
          <a:prstGeom prst="rect">
            <a:avLst/>
          </a:prstGeom>
          <a:solidFill>
            <a:srgbClr val="B4413E">
              <a:alpha val="85000"/>
            </a:srgbClr>
          </a:solidFill>
          <a:ln w="12700">
            <a:solidFill>
              <a:srgbClr val="B4413E">
                <a:alpha val="0"/>
              </a:srgbClr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5971889" y="4766346"/>
            <a:ext cx="14583" cy="58304"/>
          </a:xfrm>
          <a:prstGeom prst="rect">
            <a:avLst/>
          </a:prstGeom>
          <a:solidFill>
            <a:srgbClr val="B4413E">
              <a:alpha val="85000"/>
            </a:srgbClr>
          </a:solidFill>
          <a:ln w="12700">
            <a:solidFill>
              <a:srgbClr val="B4413E">
                <a:alpha val="0"/>
              </a:srgbClr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5971889" y="4657027"/>
            <a:ext cx="14583" cy="58304"/>
          </a:xfrm>
          <a:prstGeom prst="rect">
            <a:avLst/>
          </a:prstGeom>
          <a:solidFill>
            <a:srgbClr val="B4413E">
              <a:alpha val="85000"/>
            </a:srgbClr>
          </a:solidFill>
          <a:ln w="12700">
            <a:solidFill>
              <a:srgbClr val="B4413E">
                <a:alpha val="0"/>
              </a:srgbClr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4375010" y="5254642"/>
            <a:ext cx="729168" cy="14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2763B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○ 真实目标</a:t>
            </a:r>
            <a:endParaRPr lang="en-US" sz="9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6" name="Text 93"/>
          <p:cNvSpPr/>
          <p:nvPr/>
        </p:nvSpPr>
        <p:spPr>
          <a:xfrm>
            <a:off x="5126054" y="5254642"/>
            <a:ext cx="969794" cy="14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B4413E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× 干扰（伪目标）</a:t>
            </a:r>
            <a:endParaRPr lang="en-US" sz="9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7" name="Text 94"/>
          <p:cNvSpPr/>
          <p:nvPr/>
        </p:nvSpPr>
        <p:spPr>
          <a:xfrm>
            <a:off x="4375010" y="5429554"/>
            <a:ext cx="2216672" cy="189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B4413E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干扰与真实目标形态接近，易产生虚警/漏检</a:t>
            </a:r>
            <a:endParaRPr lang="en-US" sz="83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8" name="Shape 95"/>
          <p:cNvSpPr/>
          <p:nvPr/>
        </p:nvSpPr>
        <p:spPr>
          <a:xfrm>
            <a:off x="7014600" y="1661662"/>
            <a:ext cx="14583" cy="3986531"/>
          </a:xfrm>
          <a:prstGeom prst="rect">
            <a:avLst/>
          </a:prstGeom>
          <a:solidFill>
            <a:srgbClr val="9FB0C0"/>
          </a:solidFill>
          <a:ln w="12700">
            <a:solidFill>
              <a:srgbClr val="9FB0C0">
                <a:alpha val="0"/>
              </a:srgbClr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7255225" y="1727254"/>
            <a:ext cx="823960" cy="823543"/>
          </a:xfrm>
          <a:prstGeom prst="ellipse">
            <a:avLst/>
          </a:prstGeom>
          <a:solidFill>
            <a:srgbClr val="FCFAF5">
              <a:alpha val="0"/>
            </a:srgbClr>
          </a:solidFill>
          <a:ln w="16510">
            <a:solidFill>
              <a:srgbClr val="12355B"/>
            </a:solidFill>
            <a:prstDash val="solid"/>
          </a:ln>
        </p:spPr>
      </p:sp>
      <p:pic>
        <p:nvPicPr>
          <p:cNvPr id="100" name="Image 1" descr="难识别线性图标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44809" y="1909454"/>
            <a:ext cx="452084" cy="451855"/>
          </a:xfrm>
          <a:prstGeom prst="rect">
            <a:avLst/>
          </a:prstGeom>
        </p:spPr>
      </p:pic>
      <p:sp>
        <p:nvSpPr>
          <p:cNvPr id="101" name="Text 97"/>
          <p:cNvSpPr/>
          <p:nvPr/>
        </p:nvSpPr>
        <p:spPr>
          <a:xfrm>
            <a:off x="8348978" y="1712678"/>
            <a:ext cx="1604170" cy="276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难识别</a:t>
            </a:r>
            <a:endParaRPr lang="en-US" sz="2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2" name="Text 98"/>
          <p:cNvSpPr/>
          <p:nvPr/>
        </p:nvSpPr>
        <p:spPr>
          <a:xfrm>
            <a:off x="8348978" y="2084366"/>
            <a:ext cx="3354175" cy="233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60" b="1" dirty="0">
                <a:solidFill>
                  <a:srgbClr val="10182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干扰与目标回波形态相似</a:t>
            </a:r>
            <a:endParaRPr lang="en-US" sz="146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3" name="Text 99"/>
          <p:cNvSpPr/>
          <p:nvPr/>
        </p:nvSpPr>
        <p:spPr>
          <a:xfrm>
            <a:off x="8348978" y="2375885"/>
            <a:ext cx="3412508" cy="22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92000"/>
              </a:lnSpc>
              <a:buNone/>
            </a:pPr>
            <a:r>
              <a:rPr lang="en-US" sz="1230" dirty="0">
                <a:solidFill>
                  <a:srgbClr val="5F646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谱峰位置接近，难以仅凭形态区分真伪</a:t>
            </a:r>
            <a:endParaRPr lang="en-US" sz="123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4" name="Shape 100"/>
          <p:cNvSpPr/>
          <p:nvPr/>
        </p:nvSpPr>
        <p:spPr>
          <a:xfrm>
            <a:off x="7255225" y="2988077"/>
            <a:ext cx="823960" cy="823543"/>
          </a:xfrm>
          <a:prstGeom prst="ellipse">
            <a:avLst/>
          </a:prstGeom>
          <a:solidFill>
            <a:srgbClr val="FCFAF5">
              <a:alpha val="0"/>
            </a:srgbClr>
          </a:solidFill>
          <a:ln w="16510">
            <a:solidFill>
              <a:srgbClr val="12355B"/>
            </a:solidFill>
            <a:prstDash val="solid"/>
          </a:ln>
        </p:spPr>
      </p:sp>
      <p:pic>
        <p:nvPicPr>
          <p:cNvPr id="105" name="Image 2" descr="难适应线性图标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44809" y="3170276"/>
            <a:ext cx="452084" cy="451855"/>
          </a:xfrm>
          <a:prstGeom prst="rect">
            <a:avLst/>
          </a:prstGeom>
        </p:spPr>
      </p:pic>
      <p:sp>
        <p:nvSpPr>
          <p:cNvPr id="106" name="Text 101"/>
          <p:cNvSpPr/>
          <p:nvPr/>
        </p:nvSpPr>
        <p:spPr>
          <a:xfrm>
            <a:off x="8348978" y="2966213"/>
            <a:ext cx="1604170" cy="276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难适应</a:t>
            </a:r>
            <a:endParaRPr lang="en-US" sz="2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7" name="Text 102"/>
          <p:cNvSpPr/>
          <p:nvPr/>
        </p:nvSpPr>
        <p:spPr>
          <a:xfrm>
            <a:off x="8348978" y="3337900"/>
            <a:ext cx="3354175" cy="233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60" b="1" dirty="0">
                <a:solidFill>
                  <a:srgbClr val="10182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标量SINR难揭示干扰结构</a:t>
            </a:r>
            <a:endParaRPr lang="en-US" sz="146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8" name="Text 103"/>
          <p:cNvSpPr/>
          <p:nvPr/>
        </p:nvSpPr>
        <p:spPr>
          <a:xfrm>
            <a:off x="8348978" y="3622132"/>
            <a:ext cx="3412508" cy="393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92000"/>
              </a:lnSpc>
              <a:buNone/>
            </a:pPr>
            <a:r>
              <a:rPr lang="en-US" sz="1230" dirty="0">
                <a:solidFill>
                  <a:srgbClr val="5F646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同一SINR下，干扰分布与落点差异大，</a:t>
            </a:r>
            <a:endParaRPr lang="en-US" sz="123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92000"/>
              </a:lnSpc>
              <a:buNone/>
            </a:pPr>
            <a:r>
              <a:rPr lang="en-US" sz="1230" dirty="0">
                <a:solidFill>
                  <a:srgbClr val="5F646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单一指标不足以指导策略选择</a:t>
            </a:r>
            <a:endParaRPr lang="en-US" sz="123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9" name="Shape 104"/>
          <p:cNvSpPr/>
          <p:nvPr/>
        </p:nvSpPr>
        <p:spPr>
          <a:xfrm>
            <a:off x="7255225" y="4350931"/>
            <a:ext cx="823960" cy="823543"/>
          </a:xfrm>
          <a:prstGeom prst="ellipse">
            <a:avLst/>
          </a:prstGeom>
          <a:solidFill>
            <a:srgbClr val="FCFAF5">
              <a:alpha val="0"/>
            </a:srgbClr>
          </a:solidFill>
          <a:ln w="16510">
            <a:solidFill>
              <a:srgbClr val="12355B"/>
            </a:solidFill>
            <a:prstDash val="solid"/>
          </a:ln>
        </p:spPr>
      </p:sp>
      <p:pic>
        <p:nvPicPr>
          <p:cNvPr id="110" name="Image 3" descr="难实时线性图标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444809" y="4533131"/>
            <a:ext cx="452084" cy="451855"/>
          </a:xfrm>
          <a:prstGeom prst="rect">
            <a:avLst/>
          </a:prstGeom>
        </p:spPr>
      </p:pic>
      <p:sp>
        <p:nvSpPr>
          <p:cNvPr id="111" name="Text 105"/>
          <p:cNvSpPr/>
          <p:nvPr/>
        </p:nvSpPr>
        <p:spPr>
          <a:xfrm>
            <a:off x="8348978" y="4307203"/>
            <a:ext cx="1604170" cy="276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难实时</a:t>
            </a:r>
            <a:endParaRPr lang="en-US" sz="2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2" name="Text 106"/>
          <p:cNvSpPr/>
          <p:nvPr/>
        </p:nvSpPr>
        <p:spPr>
          <a:xfrm>
            <a:off x="8348978" y="4678891"/>
            <a:ext cx="3354175" cy="233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60" b="1" dirty="0">
                <a:solidFill>
                  <a:srgbClr val="10182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逐chirp动作需快速响应</a:t>
            </a:r>
            <a:endParaRPr lang="en-US" sz="146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3" name="Shape 107"/>
          <p:cNvSpPr/>
          <p:nvPr/>
        </p:nvSpPr>
        <p:spPr>
          <a:xfrm>
            <a:off x="7255225" y="2784013"/>
            <a:ext cx="4703136" cy="14576"/>
          </a:xfrm>
          <a:prstGeom prst="rect">
            <a:avLst/>
          </a:prstGeom>
          <a:solidFill>
            <a:srgbClr val="B8C2CB"/>
          </a:solidFill>
          <a:ln w="12700">
            <a:solidFill>
              <a:srgbClr val="B8C2CB">
                <a:alpha val="0"/>
              </a:srgbClr>
            </a:solidFill>
            <a:prstDash val="solid"/>
          </a:ln>
        </p:spPr>
      </p:sp>
      <p:sp>
        <p:nvSpPr>
          <p:cNvPr id="114" name="Shape 108"/>
          <p:cNvSpPr/>
          <p:nvPr/>
        </p:nvSpPr>
        <p:spPr>
          <a:xfrm>
            <a:off x="7255225" y="4125003"/>
            <a:ext cx="4703136" cy="14576"/>
          </a:xfrm>
          <a:prstGeom prst="rect">
            <a:avLst/>
          </a:prstGeom>
          <a:solidFill>
            <a:srgbClr val="B8C2CB"/>
          </a:solidFill>
          <a:ln w="12700">
            <a:solidFill>
              <a:srgbClr val="B8C2CB">
                <a:alpha val="0"/>
              </a:srgbClr>
            </a:solidFill>
            <a:prstDash val="solid"/>
          </a:ln>
        </p:spPr>
      </p:sp>
      <p:sp>
        <p:nvSpPr>
          <p:cNvPr id="115" name="Text 109"/>
          <p:cNvSpPr/>
          <p:nvPr/>
        </p:nvSpPr>
        <p:spPr>
          <a:xfrm>
            <a:off x="8356270" y="5057866"/>
            <a:ext cx="977086" cy="386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300" b="1" dirty="0">
                <a:solidFill>
                  <a:srgbClr val="5F646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FMCW典型</a:t>
            </a:r>
            <a:endParaRPr lang="en-US" sz="13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300" b="1" dirty="0">
                <a:solidFill>
                  <a:srgbClr val="5F646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chirp间隔</a:t>
            </a:r>
            <a:endParaRPr lang="en-US" sz="13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6" name="Text 110"/>
          <p:cNvSpPr/>
          <p:nvPr/>
        </p:nvSpPr>
        <p:spPr>
          <a:xfrm>
            <a:off x="9529804" y="5022302"/>
            <a:ext cx="867710" cy="5028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50</a:t>
            </a:r>
            <a:endParaRPr lang="en-US" sz="4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7" name="Text 111"/>
          <p:cNvSpPr/>
          <p:nvPr/>
        </p:nvSpPr>
        <p:spPr>
          <a:xfrm>
            <a:off x="10214808" y="5177461"/>
            <a:ext cx="444793" cy="284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μs</a:t>
            </a:r>
            <a:endParaRPr lang="en-US" sz="2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8" name="Text 112"/>
          <p:cNvSpPr/>
          <p:nvPr/>
        </p:nvSpPr>
        <p:spPr>
          <a:xfrm>
            <a:off x="8356270" y="5553450"/>
            <a:ext cx="3281258" cy="21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F646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留给算法决策与执行的时间极短</a:t>
            </a:r>
            <a:endParaRPr lang="en-US" sz="125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9" name="Shape 113"/>
          <p:cNvSpPr/>
          <p:nvPr/>
        </p:nvSpPr>
        <p:spPr>
          <a:xfrm>
            <a:off x="138542" y="5954289"/>
            <a:ext cx="11914611" cy="750663"/>
          </a:xfrm>
          <a:prstGeom prst="roundRect">
            <a:avLst>
              <a:gd name="adj" fmla="val 4872"/>
            </a:avLst>
          </a:prstGeom>
          <a:solidFill>
            <a:srgbClr val="EAF2F8"/>
          </a:solidFill>
          <a:ln w="12700">
            <a:solidFill>
              <a:srgbClr val="12355B">
                <a:alpha val="90000"/>
              </a:srgbClr>
            </a:solidFill>
            <a:prstDash val="solid"/>
          </a:ln>
        </p:spPr>
      </p:sp>
      <p:sp>
        <p:nvSpPr>
          <p:cNvPr id="120" name="Shape 114"/>
          <p:cNvSpPr/>
          <p:nvPr/>
        </p:nvSpPr>
        <p:spPr>
          <a:xfrm rot="2700000">
            <a:off x="787502" y="6129201"/>
            <a:ext cx="284376" cy="65592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121" name="Shape 115"/>
          <p:cNvSpPr/>
          <p:nvPr/>
        </p:nvSpPr>
        <p:spPr>
          <a:xfrm rot="-2700000">
            <a:off x="787502" y="6376993"/>
            <a:ext cx="284376" cy="65592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122" name="Shape 116"/>
          <p:cNvSpPr/>
          <p:nvPr/>
        </p:nvSpPr>
        <p:spPr>
          <a:xfrm rot="2700000">
            <a:off x="984377" y="6129201"/>
            <a:ext cx="284376" cy="65592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123" name="Shape 117"/>
          <p:cNvSpPr/>
          <p:nvPr/>
        </p:nvSpPr>
        <p:spPr>
          <a:xfrm rot="-2700000">
            <a:off x="984377" y="6376993"/>
            <a:ext cx="284376" cy="65592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124" name="Text 118"/>
          <p:cNvSpPr/>
          <p:nvPr/>
        </p:nvSpPr>
        <p:spPr>
          <a:xfrm>
            <a:off x="1902703" y="6143339"/>
            <a:ext cx="9041688" cy="378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kern="0" spc="10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需要主动感知干扰结构、分离决策时间尺度并减少无效探索</a:t>
            </a:r>
            <a:endParaRPr lang="en-US" sz="24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107</Words>
  <Application>Microsoft Macintosh PowerPoint</Application>
  <PresentationFormat>宽屏</PresentationFormat>
  <Paragraphs>38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Arial</vt:lpstr>
      <vt:lpstr>Times New Roman</vt:lpstr>
      <vt:lpstr>Office Theme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基于分层强化学习的FMCW雷达抗干扰策略优化</dc:title>
  <dc:subject>研究生中期答辩</dc:subject>
  <dc:creator>林渠</dc:creator>
  <cp:lastModifiedBy>linqu</cp:lastModifiedBy>
  <cp:revision>3</cp:revision>
  <dcterms:created xsi:type="dcterms:W3CDTF">2026-07-23T07:20:59Z</dcterms:created>
  <dcterms:modified xsi:type="dcterms:W3CDTF">2026-07-23T08:55:14Z</dcterms:modified>
</cp:coreProperties>
</file>