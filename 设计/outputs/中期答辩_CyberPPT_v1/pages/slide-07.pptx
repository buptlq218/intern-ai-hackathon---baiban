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3543" cy="524735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597918" y="0"/>
            <a:ext cx="277084" cy="524735"/>
          </a:xfrm>
          <a:prstGeom prst="triangle">
            <a:avLst/>
          </a:prstGeom>
          <a:solidFill>
            <a:srgbClr val="062B5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125" y="65592"/>
            <a:ext cx="437501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86466" y="131184"/>
            <a:ext cx="5694805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6273" y="153048"/>
            <a:ext cx="2223964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研究内容｜元策略控制器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524735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7086" y="721511"/>
            <a:ext cx="9676064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元控制器利用12维语义特征，把盲目探索转化为方向明确的策略引导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51048" y="1187943"/>
            <a:ext cx="673022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机会敏感性特征判断频域或时域的潜在收益，随机森林输出策略及置信度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26042" y="1698102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042" y="2616389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042" y="3680436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042" y="4474827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042" y="5261930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pic>
        <p:nvPicPr>
          <p:cNvPr id="15" name="Image 0" descr="feature_signal_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001" y="1843862"/>
            <a:ext cx="656252" cy="6559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3336" y="1916742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信号质量统计（4维）：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17716" y="1916742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83336" y="2222837"/>
            <a:ext cx="211458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μ、σ、Δ、SINR_min</a:t>
            </a:r>
            <a:endParaRPr lang="en-US" sz="1100" dirty="0"/>
          </a:p>
        </p:txBody>
      </p:sp>
      <p:pic>
        <p:nvPicPr>
          <p:cNvPr id="19" name="Image 1" descr="feature_action_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09" y="2784013"/>
            <a:ext cx="648960" cy="68507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3336" y="2798589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动作行为（3维）：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7716" y="2798589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3维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283336" y="3119260"/>
            <a:ext cx="2114588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H_action、频域切换率、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时域切换率</a:t>
            </a:r>
            <a:endParaRPr lang="en-US" sz="1100" dirty="0"/>
          </a:p>
        </p:txBody>
      </p:sp>
      <p:pic>
        <p:nvPicPr>
          <p:cNvPr id="23" name="Image 2" descr="feature_shield_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68" y="3775180"/>
            <a:ext cx="554168" cy="61947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3336" y="3833484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避干扰效能（2维）：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317716" y="3833484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2维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283336" y="4132291"/>
            <a:ext cx="211458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r_avoid、SINR增益</a:t>
            </a:r>
            <a:endParaRPr lang="en-US" sz="1100" dirty="0"/>
          </a:p>
        </p:txBody>
      </p:sp>
      <p:pic>
        <p:nvPicPr>
          <p:cNvPr id="27" name="Image 3" descr="feature_target_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09" y="4554995"/>
            <a:ext cx="605210" cy="61947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83336" y="4606011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维度敏感性（3维）：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317716" y="4606011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3维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283336" y="4912106"/>
            <a:ext cx="2223964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fc_gap、td_gap、fc_td_ratio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45842" y="1698102"/>
            <a:ext cx="131250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777092" y="1698102"/>
            <a:ext cx="131250" cy="1559630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908342" y="3257732"/>
            <a:ext cx="3646" cy="444567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flipV="1">
            <a:off x="3777092" y="3702300"/>
            <a:ext cx="131250" cy="1559630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45842" y="5261930"/>
            <a:ext cx="131250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937509" y="3265020"/>
            <a:ext cx="488543" cy="52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418760" y="3425356"/>
            <a:ext cx="80209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rot="5400000">
            <a:off x="4491677" y="3374340"/>
            <a:ext cx="123959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01052" y="1625222"/>
            <a:ext cx="2530214" cy="3716876"/>
          </a:xfrm>
          <a:prstGeom prst="round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6D8CB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601052" y="1625222"/>
            <a:ext cx="2530214" cy="400840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892720" y="1734542"/>
            <a:ext cx="1968755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随机森林（元策略分类器）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4783345" y="2128094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43" name="Image 4" descr="rf_stage_0_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845" y="2106230"/>
            <a:ext cx="452084" cy="45185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439596" y="2186397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4000个场景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5095429" y="2543509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 rot="10800000">
            <a:off x="5060429" y="2594525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5912097" y="2543509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 rot="10800000">
            <a:off x="5877097" y="2594525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83345" y="2674693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50" name="Image 5" descr="rf_stage_1_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136" y="2667405"/>
            <a:ext cx="444793" cy="451855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439596" y="2732997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训练/测试 = 8:2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5095429" y="3090108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 rot="10800000">
            <a:off x="5060429" y="3141124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912097" y="3090108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 rot="10800000">
            <a:off x="5877097" y="3141124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783345" y="3221292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57" name="Image 6" descr="rf_stage_2_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136" y="3214004"/>
            <a:ext cx="444793" cy="466431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439596" y="3279596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5折交叉验证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5095429" y="3636708"/>
            <a:ext cx="17500" cy="80168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 rot="10800000">
            <a:off x="5060429" y="3695012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5912097" y="3636708"/>
            <a:ext cx="17500" cy="80168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 rot="10800000">
            <a:off x="5877097" y="3695012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4783345" y="3775180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64" name="Image 7" descr="rf_stage_3_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6261" y="3782468"/>
            <a:ext cx="488543" cy="437279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5439596" y="3833484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200棵树</a:t>
            </a:r>
            <a:endParaRPr lang="en-US" sz="1100" dirty="0"/>
          </a:p>
        </p:txBody>
      </p:sp>
      <p:sp>
        <p:nvSpPr>
          <p:cNvPr id="66" name="Shape 56"/>
          <p:cNvSpPr/>
          <p:nvPr/>
        </p:nvSpPr>
        <p:spPr>
          <a:xfrm>
            <a:off x="5095429" y="4190595"/>
            <a:ext cx="17500" cy="5101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 rot="10800000">
            <a:off x="5060429" y="4219747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5912097" y="4190595"/>
            <a:ext cx="17500" cy="51016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 rot="10800000">
            <a:off x="5877097" y="4219747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4783345" y="4299915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71" name="Image 8" descr="rf_stage_4_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0845" y="4321779"/>
            <a:ext cx="459376" cy="459143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439596" y="4358219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max_depth=12，leaf=5</a:t>
            </a:r>
            <a:endParaRPr lang="en-US" sz="1100" dirty="0"/>
          </a:p>
        </p:txBody>
      </p:sp>
      <p:sp>
        <p:nvSpPr>
          <p:cNvPr id="73" name="Shape 62"/>
          <p:cNvSpPr/>
          <p:nvPr/>
        </p:nvSpPr>
        <p:spPr>
          <a:xfrm>
            <a:off x="5095429" y="4715330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 rot="10800000">
            <a:off x="5060429" y="4766346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5912097" y="4715330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 rot="10800000">
            <a:off x="5877097" y="4766346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83345" y="4846514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78" name="Image 9" descr="rf_stage_5_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8136" y="4853802"/>
            <a:ext cx="452084" cy="451855"/>
          </a:xfrm>
          <a:prstGeom prst="rect">
            <a:avLst/>
          </a:prstGeom>
        </p:spPr>
      </p:pic>
      <p:sp>
        <p:nvSpPr>
          <p:cNvPr id="79" name="Text 67"/>
          <p:cNvSpPr/>
          <p:nvPr/>
        </p:nvSpPr>
        <p:spPr>
          <a:xfrm>
            <a:off x="5439596" y="4904818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准确率约80%—85%</a:t>
            </a:r>
            <a:endParaRPr lang="en-US" sz="1100" dirty="0"/>
          </a:p>
        </p:txBody>
      </p:sp>
      <p:sp>
        <p:nvSpPr>
          <p:cNvPr id="80" name="Shape 68"/>
          <p:cNvSpPr/>
          <p:nvPr/>
        </p:nvSpPr>
        <p:spPr>
          <a:xfrm>
            <a:off x="7393767" y="1596070"/>
            <a:ext cx="3646" cy="3899075"/>
          </a:xfrm>
          <a:prstGeom prst="line">
            <a:avLst/>
          </a:prstGeom>
          <a:noFill/>
          <a:ln w="6985">
            <a:solidFill>
              <a:srgbClr val="B6B6B6"/>
            </a:solidFill>
            <a:prstDash val="solid"/>
          </a:ln>
        </p:spPr>
      </p:sp>
      <p:sp>
        <p:nvSpPr>
          <p:cNvPr id="81" name="Shape 69"/>
          <p:cNvSpPr/>
          <p:nvPr/>
        </p:nvSpPr>
        <p:spPr>
          <a:xfrm>
            <a:off x="7131267" y="3425356"/>
            <a:ext cx="284376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2" name="Shape 70"/>
          <p:cNvSpPr/>
          <p:nvPr/>
        </p:nvSpPr>
        <p:spPr>
          <a:xfrm rot="5400000">
            <a:off x="7408351" y="3374340"/>
            <a:ext cx="123959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7678143" y="1625222"/>
            <a:ext cx="4156260" cy="400840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4" name="Text 72"/>
          <p:cNvSpPr/>
          <p:nvPr/>
        </p:nvSpPr>
        <p:spPr>
          <a:xfrm>
            <a:off x="8166686" y="1734542"/>
            <a:ext cx="3186466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三类策略输出（含置信度 p ∈ [0,1]）</a:t>
            </a:r>
            <a:endParaRPr lang="en-US" sz="1250" dirty="0"/>
          </a:p>
        </p:txBody>
      </p:sp>
      <p:sp>
        <p:nvSpPr>
          <p:cNvPr id="85" name="Shape 73"/>
          <p:cNvSpPr/>
          <p:nvPr/>
        </p:nvSpPr>
        <p:spPr>
          <a:xfrm>
            <a:off x="7678143" y="2128094"/>
            <a:ext cx="838544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7714601" y="2171821"/>
            <a:ext cx="765627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策略编号</a:t>
            </a:r>
            <a:endParaRPr lang="en-US" sz="850" dirty="0"/>
          </a:p>
        </p:txBody>
      </p:sp>
      <p:sp>
        <p:nvSpPr>
          <p:cNvPr id="87" name="Shape 75"/>
          <p:cNvSpPr/>
          <p:nvPr/>
        </p:nvSpPr>
        <p:spPr>
          <a:xfrm>
            <a:off x="8516687" y="2128094"/>
            <a:ext cx="940627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88" name="Text 76"/>
          <p:cNvSpPr/>
          <p:nvPr/>
        </p:nvSpPr>
        <p:spPr>
          <a:xfrm>
            <a:off x="8553145" y="2171821"/>
            <a:ext cx="867710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策略名称</a:t>
            </a:r>
            <a:endParaRPr lang="en-US" sz="850" dirty="0"/>
          </a:p>
        </p:txBody>
      </p:sp>
      <p:sp>
        <p:nvSpPr>
          <p:cNvPr id="89" name="Shape 77"/>
          <p:cNvSpPr/>
          <p:nvPr/>
        </p:nvSpPr>
        <p:spPr>
          <a:xfrm>
            <a:off x="9457314" y="2128094"/>
            <a:ext cx="1647921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0" name="Text 78"/>
          <p:cNvSpPr/>
          <p:nvPr/>
        </p:nvSpPr>
        <p:spPr>
          <a:xfrm>
            <a:off x="9493772" y="2171821"/>
            <a:ext cx="1575004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动作空间约束（下一层HRL）</a:t>
            </a:r>
            <a:endParaRPr lang="en-US" sz="850" dirty="0"/>
          </a:p>
        </p:txBody>
      </p:sp>
      <p:sp>
        <p:nvSpPr>
          <p:cNvPr id="91" name="Shape 79"/>
          <p:cNvSpPr/>
          <p:nvPr/>
        </p:nvSpPr>
        <p:spPr>
          <a:xfrm>
            <a:off x="11105234" y="2128094"/>
            <a:ext cx="729168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2" name="Text 80"/>
          <p:cNvSpPr/>
          <p:nvPr/>
        </p:nvSpPr>
        <p:spPr>
          <a:xfrm>
            <a:off x="11141693" y="2171821"/>
            <a:ext cx="656252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 p</a:t>
            </a:r>
            <a:endParaRPr lang="en-US" sz="850" dirty="0"/>
          </a:p>
        </p:txBody>
      </p:sp>
      <p:sp>
        <p:nvSpPr>
          <p:cNvPr id="93" name="Shape 81"/>
          <p:cNvSpPr/>
          <p:nvPr/>
        </p:nvSpPr>
        <p:spPr>
          <a:xfrm>
            <a:off x="7678143" y="2485205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8516687" y="2485205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5" name="Shape 83"/>
          <p:cNvSpPr/>
          <p:nvPr/>
        </p:nvSpPr>
        <p:spPr>
          <a:xfrm>
            <a:off x="9457314" y="2485205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6" name="Shape 84"/>
          <p:cNvSpPr/>
          <p:nvPr/>
        </p:nvSpPr>
        <p:spPr>
          <a:xfrm>
            <a:off x="11105234" y="2485205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7955227" y="2565373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98" name="Text 86"/>
          <p:cNvSpPr/>
          <p:nvPr/>
        </p:nvSpPr>
        <p:spPr>
          <a:xfrm>
            <a:off x="7955227" y="2565373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99" name="Text 87"/>
          <p:cNvSpPr/>
          <p:nvPr/>
        </p:nvSpPr>
        <p:spPr>
          <a:xfrm>
            <a:off x="8582312" y="2543509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频域优先</a:t>
            </a:r>
            <a:endParaRPr lang="en-US" sz="1000" dirty="0"/>
          </a:p>
        </p:txBody>
      </p:sp>
      <p:sp>
        <p:nvSpPr>
          <p:cNvPr id="100" name="Text 88"/>
          <p:cNvSpPr/>
          <p:nvPr/>
        </p:nvSpPr>
        <p:spPr>
          <a:xfrm>
            <a:off x="9508356" y="2543509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固定td，开放3个fc</a:t>
            </a:r>
            <a:endParaRPr lang="en-US" sz="950" dirty="0"/>
          </a:p>
        </p:txBody>
      </p:sp>
      <p:sp>
        <p:nvSpPr>
          <p:cNvPr id="101" name="Text 89"/>
          <p:cNvSpPr/>
          <p:nvPr/>
        </p:nvSpPr>
        <p:spPr>
          <a:xfrm>
            <a:off x="11156276" y="2543509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p₁</a:t>
            </a:r>
            <a:endParaRPr lang="en-US" sz="1100" dirty="0"/>
          </a:p>
        </p:txBody>
      </p:sp>
      <p:sp>
        <p:nvSpPr>
          <p:cNvPr id="102" name="Shape 90"/>
          <p:cNvSpPr/>
          <p:nvPr/>
        </p:nvSpPr>
        <p:spPr>
          <a:xfrm>
            <a:off x="7678143" y="2893333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8516687" y="2893333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9457314" y="2893333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11105234" y="2893333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7955227" y="2973501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07" name="Text 95"/>
          <p:cNvSpPr/>
          <p:nvPr/>
        </p:nvSpPr>
        <p:spPr>
          <a:xfrm>
            <a:off x="7955227" y="2973501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108" name="Text 96"/>
          <p:cNvSpPr/>
          <p:nvPr/>
        </p:nvSpPr>
        <p:spPr>
          <a:xfrm>
            <a:off x="8582312" y="2951637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时域优先</a:t>
            </a:r>
            <a:endParaRPr lang="en-US" sz="1000" dirty="0"/>
          </a:p>
        </p:txBody>
      </p:sp>
      <p:sp>
        <p:nvSpPr>
          <p:cNvPr id="109" name="Text 97"/>
          <p:cNvSpPr/>
          <p:nvPr/>
        </p:nvSpPr>
        <p:spPr>
          <a:xfrm>
            <a:off x="9508356" y="2951637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固定fc，开放3个td</a:t>
            </a:r>
            <a:endParaRPr lang="en-US" sz="950" dirty="0"/>
          </a:p>
        </p:txBody>
      </p:sp>
      <p:sp>
        <p:nvSpPr>
          <p:cNvPr id="110" name="Text 98"/>
          <p:cNvSpPr/>
          <p:nvPr/>
        </p:nvSpPr>
        <p:spPr>
          <a:xfrm>
            <a:off x="11156276" y="2951637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p₂</a:t>
            </a:r>
            <a:endParaRPr lang="en-US" sz="1100" dirty="0"/>
          </a:p>
        </p:txBody>
      </p:sp>
      <p:sp>
        <p:nvSpPr>
          <p:cNvPr id="111" name="Shape 99"/>
          <p:cNvSpPr/>
          <p:nvPr/>
        </p:nvSpPr>
        <p:spPr>
          <a:xfrm>
            <a:off x="7678143" y="3301460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8516687" y="3301460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9457314" y="3301460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11105234" y="3301460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7955227" y="3381628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6" name="Text 104"/>
          <p:cNvSpPr/>
          <p:nvPr/>
        </p:nvSpPr>
        <p:spPr>
          <a:xfrm>
            <a:off x="7955227" y="3381628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05"/>
          <p:cNvSpPr/>
          <p:nvPr/>
        </p:nvSpPr>
        <p:spPr>
          <a:xfrm>
            <a:off x="8582312" y="3359764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联合探索</a:t>
            </a:r>
            <a:endParaRPr lang="en-US" sz="1000" dirty="0"/>
          </a:p>
        </p:txBody>
      </p:sp>
      <p:sp>
        <p:nvSpPr>
          <p:cNvPr id="118" name="Text 106"/>
          <p:cNvSpPr/>
          <p:nvPr/>
        </p:nvSpPr>
        <p:spPr>
          <a:xfrm>
            <a:off x="9508356" y="3359764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开放9个动作</a:t>
            </a:r>
            <a:endParaRPr lang="en-US" sz="950" dirty="0"/>
          </a:p>
        </p:txBody>
      </p:sp>
      <p:sp>
        <p:nvSpPr>
          <p:cNvPr id="119" name="Text 107"/>
          <p:cNvSpPr/>
          <p:nvPr/>
        </p:nvSpPr>
        <p:spPr>
          <a:xfrm>
            <a:off x="11156276" y="3359764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p₃</a:t>
            </a:r>
            <a:endParaRPr lang="en-US" sz="1100" dirty="0"/>
          </a:p>
        </p:txBody>
      </p:sp>
      <p:sp>
        <p:nvSpPr>
          <p:cNvPr id="120" name="Shape 108"/>
          <p:cNvSpPr/>
          <p:nvPr/>
        </p:nvSpPr>
        <p:spPr>
          <a:xfrm>
            <a:off x="7678143" y="3862635"/>
            <a:ext cx="4156260" cy="1056759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pic>
        <p:nvPicPr>
          <p:cNvPr id="121" name="Image 10" descr="guidance_bulb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1060" y="3979243"/>
            <a:ext cx="714585" cy="714223"/>
          </a:xfrm>
          <a:prstGeom prst="rect">
            <a:avLst/>
          </a:prstGeom>
        </p:spPr>
      </p:pic>
      <p:sp>
        <p:nvSpPr>
          <p:cNvPr id="122" name="Shape 109"/>
          <p:cNvSpPr/>
          <p:nvPr/>
        </p:nvSpPr>
        <p:spPr>
          <a:xfrm>
            <a:off x="8443770" y="3993819"/>
            <a:ext cx="3646" cy="801679"/>
          </a:xfrm>
          <a:prstGeom prst="line">
            <a:avLst/>
          </a:prstGeom>
          <a:noFill/>
          <a:ln w="8255">
            <a:solidFill>
              <a:srgbClr val="8FA3B7"/>
            </a:solidFill>
            <a:prstDash val="solid"/>
          </a:ln>
        </p:spPr>
      </p:sp>
      <p:sp>
        <p:nvSpPr>
          <p:cNvPr id="123" name="Text 110"/>
          <p:cNvSpPr/>
          <p:nvPr/>
        </p:nvSpPr>
        <p:spPr>
          <a:xfrm>
            <a:off x="8567728" y="3964667"/>
            <a:ext cx="306250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软引导机制（Soft Guidance）</a:t>
            </a:r>
            <a:endParaRPr lang="en-US" sz="1200" dirty="0"/>
          </a:p>
        </p:txBody>
      </p:sp>
      <p:sp>
        <p:nvSpPr>
          <p:cNvPr id="124" name="Text 111"/>
          <p:cNvSpPr/>
          <p:nvPr/>
        </p:nvSpPr>
        <p:spPr>
          <a:xfrm>
            <a:off x="8567728" y="4219747"/>
            <a:ext cx="3062507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bonus = 12.0 × p²</a:t>
            </a:r>
            <a:endParaRPr lang="en-US" sz="10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min_strategy_steps = 5</a:t>
            </a:r>
            <a:endParaRPr lang="en-US" sz="10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不强制屏蔽其他动作</a:t>
            </a:r>
            <a:endParaRPr lang="en-US" sz="1050" dirty="0"/>
          </a:p>
        </p:txBody>
      </p:sp>
      <p:sp>
        <p:nvSpPr>
          <p:cNvPr id="125" name="Shape 112"/>
          <p:cNvSpPr/>
          <p:nvPr/>
        </p:nvSpPr>
        <p:spPr>
          <a:xfrm>
            <a:off x="7612518" y="4984986"/>
            <a:ext cx="4280218" cy="466431"/>
          </a:xfrm>
          <a:prstGeom prst="round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12355B"/>
            </a:solidFill>
            <a:prstDash val="solid"/>
          </a:ln>
        </p:spPr>
      </p:sp>
      <p:pic>
        <p:nvPicPr>
          <p:cNvPr id="126" name="Image 11" descr="caveat_warni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3560" y="5036002"/>
            <a:ext cx="408334" cy="378976"/>
          </a:xfrm>
          <a:prstGeom prst="rect">
            <a:avLst/>
          </a:prstGeom>
        </p:spPr>
      </p:pic>
      <p:sp>
        <p:nvSpPr>
          <p:cNvPr id="127" name="Text 113"/>
          <p:cNvSpPr/>
          <p:nvPr/>
        </p:nvSpPr>
        <p:spPr>
          <a:xfrm>
            <a:off x="8122936" y="5057866"/>
            <a:ext cx="36458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分类并非100%准确，因此采用软引导而非硬掩码</a:t>
            </a:r>
            <a:endParaRPr lang="en-US" sz="1100" dirty="0"/>
          </a:p>
        </p:txBody>
      </p:sp>
      <p:sp>
        <p:nvSpPr>
          <p:cNvPr id="128" name="Shape 114"/>
          <p:cNvSpPr/>
          <p:nvPr/>
        </p:nvSpPr>
        <p:spPr>
          <a:xfrm>
            <a:off x="255209" y="5648193"/>
            <a:ext cx="11637527" cy="823543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pic>
        <p:nvPicPr>
          <p:cNvPr id="129" name="Image 12" descr="conclusion_chec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793" y="5772089"/>
            <a:ext cx="554168" cy="553887"/>
          </a:xfrm>
          <a:prstGeom prst="rect">
            <a:avLst/>
          </a:prstGeom>
        </p:spPr>
      </p:pic>
      <p:sp>
        <p:nvSpPr>
          <p:cNvPr id="130" name="Text 115"/>
          <p:cNvSpPr/>
          <p:nvPr/>
        </p:nvSpPr>
        <p:spPr>
          <a:xfrm>
            <a:off x="1232295" y="5866833"/>
            <a:ext cx="5410429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元控制器判断的是“哪个维度存在更好的干扰空穴”</a:t>
            </a:r>
            <a:endParaRPr lang="en-US" sz="1750" dirty="0"/>
          </a:p>
        </p:txBody>
      </p:sp>
      <p:sp>
        <p:nvSpPr>
          <p:cNvPr id="131" name="Shape 116"/>
          <p:cNvSpPr/>
          <p:nvPr/>
        </p:nvSpPr>
        <p:spPr>
          <a:xfrm>
            <a:off x="6788558" y="5757513"/>
            <a:ext cx="3646" cy="612191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132" name="Text 117"/>
          <p:cNvSpPr/>
          <p:nvPr/>
        </p:nvSpPr>
        <p:spPr>
          <a:xfrm>
            <a:off x="7036475" y="5823105"/>
            <a:ext cx="4426052" cy="47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通过12维语义特征感知机会，随机森林识别最有潜力的探索方向，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以软引导将探索资源集中到收益更高的维度，提升整体抗干扰效能。</a:t>
            </a:r>
            <a:endParaRPr lang="en-US" sz="1050" dirty="0"/>
          </a:p>
        </p:txBody>
      </p:sp>
      <p:sp>
        <p:nvSpPr>
          <p:cNvPr id="133" name="Text 118"/>
          <p:cNvSpPr/>
          <p:nvPr/>
        </p:nvSpPr>
        <p:spPr>
          <a:xfrm>
            <a:off x="9479189" y="6325977"/>
            <a:ext cx="2223964" cy="10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来源：E08 / E09 / E10；S1:p14–16；S2:p7–10,p16–17；S3:p3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林渠</cp:lastModifiedBy>
  <cp:revision>1</cp:revision>
  <dcterms:created xsi:type="dcterms:W3CDTF">2026-07-23T09:11:33Z</dcterms:created>
  <dcterms:modified xsi:type="dcterms:W3CDTF">2026-07-23T09:11:33Z</dcterms:modified>
</cp:coreProperties>
</file>