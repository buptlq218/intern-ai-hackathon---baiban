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IVORY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959" y="36440"/>
            <a:ext cx="787502" cy="400840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831252" y="36440"/>
            <a:ext cx="320834" cy="400840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2501" y="58304"/>
            <a:ext cx="481251" cy="34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069799" y="109320"/>
            <a:ext cx="5104179" cy="30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基于分层强化学习的FMCW雷达抗干扰策略优化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275022" y="116608"/>
            <a:ext cx="2566673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工作成果｜系统验证与问题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959" y="459143"/>
            <a:ext cx="11936486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2712" y="604903"/>
            <a:ext cx="9442730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Meta-RF提升了系统性能与突变恢复速度，但实时部署仍是关键缺口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53130" y="1042183"/>
            <a:ext cx="7656268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4F52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元策略增益在非平稳干扰中最突出，当前仿真实现尚未满足工程时延要求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82292" y="1413870"/>
            <a:ext cx="4032301" cy="4416523"/>
          </a:xfrm>
          <a:prstGeom prst="rect">
            <a:avLst/>
          </a:prstGeom>
          <a:solidFill>
            <a:srgbClr val="FCFAF5">
              <a:alpha val="0"/>
            </a:srgbClr>
          </a:solidFill>
          <a:ln w="9525">
            <a:solidFill>
              <a:srgbClr val="A9B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1260" y="1413870"/>
            <a:ext cx="4666678" cy="4416523"/>
          </a:xfrm>
          <a:prstGeom prst="rect">
            <a:avLst/>
          </a:prstGeom>
          <a:solidFill>
            <a:srgbClr val="FCFAF5">
              <a:alpha val="0"/>
            </a:srgbClr>
          </a:solidFill>
          <a:ln w="9525">
            <a:solidFill>
              <a:srgbClr val="A9B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92730" y="1413870"/>
            <a:ext cx="2887507" cy="4416523"/>
          </a:xfrm>
          <a:prstGeom prst="rect">
            <a:avLst/>
          </a:prstGeom>
          <a:solidFill>
            <a:srgbClr val="FCFAF5">
              <a:alpha val="0"/>
            </a:srgbClr>
          </a:solidFill>
          <a:ln w="9525">
            <a:solidFill>
              <a:srgbClr val="A9B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292" y="1413870"/>
            <a:ext cx="4032301" cy="342536"/>
          </a:xfrm>
          <a:prstGeom prst="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31260" y="1413870"/>
            <a:ext cx="4666678" cy="342536"/>
          </a:xfrm>
          <a:prstGeom prst="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92730" y="1413870"/>
            <a:ext cx="2887507" cy="342536"/>
          </a:xfrm>
          <a:prstGeom prst="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501" y="1443022"/>
            <a:ext cx="3157299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系统级平均SINR与避开率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14595" y="1443022"/>
            <a:ext cx="3500008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动态跳频突变恢复过程（平均SINR, dB）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3564" y="1443022"/>
            <a:ext cx="2253130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关键证据与工程缺口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9168" y="1865726"/>
            <a:ext cx="131250" cy="131184"/>
          </a:xfrm>
          <a:prstGeom prst="rect">
            <a:avLst/>
          </a:prstGeom>
          <a:solidFill>
            <a:srgbClr val="A8BCD2"/>
          </a:solidFill>
          <a:ln w="12700">
            <a:solidFill>
              <a:srgbClr val="A8BCD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752" y="1807422"/>
            <a:ext cx="765627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Baseline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793754" y="1865726"/>
            <a:ext cx="131250" cy="131184"/>
          </a:xfrm>
          <a:prstGeom prst="rect">
            <a:avLst/>
          </a:prstGeom>
          <a:solidFill>
            <a:srgbClr val="2F6FB5"/>
          </a:solidFill>
          <a:ln w="12700">
            <a:solidFill>
              <a:srgbClr val="2F6FB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83338" y="1807422"/>
            <a:ext cx="765627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Pure DRL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53132" y="1865726"/>
            <a:ext cx="131250" cy="131184"/>
          </a:xfrm>
          <a:prstGeom prst="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42716" y="1807422"/>
            <a:ext cx="765627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Meta-RF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6876" y="4314491"/>
            <a:ext cx="3281258" cy="3644"/>
          </a:xfrm>
          <a:prstGeom prst="line">
            <a:avLst/>
          </a:prstGeom>
          <a:noFill/>
          <a:ln w="7620">
            <a:solidFill>
              <a:srgbClr val="B9C7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92" y="4234323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−20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6876" y="3995034"/>
            <a:ext cx="3281258" cy="3644"/>
          </a:xfrm>
          <a:prstGeom prst="line">
            <a:avLst/>
          </a:prstGeom>
          <a:noFill/>
          <a:ln w="7620">
            <a:solidFill>
              <a:srgbClr val="B9C7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92" y="3914866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−15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6876" y="3675577"/>
            <a:ext cx="3281258" cy="3644"/>
          </a:xfrm>
          <a:prstGeom prst="line">
            <a:avLst/>
          </a:prstGeom>
          <a:noFill/>
          <a:ln w="7620">
            <a:solidFill>
              <a:srgbClr val="B9C7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92" y="3595409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−10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6876" y="3356120"/>
            <a:ext cx="3281258" cy="3644"/>
          </a:xfrm>
          <a:prstGeom prst="line">
            <a:avLst/>
          </a:prstGeom>
          <a:noFill/>
          <a:ln w="7620">
            <a:solidFill>
              <a:srgbClr val="B9C7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92" y="3275952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−5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6876" y="3036663"/>
            <a:ext cx="3281258" cy="3644"/>
          </a:xfrm>
          <a:prstGeom prst="line">
            <a:avLst/>
          </a:prstGeom>
          <a:noFill/>
          <a:ln w="7620">
            <a:solidFill>
              <a:srgbClr val="B9C7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92" y="2956495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6876" y="2717206"/>
            <a:ext cx="3281258" cy="3644"/>
          </a:xfrm>
          <a:prstGeom prst="line">
            <a:avLst/>
          </a:prstGeom>
          <a:noFill/>
          <a:ln w="7620">
            <a:solidFill>
              <a:srgbClr val="B9C7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92" y="2637038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6876" y="2397749"/>
            <a:ext cx="3281258" cy="3644"/>
          </a:xfrm>
          <a:prstGeom prst="line">
            <a:avLst/>
          </a:prstGeom>
          <a:noFill/>
          <a:ln w="7620">
            <a:solidFill>
              <a:srgbClr val="B9C7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9792" y="2317581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864592" y="4234323"/>
            <a:ext cx="24791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64592" y="3850975"/>
            <a:ext cx="24791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864592" y="3467626"/>
            <a:ext cx="24791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864592" y="3084278"/>
            <a:ext cx="24791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864592" y="2700930"/>
            <a:ext cx="24791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864592" y="2317581"/>
            <a:ext cx="24791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6876" y="2397749"/>
            <a:ext cx="3646" cy="1916742"/>
          </a:xfrm>
          <a:prstGeom prst="line">
            <a:avLst/>
          </a:prstGeom>
          <a:noFill/>
          <a:ln w="10160">
            <a:solidFill>
              <a:srgbClr val="0E111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28134" y="2397749"/>
            <a:ext cx="3646" cy="1916742"/>
          </a:xfrm>
          <a:prstGeom prst="line">
            <a:avLst/>
          </a:prstGeom>
          <a:noFill/>
          <a:ln w="10160">
            <a:solidFill>
              <a:srgbClr val="0E111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6876" y="3036663"/>
            <a:ext cx="3281258" cy="3644"/>
          </a:xfrm>
          <a:prstGeom prst="line">
            <a:avLst/>
          </a:prstGeom>
          <a:noFill/>
          <a:ln w="12065">
            <a:solidFill>
              <a:srgbClr val="0E111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9792" y="2142670"/>
            <a:ext cx="860419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平均SINR (dB)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558342" y="2142670"/>
            <a:ext cx="554168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避开率 (%)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94794" y="3036663"/>
            <a:ext cx="291667" cy="783308"/>
          </a:xfrm>
          <a:prstGeom prst="rect">
            <a:avLst/>
          </a:prstGeom>
          <a:solidFill>
            <a:srgbClr val="A8BCD2"/>
          </a:solidFill>
          <a:ln w="12700">
            <a:solidFill>
              <a:srgbClr val="A8BCD2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6460" y="3805396"/>
            <a:ext cx="408334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-12.26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203128" y="3036663"/>
            <a:ext cx="291667" cy="410183"/>
          </a:xfrm>
          <a:prstGeom prst="rect">
            <a:avLst/>
          </a:prstGeom>
          <a:solidFill>
            <a:srgbClr val="2F6FB5"/>
          </a:solidFill>
          <a:ln w="12700">
            <a:solidFill>
              <a:srgbClr val="2F6FB5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4794" y="3432270"/>
            <a:ext cx="408334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-6.42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604170" y="3036663"/>
            <a:ext cx="291667" cy="84337"/>
          </a:xfrm>
          <a:prstGeom prst="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45837" y="3106424"/>
            <a:ext cx="408334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-1.32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603131" y="2859684"/>
            <a:ext cx="291667" cy="1454807"/>
          </a:xfrm>
          <a:prstGeom prst="rect">
            <a:avLst/>
          </a:prstGeom>
          <a:solidFill>
            <a:srgbClr val="A8BCD2"/>
          </a:solidFill>
          <a:ln w="12700">
            <a:solidFill>
              <a:srgbClr val="A8BCD2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52089" y="2677484"/>
            <a:ext cx="393751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75.9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996882" y="2675677"/>
            <a:ext cx="291667" cy="1638814"/>
          </a:xfrm>
          <a:prstGeom prst="rect">
            <a:avLst/>
          </a:prstGeom>
          <a:solidFill>
            <a:srgbClr val="2F6FB5"/>
          </a:solidFill>
          <a:ln w="12700">
            <a:solidFill>
              <a:srgbClr val="2F6FB5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45840" y="2493477"/>
            <a:ext cx="393751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85.5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390633" y="2589423"/>
            <a:ext cx="291667" cy="1725068"/>
          </a:xfrm>
          <a:prstGeom prst="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39591" y="2407224"/>
            <a:ext cx="393751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90.0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70835" y="4336355"/>
            <a:ext cx="1370837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平均SINR (dB)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493756" y="4336355"/>
            <a:ext cx="1341670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避开率 (%)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62501" y="4569571"/>
            <a:ext cx="1152086" cy="276944"/>
          </a:xfrm>
          <a:prstGeom prst="rect">
            <a:avLst/>
          </a:prstGeom>
          <a:solidFill>
            <a:srgbClr val="0A3767"/>
          </a:solidFill>
          <a:ln w="5715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14587" y="4569571"/>
            <a:ext cx="1538545" cy="276944"/>
          </a:xfrm>
          <a:prstGeom prst="rect">
            <a:avLst/>
          </a:prstGeom>
          <a:solidFill>
            <a:srgbClr val="0A3767"/>
          </a:solidFill>
          <a:ln w="5715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53132" y="4569571"/>
            <a:ext cx="1159378" cy="276944"/>
          </a:xfrm>
          <a:prstGeom prst="rect">
            <a:avLst/>
          </a:prstGeom>
          <a:solidFill>
            <a:srgbClr val="0A3767"/>
          </a:solidFill>
          <a:ln w="5715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2501" y="4846514"/>
            <a:ext cx="1152086" cy="284232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414587" y="4846514"/>
            <a:ext cx="1538545" cy="284232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53132" y="4846514"/>
            <a:ext cx="1159378" cy="284232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2501" y="5130746"/>
            <a:ext cx="1152086" cy="276944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414587" y="5130746"/>
            <a:ext cx="1538545" cy="276944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53132" y="5130746"/>
            <a:ext cx="1159378" cy="276944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62501" y="5407690"/>
            <a:ext cx="1152086" cy="284232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14587" y="5407690"/>
            <a:ext cx="1538545" cy="284232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953132" y="5407690"/>
            <a:ext cx="1159378" cy="284232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834" y="4569571"/>
            <a:ext cx="1035419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1472920" y="4569571"/>
            <a:ext cx="1421878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平均SINR (dB)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3011465" y="4569571"/>
            <a:ext cx="1042711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避开率 (%)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320834" y="4846514"/>
            <a:ext cx="1035419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BC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■  Baseline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1472920" y="4846514"/>
            <a:ext cx="1421878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−12.26±7.65 dB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3011465" y="4846514"/>
            <a:ext cx="1042711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75.9%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320834" y="5130746"/>
            <a:ext cx="1035419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■  Pure DRL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1472920" y="5130746"/>
            <a:ext cx="1421878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−6.42±10.03 dB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3011465" y="5130746"/>
            <a:ext cx="1042711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85.5%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320834" y="5407690"/>
            <a:ext cx="1035419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37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■  Meta-RF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1472920" y="5407690"/>
            <a:ext cx="1421878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−1.32±10.54 dB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3011465" y="5407690"/>
            <a:ext cx="1042711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90.0%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666678" y="4657027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04177" y="4576859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−10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666678" y="4377350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04177" y="4297182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−8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666678" y="4097673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404177" y="4017505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−6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666678" y="3817997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404177" y="3737829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−4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666678" y="3538320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404177" y="3458152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−2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666678" y="3258643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04177" y="3178475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666678" y="2978967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404177" y="2898799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4666678" y="2699290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404177" y="2619122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4666678" y="2419613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404177" y="2339445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666678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564594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5246974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44891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5827271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725187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6407567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305484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987864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885780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7568160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466077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8148457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046373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8728753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626669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4666678" y="2419613"/>
            <a:ext cx="3646" cy="2237413"/>
          </a:xfrm>
          <a:prstGeom prst="line">
            <a:avLst/>
          </a:prstGeom>
          <a:noFill/>
          <a:ln w="10160">
            <a:solidFill>
              <a:srgbClr val="0E111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66678" y="4657027"/>
            <a:ext cx="4178135" cy="3644"/>
          </a:xfrm>
          <a:prstGeom prst="line">
            <a:avLst/>
          </a:prstGeom>
          <a:noFill/>
          <a:ln w="10160">
            <a:solidFill>
              <a:srgbClr val="0E111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404177" y="2142670"/>
            <a:ext cx="787502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平均SINR (dB)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6329181" y="4853802"/>
            <a:ext cx="838544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时间步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7831268" y="1967758"/>
            <a:ext cx="320834" cy="3644"/>
          </a:xfrm>
          <a:prstGeom prst="line">
            <a:avLst/>
          </a:prstGeom>
          <a:noFill/>
          <a:ln w="22860">
            <a:solidFill>
              <a:srgbClr val="062B5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217728" y="1851150"/>
            <a:ext cx="627085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Meta-RF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7831268" y="2200973"/>
            <a:ext cx="80209" cy="3644"/>
          </a:xfrm>
          <a:prstGeom prst="line">
            <a:avLst/>
          </a:prstGeom>
          <a:noFill/>
          <a:ln w="22860">
            <a:solidFill>
              <a:srgbClr val="2F6FB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947935" y="2200973"/>
            <a:ext cx="80209" cy="3644"/>
          </a:xfrm>
          <a:prstGeom prst="line">
            <a:avLst/>
          </a:prstGeom>
          <a:noFill/>
          <a:ln w="22860">
            <a:solidFill>
              <a:srgbClr val="2F6FB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64602" y="2200973"/>
            <a:ext cx="87500" cy="3644"/>
          </a:xfrm>
          <a:prstGeom prst="line">
            <a:avLst/>
          </a:prstGeom>
          <a:noFill/>
          <a:ln w="22860">
            <a:solidFill>
              <a:srgbClr val="2F6FB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217728" y="2084366"/>
            <a:ext cx="627085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Pure DRL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4666678" y="2978967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666678" y="3342546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82737" y="2992950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782737" y="3356530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4898796" y="2978967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4898796" y="3354293"/>
            <a:ext cx="67314" cy="1622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4855" y="2978967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4855" y="3342546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5130915" y="2964983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130915" y="3356530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46974" y="2964983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46974" y="3370514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5363033" y="2978967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363033" y="3384498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9093" y="2978967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9093" y="3398482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595152" y="3006934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595152" y="3412465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11211" y="3034902"/>
            <a:ext cx="116059" cy="41952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11211" y="3426449"/>
            <a:ext cx="67314" cy="3244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827271" y="3076853"/>
            <a:ext cx="116059" cy="69919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827271" y="3482385"/>
            <a:ext cx="67314" cy="3244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943330" y="3146773"/>
            <a:ext cx="116059" cy="111871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943330" y="3538320"/>
            <a:ext cx="67314" cy="64885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59389" y="3258643"/>
            <a:ext cx="116059" cy="13983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059389" y="3650191"/>
            <a:ext cx="67314" cy="81106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75448" y="3398482"/>
            <a:ext cx="116059" cy="167806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75448" y="3790029"/>
            <a:ext cx="67314" cy="81106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291508" y="3566288"/>
            <a:ext cx="116059" cy="111871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291508" y="3929867"/>
            <a:ext cx="67314" cy="56774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07567" y="3678158"/>
            <a:ext cx="116059" cy="69919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flipV="1">
            <a:off x="6407567" y="4003422"/>
            <a:ext cx="67314" cy="2433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523626" y="3748077"/>
            <a:ext cx="116059" cy="41952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flipV="1">
            <a:off x="6523626" y="3969581"/>
            <a:ext cx="67314" cy="1622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639686" y="3790029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639686" y="3957835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flipV="1">
            <a:off x="6755745" y="3762061"/>
            <a:ext cx="116059" cy="55935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755745" y="3971819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flipV="1">
            <a:off x="6871804" y="3650191"/>
            <a:ext cx="116059" cy="111871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871804" y="3985803"/>
            <a:ext cx="67314" cy="1622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flipV="1">
            <a:off x="6987864" y="3510352"/>
            <a:ext cx="116059" cy="13983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6987864" y="4005660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flipV="1">
            <a:off x="7103923" y="3356530"/>
            <a:ext cx="116059" cy="153822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7103923" y="3959233"/>
            <a:ext cx="67314" cy="40553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flipV="1">
            <a:off x="7219982" y="3244659"/>
            <a:ext cx="116059" cy="111871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flipV="1">
            <a:off x="7219982" y="3864982"/>
            <a:ext cx="67314" cy="64885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flipV="1">
            <a:off x="7336041" y="3146773"/>
            <a:ext cx="116059" cy="97887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flipV="1">
            <a:off x="7336041" y="3777443"/>
            <a:ext cx="67314" cy="40553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V="1">
            <a:off x="7452101" y="3104821"/>
            <a:ext cx="116059" cy="41952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flipV="1">
            <a:off x="7452101" y="3707524"/>
            <a:ext cx="67314" cy="40553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flipV="1">
            <a:off x="7568160" y="3062870"/>
            <a:ext cx="116059" cy="41952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flipV="1">
            <a:off x="7568160" y="3637605"/>
            <a:ext cx="67314" cy="40553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flipV="1">
            <a:off x="7684219" y="3020918"/>
            <a:ext cx="116059" cy="41952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V="1">
            <a:off x="7684219" y="3567686"/>
            <a:ext cx="67314" cy="40553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7800279" y="2992950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7800279" y="3497767"/>
            <a:ext cx="67314" cy="40553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flipV="1">
            <a:off x="7916338" y="2978967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7916338" y="3427848"/>
            <a:ext cx="67314" cy="40553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flipV="1">
            <a:off x="8032397" y="2964983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flipV="1">
            <a:off x="8032397" y="3366039"/>
            <a:ext cx="67314" cy="3244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flipV="1">
            <a:off x="8148457" y="2950999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flipV="1">
            <a:off x="8148457" y="3310104"/>
            <a:ext cx="67314" cy="3244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flipV="1">
            <a:off x="8264516" y="2937015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flipV="1">
            <a:off x="8264516" y="3262279"/>
            <a:ext cx="67314" cy="2433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8380575" y="2937015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flipV="1">
            <a:off x="8380575" y="3212217"/>
            <a:ext cx="67314" cy="3244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flipV="1">
            <a:off x="8496634" y="2950999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flipV="1">
            <a:off x="8496634" y="3156282"/>
            <a:ext cx="67314" cy="3244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flipV="1">
            <a:off x="8612694" y="2937015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612694" y="3132789"/>
            <a:ext cx="67314" cy="3644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728753" y="2937015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flipV="1">
            <a:off x="8728753" y="3124678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407567" y="2120806"/>
            <a:ext cx="3646" cy="2536221"/>
          </a:xfrm>
          <a:prstGeom prst="line">
            <a:avLst/>
          </a:prstGeom>
          <a:noFill/>
          <a:ln w="10160">
            <a:solidFill>
              <a:srgbClr val="B51618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5649232" y="1873014"/>
            <a:ext cx="1516670" cy="26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16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第15步随机跳频</a:t>
            </a:r>
            <a:endParaRPr lang="en-US" sz="1200" dirty="0"/>
          </a:p>
        </p:txBody>
      </p:sp>
      <p:sp>
        <p:nvSpPr>
          <p:cNvPr id="206" name="Text 204"/>
          <p:cNvSpPr/>
          <p:nvPr/>
        </p:nvSpPr>
        <p:spPr>
          <a:xfrm>
            <a:off x="4776053" y="2667405"/>
            <a:ext cx="670835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+2.0 dB</a:t>
            </a:r>
            <a:endParaRPr lang="en-US" sz="1150" dirty="0"/>
          </a:p>
        </p:txBody>
      </p:sp>
      <p:sp>
        <p:nvSpPr>
          <p:cNvPr id="207" name="Text 205"/>
          <p:cNvSpPr/>
          <p:nvPr/>
        </p:nvSpPr>
        <p:spPr>
          <a:xfrm>
            <a:off x="4776053" y="3410780"/>
            <a:ext cx="670835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−0.5 dB</a:t>
            </a:r>
            <a:endParaRPr lang="en-US" sz="1150" dirty="0"/>
          </a:p>
        </p:txBody>
      </p:sp>
      <p:sp>
        <p:nvSpPr>
          <p:cNvPr id="208" name="Text 206"/>
          <p:cNvSpPr/>
          <p:nvPr/>
        </p:nvSpPr>
        <p:spPr>
          <a:xfrm>
            <a:off x="6423973" y="3797044"/>
            <a:ext cx="656252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−4.0 dB</a:t>
            </a:r>
            <a:endParaRPr lang="en-US" sz="1150" dirty="0"/>
          </a:p>
        </p:txBody>
      </p:sp>
      <p:sp>
        <p:nvSpPr>
          <p:cNvPr id="209" name="Text 207"/>
          <p:cNvSpPr/>
          <p:nvPr/>
        </p:nvSpPr>
        <p:spPr>
          <a:xfrm>
            <a:off x="6496890" y="4168731"/>
            <a:ext cx="656252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−5.5 dB</a:t>
            </a:r>
            <a:endParaRPr lang="en-US" sz="1150" dirty="0"/>
          </a:p>
        </p:txBody>
      </p:sp>
      <p:sp>
        <p:nvSpPr>
          <p:cNvPr id="210" name="Shape 208"/>
          <p:cNvSpPr/>
          <p:nvPr/>
        </p:nvSpPr>
        <p:spPr>
          <a:xfrm>
            <a:off x="6755745" y="2966213"/>
            <a:ext cx="3646" cy="1056759"/>
          </a:xfrm>
          <a:prstGeom prst="line">
            <a:avLst/>
          </a:prstGeom>
          <a:noFill/>
          <a:ln w="9525">
            <a:solidFill>
              <a:srgbClr val="062B5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336041" y="2966213"/>
            <a:ext cx="3646" cy="1056759"/>
          </a:xfrm>
          <a:prstGeom prst="line">
            <a:avLst/>
          </a:prstGeom>
          <a:noFill/>
          <a:ln w="9525">
            <a:solidFill>
              <a:srgbClr val="062B5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755745" y="3090108"/>
            <a:ext cx="580296" cy="3644"/>
          </a:xfrm>
          <a:prstGeom prst="line">
            <a:avLst/>
          </a:prstGeom>
          <a:noFill/>
          <a:ln w="12700">
            <a:solidFill>
              <a:srgbClr val="062B5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6883410" y="2827741"/>
            <a:ext cx="510418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5步</a:t>
            </a:r>
            <a:endParaRPr lang="en-US" sz="1250" dirty="0"/>
          </a:p>
        </p:txBody>
      </p:sp>
      <p:sp>
        <p:nvSpPr>
          <p:cNvPr id="214" name="Shape 212"/>
          <p:cNvSpPr/>
          <p:nvPr/>
        </p:nvSpPr>
        <p:spPr>
          <a:xfrm>
            <a:off x="7336041" y="3250444"/>
            <a:ext cx="3646" cy="1064047"/>
          </a:xfrm>
          <a:prstGeom prst="line">
            <a:avLst/>
          </a:prstGeom>
          <a:noFill/>
          <a:ln w="9525">
            <a:solidFill>
              <a:srgbClr val="2F6FB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496634" y="3250444"/>
            <a:ext cx="3646" cy="1064047"/>
          </a:xfrm>
          <a:prstGeom prst="line">
            <a:avLst/>
          </a:prstGeom>
          <a:noFill/>
          <a:ln w="9525">
            <a:solidFill>
              <a:srgbClr val="2F6FB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336041" y="4139579"/>
            <a:ext cx="1160593" cy="3644"/>
          </a:xfrm>
          <a:prstGeom prst="line">
            <a:avLst/>
          </a:prstGeom>
          <a:noFill/>
          <a:ln w="12700">
            <a:solidFill>
              <a:srgbClr val="2F6FB5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742249" y="3877211"/>
            <a:ext cx="583335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8步</a:t>
            </a:r>
            <a:endParaRPr lang="en-US" sz="1250" dirty="0"/>
          </a:p>
        </p:txBody>
      </p:sp>
      <p:sp>
        <p:nvSpPr>
          <p:cNvPr id="218" name="Shape 216"/>
          <p:cNvSpPr/>
          <p:nvPr/>
        </p:nvSpPr>
        <p:spPr>
          <a:xfrm>
            <a:off x="4469802" y="5087018"/>
            <a:ext cx="1130211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5600013" y="5087018"/>
            <a:ext cx="1173961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773974" y="5087018"/>
            <a:ext cx="1101044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875018" y="5087018"/>
            <a:ext cx="1013544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469802" y="5385826"/>
            <a:ext cx="1130211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5600013" y="5385826"/>
            <a:ext cx="1173961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773974" y="5385826"/>
            <a:ext cx="1101044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875018" y="5385826"/>
            <a:ext cx="1013544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4513552" y="5087018"/>
            <a:ext cx="1042711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━  Meta-RF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5643763" y="5087018"/>
            <a:ext cx="1086461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突变前：+2.0 dB</a:t>
            </a:r>
            <a:endParaRPr lang="en-US" sz="950" dirty="0"/>
          </a:p>
        </p:txBody>
      </p:sp>
      <p:sp>
        <p:nvSpPr>
          <p:cNvPr id="228" name="Text 226"/>
          <p:cNvSpPr/>
          <p:nvPr/>
        </p:nvSpPr>
        <p:spPr>
          <a:xfrm>
            <a:off x="6817724" y="5087018"/>
            <a:ext cx="1013544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最低点：−4.0 dB</a:t>
            </a:r>
            <a:endParaRPr lang="en-US" sz="950" dirty="0"/>
          </a:p>
        </p:txBody>
      </p:sp>
      <p:sp>
        <p:nvSpPr>
          <p:cNvPr id="229" name="Text 227"/>
          <p:cNvSpPr/>
          <p:nvPr/>
        </p:nvSpPr>
        <p:spPr>
          <a:xfrm>
            <a:off x="7918769" y="5087018"/>
            <a:ext cx="926044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恢复约：5步</a:t>
            </a:r>
            <a:endParaRPr lang="en-US" sz="950" dirty="0"/>
          </a:p>
        </p:txBody>
      </p:sp>
      <p:sp>
        <p:nvSpPr>
          <p:cNvPr id="230" name="Text 228"/>
          <p:cNvSpPr/>
          <p:nvPr/>
        </p:nvSpPr>
        <p:spPr>
          <a:xfrm>
            <a:off x="4513552" y="5385826"/>
            <a:ext cx="1042711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┄  Pure DRL</a:t>
            </a:r>
            <a:endParaRPr lang="en-US" sz="950" dirty="0"/>
          </a:p>
        </p:txBody>
      </p:sp>
      <p:sp>
        <p:nvSpPr>
          <p:cNvPr id="231" name="Text 229"/>
          <p:cNvSpPr/>
          <p:nvPr/>
        </p:nvSpPr>
        <p:spPr>
          <a:xfrm>
            <a:off x="5643763" y="5385826"/>
            <a:ext cx="1086461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突变前：−0.5 dB</a:t>
            </a:r>
            <a:endParaRPr lang="en-US" sz="950" dirty="0"/>
          </a:p>
        </p:txBody>
      </p:sp>
      <p:sp>
        <p:nvSpPr>
          <p:cNvPr id="232" name="Text 230"/>
          <p:cNvSpPr/>
          <p:nvPr/>
        </p:nvSpPr>
        <p:spPr>
          <a:xfrm>
            <a:off x="6817724" y="5385826"/>
            <a:ext cx="1013544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最低点：−5.5 dB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7918769" y="5385826"/>
            <a:ext cx="926044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恢复约：8步</a:t>
            </a:r>
            <a:endParaRPr lang="en-US" sz="950" dirty="0"/>
          </a:p>
        </p:txBody>
      </p:sp>
      <p:sp>
        <p:nvSpPr>
          <p:cNvPr id="234" name="Shape 232"/>
          <p:cNvSpPr/>
          <p:nvPr/>
        </p:nvSpPr>
        <p:spPr>
          <a:xfrm>
            <a:off x="9245855" y="1931318"/>
            <a:ext cx="2544798" cy="1042183"/>
          </a:xfrm>
          <a:prstGeom prst="rect">
            <a:avLst/>
          </a:prstGeom>
          <a:solidFill>
            <a:srgbClr val="FCFAF5">
              <a:alpha val="0"/>
            </a:srgbClr>
          </a:solidFill>
          <a:ln w="11430">
            <a:solidFill>
              <a:srgbClr val="062B50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9420855" y="2033350"/>
            <a:ext cx="2187505" cy="5903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+5.1 dB</a:t>
            </a:r>
            <a:endParaRPr lang="en-US" sz="3400" dirty="0"/>
          </a:p>
        </p:txBody>
      </p:sp>
      <p:sp>
        <p:nvSpPr>
          <p:cNvPr id="236" name="Text 234"/>
          <p:cNvSpPr/>
          <p:nvPr/>
        </p:nvSpPr>
        <p:spPr>
          <a:xfrm>
            <a:off x="9406272" y="2623677"/>
            <a:ext cx="2223964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Meta-RF相对Pure DRL</a:t>
            </a:r>
            <a:endParaRPr lang="en-US" sz="1400" dirty="0"/>
          </a:p>
        </p:txBody>
      </p:sp>
      <p:sp>
        <p:nvSpPr>
          <p:cNvPr id="237" name="Shape 235"/>
          <p:cNvSpPr/>
          <p:nvPr/>
        </p:nvSpPr>
        <p:spPr>
          <a:xfrm>
            <a:off x="9245855" y="3075532"/>
            <a:ext cx="2544798" cy="1034895"/>
          </a:xfrm>
          <a:prstGeom prst="rect">
            <a:avLst/>
          </a:prstGeom>
          <a:solidFill>
            <a:srgbClr val="FCFAF5">
              <a:alpha val="0"/>
            </a:srgbClr>
          </a:solidFill>
          <a:ln w="11430">
            <a:solidFill>
              <a:srgbClr val="062B50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9428147" y="3148412"/>
            <a:ext cx="2187505" cy="56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37.5 %</a:t>
            </a:r>
            <a:endParaRPr lang="en-US" sz="3400" dirty="0"/>
          </a:p>
        </p:txBody>
      </p:sp>
      <p:sp>
        <p:nvSpPr>
          <p:cNvPr id="239" name="Text 237"/>
          <p:cNvSpPr/>
          <p:nvPr/>
        </p:nvSpPr>
        <p:spPr>
          <a:xfrm>
            <a:off x="9428147" y="3716876"/>
            <a:ext cx="2187505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恢复步数减少</a:t>
            </a:r>
            <a:endParaRPr lang="en-US" sz="1400" dirty="0"/>
          </a:p>
        </p:txBody>
      </p:sp>
      <p:sp>
        <p:nvSpPr>
          <p:cNvPr id="240" name="Shape 238"/>
          <p:cNvSpPr/>
          <p:nvPr/>
        </p:nvSpPr>
        <p:spPr>
          <a:xfrm>
            <a:off x="9245855" y="4234323"/>
            <a:ext cx="2544798" cy="1129639"/>
          </a:xfrm>
          <a:prstGeom prst="rect">
            <a:avLst/>
          </a:prstGeom>
          <a:solidFill>
            <a:srgbClr val="FFF8E8"/>
          </a:solidFill>
          <a:ln w="11430">
            <a:solidFill>
              <a:srgbClr val="C8790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9333355" y="4292627"/>
            <a:ext cx="991669" cy="502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C87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99.6</a:t>
            </a:r>
            <a:endParaRPr lang="en-US" sz="2700" dirty="0"/>
          </a:p>
        </p:txBody>
      </p:sp>
      <p:sp>
        <p:nvSpPr>
          <p:cNvPr id="242" name="Text 240"/>
          <p:cNvSpPr/>
          <p:nvPr/>
        </p:nvSpPr>
        <p:spPr>
          <a:xfrm>
            <a:off x="10346899" y="4401947"/>
            <a:ext cx="357293" cy="33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87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ms</a:t>
            </a:r>
            <a:endParaRPr lang="en-US" sz="1700" dirty="0"/>
          </a:p>
        </p:txBody>
      </p:sp>
      <p:sp>
        <p:nvSpPr>
          <p:cNvPr id="243" name="Shape 241"/>
          <p:cNvSpPr/>
          <p:nvPr/>
        </p:nvSpPr>
        <p:spPr>
          <a:xfrm>
            <a:off x="9362522" y="4853802"/>
            <a:ext cx="2304172" cy="3644"/>
          </a:xfrm>
          <a:prstGeom prst="line">
            <a:avLst/>
          </a:prstGeom>
          <a:noFill/>
          <a:ln w="11430">
            <a:solidFill>
              <a:srgbClr val="C879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0762525" y="4380083"/>
            <a:ext cx="3646" cy="357112"/>
          </a:xfrm>
          <a:prstGeom prst="line">
            <a:avLst/>
          </a:prstGeom>
          <a:noFill/>
          <a:ln w="8890">
            <a:solidFill>
              <a:srgbClr val="C8790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10813567" y="4401947"/>
            <a:ext cx="882294" cy="33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当前仿真实现耗时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9384397" y="4948546"/>
            <a:ext cx="2267714" cy="30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B516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尚未满足50 μs工程时延</a:t>
            </a:r>
            <a:endParaRPr lang="en-US" sz="1550" dirty="0"/>
          </a:p>
        </p:txBody>
      </p:sp>
      <p:sp>
        <p:nvSpPr>
          <p:cNvPr id="247" name="Shape 245"/>
          <p:cNvSpPr/>
          <p:nvPr/>
        </p:nvSpPr>
        <p:spPr>
          <a:xfrm>
            <a:off x="9187522" y="5451418"/>
            <a:ext cx="2661465" cy="306096"/>
          </a:xfrm>
          <a:prstGeom prst="rect">
            <a:avLst/>
          </a:prstGeom>
          <a:solidFill>
            <a:srgbClr val="F2F2EF"/>
          </a:solidFill>
          <a:ln w="8890">
            <a:solidFill>
              <a:srgbClr val="9A9A96"/>
            </a:solidFill>
            <a:prstDash val="solid"/>
          </a:ln>
        </p:spPr>
      </p:sp>
      <p:pic>
        <p:nvPicPr>
          <p:cNvPr id="248" name="Image 0" descr="caveat_inf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5855" y="5473282"/>
            <a:ext cx="277084" cy="276944"/>
          </a:xfrm>
          <a:prstGeom prst="rect">
            <a:avLst/>
          </a:prstGeom>
        </p:spPr>
      </p:pic>
      <p:sp>
        <p:nvSpPr>
          <p:cNvPr id="249" name="Text 246"/>
          <p:cNvSpPr/>
          <p:nvPr/>
        </p:nvSpPr>
        <p:spPr>
          <a:xfrm>
            <a:off x="9552106" y="5465994"/>
            <a:ext cx="2216672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耗时采用专利说明书中的保守口径</a:t>
            </a:r>
            <a:endParaRPr lang="en-US" sz="970" dirty="0"/>
          </a:p>
        </p:txBody>
      </p:sp>
      <p:sp>
        <p:nvSpPr>
          <p:cNvPr id="250" name="Shape 247"/>
          <p:cNvSpPr/>
          <p:nvPr/>
        </p:nvSpPr>
        <p:spPr>
          <a:xfrm>
            <a:off x="182292" y="5961577"/>
            <a:ext cx="11797944" cy="655919"/>
          </a:xfrm>
          <a:prstGeom prst="round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pic>
        <p:nvPicPr>
          <p:cNvPr id="251" name="Image 1" descr="conclusion_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02" y="6056321"/>
            <a:ext cx="473959" cy="466431"/>
          </a:xfrm>
          <a:prstGeom prst="rect">
            <a:avLst/>
          </a:prstGeom>
        </p:spPr>
      </p:pic>
      <p:sp>
        <p:nvSpPr>
          <p:cNvPr id="252" name="Text 248"/>
          <p:cNvSpPr/>
          <p:nvPr/>
        </p:nvSpPr>
        <p:spPr>
          <a:xfrm>
            <a:off x="1604170" y="6049033"/>
            <a:ext cx="947918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算法有效性已形成证据闭环，后续重点是实时化、鲁棒性与部署验证</a:t>
            </a:r>
            <a:endParaRPr lang="en-US" sz="2050" dirty="0"/>
          </a:p>
        </p:txBody>
      </p:sp>
      <p:sp>
        <p:nvSpPr>
          <p:cNvPr id="253" name="Text 249"/>
          <p:cNvSpPr/>
          <p:nvPr/>
        </p:nvSpPr>
        <p:spPr>
          <a:xfrm>
            <a:off x="9661481" y="6500888"/>
            <a:ext cx="2114588" cy="10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C5D7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来源：E11 / E12 / E13；S2:p11–12,p18–20；S3:p4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基于分层强化学习的FMCW雷达抗干扰策略优化</dc:title>
  <dc:subject>研究生中期答辩</dc:subject>
  <dc:creator>林渠</dc:creator>
  <cp:lastModifiedBy>林渠</cp:lastModifiedBy>
  <cp:revision>1</cp:revision>
  <dcterms:created xsi:type="dcterms:W3CDTF">2026-07-23T09:39:53Z</dcterms:created>
  <dcterms:modified xsi:type="dcterms:W3CDTF">2026-07-23T09:39:53Z</dcterms:modified>
</cp:coreProperties>
</file>