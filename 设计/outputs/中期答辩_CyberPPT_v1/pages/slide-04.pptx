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052"/>
    <p:restoredTop sz="94610"/>
  </p:normalViewPr>
  <p:slideViewPr>
    <p:cSldViewPr snapToGrid="0" snapToObjects="1">
      <p:cViewPr>
        <p:scale>
          <a:sx n="168" d="100"/>
          <a:sy n="168" d="100"/>
        </p:scale>
        <p:origin x="-912" y="-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826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IVORY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9584" y="0"/>
            <a:ext cx="408334" cy="378976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62501" y="51016"/>
            <a:ext cx="269792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04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3752" y="87456"/>
            <a:ext cx="3565633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基于分层强化学习的FMCW雷达抗干扰策略优化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16690" y="87456"/>
            <a:ext cx="1932296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研究内容｜机理与建模</a:t>
            </a:r>
            <a:endParaRPr lang="en-US" sz="10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3752" y="327960"/>
            <a:ext cx="11258360" cy="21864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418" y="524735"/>
            <a:ext cx="8261478" cy="34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62B5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时频联合调控通过改变差拍频率，将干扰主动推出接收通带</a:t>
            </a:r>
            <a:endParaRPr lang="en-US" sz="23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10418" y="918287"/>
            <a:ext cx="4987512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62B5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三个载波频点与三个发射时延构成9维联合动作空间</a:t>
            </a:r>
            <a:endParaRPr lang="en-US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04167" y="1238959"/>
            <a:ext cx="5789597" cy="4263475"/>
          </a:xfrm>
          <a:prstGeom prst="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39598" y="1238959"/>
            <a:ext cx="3325008" cy="4263475"/>
          </a:xfrm>
          <a:prstGeom prst="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59397" y="1238959"/>
            <a:ext cx="2318755" cy="1894878"/>
          </a:xfrm>
          <a:prstGeom prst="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59397" y="3214004"/>
            <a:ext cx="2318755" cy="2288429"/>
          </a:xfrm>
          <a:prstGeom prst="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628" y="1333702"/>
            <a:ext cx="3908342" cy="269656"/>
          </a:xfrm>
          <a:prstGeom prst="roundRect">
            <a:avLst/>
          </a:prstGeom>
          <a:solidFill>
            <a:srgbClr val="07345E"/>
          </a:solidFill>
          <a:ln w="12700">
            <a:solidFill>
              <a:srgbClr val="07345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2295" y="1370142"/>
            <a:ext cx="3682300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通过改变 f_c 或 t_d，增大差拍频率，使干扰超出接收通带</a:t>
            </a:r>
            <a:endParaRPr lang="en-US" sz="113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7084" y="1690814"/>
            <a:ext cx="875002" cy="466431"/>
          </a:xfrm>
          <a:prstGeom prst="roundRect">
            <a:avLst/>
          </a:prstGeom>
          <a:solidFill>
            <a:srgbClr val="FCFAF5">
              <a:alpha val="0"/>
            </a:srgbClr>
          </a:solidFill>
          <a:ln w="10160">
            <a:solidFill>
              <a:srgbClr val="6D8D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542" y="1719966"/>
            <a:ext cx="802085" cy="408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发射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4000"/>
              </a:lnSpc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(LFM Chirp)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7084" y="2405037"/>
            <a:ext cx="875002" cy="459143"/>
          </a:xfrm>
          <a:prstGeom prst="roundRect">
            <a:avLst/>
          </a:prstGeom>
          <a:solidFill>
            <a:srgbClr val="FCFAF5">
              <a:alpha val="0"/>
            </a:srgbClr>
          </a:solidFill>
          <a:ln w="10160">
            <a:solidFill>
              <a:srgbClr val="6D8D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3542" y="2434189"/>
            <a:ext cx="802085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接收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4000"/>
              </a:lnSpc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(目标 + 干扰)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7084" y="2973501"/>
            <a:ext cx="875002" cy="378976"/>
          </a:xfrm>
          <a:prstGeom prst="roundRect">
            <a:avLst/>
          </a:prstGeom>
          <a:solidFill>
            <a:srgbClr val="FCFAF5">
              <a:alpha val="0"/>
            </a:srgbClr>
          </a:solidFill>
          <a:ln w="10160">
            <a:solidFill>
              <a:srgbClr val="6D8D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3542" y="3002652"/>
            <a:ext cx="802085" cy="32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102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Dechirp</a:t>
            </a:r>
            <a:endParaRPr lang="en-US" sz="10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4000"/>
              </a:lnSpc>
              <a:buNone/>
            </a:pPr>
            <a:r>
              <a:rPr lang="en-US" sz="102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混频</a:t>
            </a:r>
            <a:endParaRPr lang="en-US" sz="10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7084" y="3425356"/>
            <a:ext cx="875002" cy="451855"/>
          </a:xfrm>
          <a:prstGeom prst="roundRect">
            <a:avLst/>
          </a:prstGeom>
          <a:solidFill>
            <a:srgbClr val="FCFAF5">
              <a:alpha val="0"/>
            </a:srgbClr>
          </a:solidFill>
          <a:ln w="10160">
            <a:solidFill>
              <a:srgbClr val="6D8D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3542" y="3454508"/>
            <a:ext cx="802085" cy="39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差拍频谱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4000"/>
              </a:lnSpc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(Beat Spectrum)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7084" y="4139579"/>
            <a:ext cx="875002" cy="415416"/>
          </a:xfrm>
          <a:prstGeom prst="roundRect">
            <a:avLst/>
          </a:prstGeom>
          <a:solidFill>
            <a:srgbClr val="FCFAF5">
              <a:alpha val="0"/>
            </a:srgbClr>
          </a:solidFill>
          <a:ln w="10160">
            <a:solidFill>
              <a:srgbClr val="6D8D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3542" y="4168731"/>
            <a:ext cx="802085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接收通带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4000"/>
              </a:lnSpc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(LPF)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91252" y="2164533"/>
            <a:ext cx="17500" cy="14576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656252" y="2295717"/>
            <a:ext cx="87500" cy="87456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1252" y="2864181"/>
            <a:ext cx="17500" cy="2915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656252" y="2878757"/>
            <a:ext cx="87500" cy="87456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1252" y="3352476"/>
            <a:ext cx="17500" cy="1457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10800000">
            <a:off x="656252" y="3330612"/>
            <a:ext cx="87500" cy="87456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1252" y="3884499"/>
            <a:ext cx="17500" cy="17491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10800000">
            <a:off x="656252" y="4044835"/>
            <a:ext cx="87500" cy="87456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41670" y="1639798"/>
            <a:ext cx="284376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幅度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880215" y="1639798"/>
            <a:ext cx="1050002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线性调频脉冲</a:t>
            </a:r>
            <a:endParaRPr lang="en-US" sz="8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487503" y="2142670"/>
            <a:ext cx="4119801" cy="10932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87503" y="1756406"/>
            <a:ext cx="10938" cy="393552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4186508">
            <a:off x="1434650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5084256">
            <a:off x="1506969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55212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4186508">
            <a:off x="1562254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5084256">
            <a:off x="1634574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82817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-4186508">
            <a:off x="1689859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5084256">
            <a:off x="1762178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10421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-4186508">
            <a:off x="1817463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5084256">
            <a:off x="1889783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38026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-4186508">
            <a:off x="1945068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5084256">
            <a:off x="2017387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65630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-4186508">
            <a:off x="2072672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5084256">
            <a:off x="2144992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93235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-4186508">
            <a:off x="2200277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5084256">
            <a:off x="2272596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20839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-4186508">
            <a:off x="2327881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5084256">
            <a:off x="2400200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48443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-4186508">
            <a:off x="2455486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5084256">
            <a:off x="2527805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76048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-4186508">
            <a:off x="2583090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084256">
            <a:off x="2655409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803652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-4186508">
            <a:off x="2710695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5084256">
            <a:off x="2783014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31257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-4186508">
            <a:off x="2838299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5084256">
            <a:off x="2910618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58861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-4186508">
            <a:off x="2965904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5084256">
            <a:off x="3038223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86466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-4186508">
            <a:off x="3093508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5084256">
            <a:off x="3165827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314070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-4186508">
            <a:off x="3221113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5084256">
            <a:off x="3293432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441675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-4186508">
            <a:off x="3348717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5084256">
            <a:off x="3421036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69279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rot="-4186508">
            <a:off x="3476321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rot="5084256">
            <a:off x="3548641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696884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-4186508">
            <a:off x="3603926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5084256">
            <a:off x="3676245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824488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rot="-4186508">
            <a:off x="3731530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5084256">
            <a:off x="3803850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952093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-4186508">
            <a:off x="3859135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5084256">
            <a:off x="3931454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079697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-4186508">
            <a:off x="3986739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5084256">
            <a:off x="4059059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207302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-4186508">
            <a:off x="4114344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5084256">
            <a:off x="4186663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334906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rot="-4186508">
            <a:off x="4241948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rot="5084256">
            <a:off x="4314267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462510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rot="-4186508">
            <a:off x="4369553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5084256">
            <a:off x="4441872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590115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-4186508">
            <a:off x="4497157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rot="5084256">
            <a:off x="4569476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717719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rot="-4186508">
            <a:off x="4624762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rot="5084256">
            <a:off x="4697081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845324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rot="-4186508">
            <a:off x="4752366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5084256">
            <a:off x="4824685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972928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rot="-4186508">
            <a:off x="4879971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rot="5084256">
            <a:off x="4952290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100533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-4186508">
            <a:off x="5007575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5084256">
            <a:off x="5079894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228137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rot="-4186508">
            <a:off x="5135180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5084256">
            <a:off x="5207499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405092" y="2129086"/>
            <a:ext cx="277084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时间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7" name="Text 125"/>
          <p:cNvSpPr/>
          <p:nvPr/>
        </p:nvSpPr>
        <p:spPr>
          <a:xfrm>
            <a:off x="5198971" y="2208261"/>
            <a:ext cx="320834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i="1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T_sw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8" name="Text 126"/>
          <p:cNvSpPr/>
          <p:nvPr/>
        </p:nvSpPr>
        <p:spPr>
          <a:xfrm>
            <a:off x="1341670" y="2281141"/>
            <a:ext cx="284376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幅度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9" name="Text 127"/>
          <p:cNvSpPr/>
          <p:nvPr/>
        </p:nvSpPr>
        <p:spPr>
          <a:xfrm>
            <a:off x="2253130" y="2288429"/>
            <a:ext cx="1013544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763B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目标回波 (τ_tar)</a:t>
            </a:r>
            <a:endParaRPr lang="en-US" sz="8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0" name="Text 128"/>
          <p:cNvSpPr/>
          <p:nvPr/>
        </p:nvSpPr>
        <p:spPr>
          <a:xfrm>
            <a:off x="3777092" y="2288429"/>
            <a:ext cx="1035419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642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干扰回波 (τ_intf)</a:t>
            </a:r>
            <a:endParaRPr lang="en-US" sz="8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1" name="Shape 129"/>
          <p:cNvSpPr/>
          <p:nvPr/>
        </p:nvSpPr>
        <p:spPr>
          <a:xfrm>
            <a:off x="1487503" y="2805877"/>
            <a:ext cx="4119801" cy="10932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487503" y="2405037"/>
            <a:ext cx="10938" cy="408128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-4107708">
            <a:off x="1504228" y="2579785"/>
            <a:ext cx="85406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rot="4397991">
            <a:off x="1523730" y="2592312"/>
            <a:ext cx="10911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rot="3464981">
            <a:off x="1580260" y="2669374"/>
            <a:ext cx="5875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rot="-4453549">
            <a:off x="1583324" y="2638738"/>
            <a:ext cx="11533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rot="-3372536">
            <a:off x="1644160" y="2559855"/>
            <a:ext cx="56376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rot="4730105">
            <a:off x="1622739" y="2615831"/>
            <a:ext cx="161925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rot="-2887240">
            <a:off x="1711572" y="2677745"/>
            <a:ext cx="4696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rot="-4342763">
            <a:off x="1714622" y="2610935"/>
            <a:ext cx="10357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rot="1027803">
            <a:off x="1781360" y="2566430"/>
            <a:ext cx="3281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rot="4629816">
            <a:off x="1758555" y="2640026"/>
            <a:ext cx="141129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-4314026">
            <a:off x="1810011" y="2660851"/>
            <a:ext cx="100925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rot="-3163041">
            <a:off x="1865947" y="2592328"/>
            <a:ext cx="51761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rot="2993805">
            <a:off x="1898845" y="2590352"/>
            <a:ext cx="48674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rot="4161111">
            <a:off x="1910078" y="2650538"/>
            <a:ext cx="88916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rot="-4446709">
            <a:off x="1928624" y="2637069"/>
            <a:ext cx="114531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rot="852085">
            <a:off x="2001073" y="2585984"/>
            <a:ext cx="32343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rot="3209052">
            <a:off x="2022252" y="2611113"/>
            <a:ext cx="52692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rot="3536922">
            <a:off x="2049559" y="2658302"/>
            <a:ext cx="60787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rot="-4632350">
            <a:off x="2040514" y="2615326"/>
            <a:ext cx="141587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rot="3852583">
            <a:off x="2106628" y="2578753"/>
            <a:ext cx="72066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rot="3273376">
            <a:off x="2146981" y="2633193"/>
            <a:ext cx="5406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rot="2080014">
            <a:off x="2186309" y="2666043"/>
            <a:ext cx="38122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rot="-4797935">
            <a:off x="2146750" y="2588326"/>
            <a:ext cx="179949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rot="4720744">
            <a:off x="2188217" y="2578040"/>
            <a:ext cx="159723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rot="1074417">
            <a:off x="2282957" y="2661371"/>
            <a:ext cx="3295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rot="-2133946">
            <a:off x="2311514" y="2655230"/>
            <a:ext cx="38545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rot="-4712420">
            <a:off x="2283234" y="2566731"/>
            <a:ext cx="157814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rot="4903053">
            <a:off x="2284666" y="2597076"/>
            <a:ext cx="21765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rot="-3721969">
            <a:off x="2391420" y="2675205"/>
            <a:ext cx="6685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rot="-3036348">
            <a:off x="2431502" y="2626615"/>
            <a:ext cx="49404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rot="-4064513">
            <a:off x="2446169" y="2569250"/>
            <a:ext cx="82777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rot="4820513">
            <a:off x="2425467" y="2623038"/>
            <a:ext cx="18689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rot="-4379336">
            <a:off x="2496680" y="2663896"/>
            <a:ext cx="107173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rot="-1760263">
            <a:off x="2563637" y="2603873"/>
            <a:ext cx="35967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rot="-1741832">
            <a:off x="2595045" y="2586370"/>
            <a:ext cx="3586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rot="4567631">
            <a:off x="2578944" y="2641118"/>
            <a:ext cx="130769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rot="-4514123">
            <a:off x="2614168" y="2645109"/>
            <a:ext cx="123031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rot="1027979">
            <a:off x="2690632" y="2590486"/>
            <a:ext cx="3281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rot="1130113">
            <a:off x="2721828" y="2600661"/>
            <a:ext cx="3312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rot="4400205">
            <a:off x="2715074" y="2658356"/>
            <a:ext cx="109345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rot="-4758256">
            <a:off x="2716630" y="2627745"/>
            <a:ext cx="16894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rot="3720594">
            <a:off x="2799051" y="2574266"/>
            <a:ext cx="6680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rot="2751170">
            <a:off x="2841300" y="2619891"/>
            <a:ext cx="45017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rot="4040191">
            <a:off x="2854477" y="2673559"/>
            <a:ext cx="81372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rot="-4903893">
            <a:off x="2817506" y="2603261"/>
            <a:ext cx="218023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rot="4646552">
            <a:off x="2885766" y="2565782"/>
            <a:ext cx="144211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rot="2379892">
            <a:off x="2968860" y="2649120"/>
            <a:ext cx="40731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rot="1067024">
            <a:off x="3004116" y="2667138"/>
            <a:ext cx="3292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rot="-4820739">
            <a:off x="2958453" y="2580054"/>
            <a:ext cx="186962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rot="4829664">
            <a:off x="2988359" y="2581523"/>
            <a:ext cx="18986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rot="-1690433">
            <a:off x="3096858" y="2666709"/>
            <a:ext cx="3556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rot="-2948874">
            <a:off x="3122030" y="2640197"/>
            <a:ext cx="47934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rot="-4271182">
            <a:off x="3128739" y="2576085"/>
            <a:ext cx="97225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rot="4727240">
            <a:off x="3128083" y="2609137"/>
            <a:ext cx="161245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rot="-3558453">
            <a:off x="3209346" y="2661782"/>
            <a:ext cx="61427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rot="-3092511">
            <a:off x="3246207" y="2615656"/>
            <a:ext cx="50413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rot="-2199853">
            <a:off x="3283224" y="2584263"/>
            <a:ext cx="3908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rot="4509371">
            <a:off x="3272928" y="2631722"/>
            <a:ext cx="122389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rot="-4088450">
            <a:off x="3323371" y="2651785"/>
            <a:ext cx="84212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rot="-2764128">
            <a:off x="3374235" y="2596461"/>
            <a:ext cx="45192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rot="2046414">
            <a:off x="3409251" y="2590808"/>
            <a:ext cx="3786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rot="4408946">
            <a:off x="3404398" y="2654258"/>
            <a:ext cx="110282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rot="-4578474">
            <a:off x="3424663" y="2642781"/>
            <a:ext cx="132462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rot="-1190584">
            <a:off x="3505581" y="2572810"/>
            <a:ext cx="33333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 rot="4058690">
            <a:off x="3512384" y="2605257"/>
            <a:ext cx="82436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 rot="3819944">
            <a:off x="3549616" y="2675014"/>
            <a:ext cx="7068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 rot="-4770671">
            <a:off x="3530193" y="2622035"/>
            <a:ext cx="172235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rot="3242674">
            <a:off x="3620965" y="2559002"/>
            <a:ext cx="5340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rot="4397869">
            <a:off x="3624470" y="2632825"/>
            <a:ext cx="109097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rot="-2087577">
            <a:off x="3691283" y="2674158"/>
            <a:ext cx="3818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rot="-4369228">
            <a:off x="3368686" y="2569982"/>
            <a:ext cx="103685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 rot="3424752">
            <a:off x="3422979" y="2544116"/>
            <a:ext cx="56350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rot="-782739">
            <a:off x="3466061" y="2564209"/>
            <a:ext cx="31436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 rot="4585513">
            <a:off x="3447165" y="2624047"/>
            <a:ext cx="13047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 rot="3666866">
            <a:off x="3511330" y="2715173"/>
            <a:ext cx="6339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 rot="-4437626">
            <a:off x="3518234" y="2689678"/>
            <a:ext cx="110839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 rot="-1771252">
            <a:off x="3586682" y="2627777"/>
            <a:ext cx="35194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 rot="-4504244">
            <a:off x="3575467" y="2561709"/>
            <a:ext cx="118874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 rot="1965453">
            <a:off x="3647321" y="2514154"/>
            <a:ext cx="36416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 rot="4662223">
            <a:off x="3624253" y="2594218"/>
            <a:ext cx="143802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rot="325553">
            <a:off x="3711398" y="2665887"/>
            <a:ext cx="30763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 rot="3846181">
            <a:off x="3722345" y="2698864"/>
            <a:ext cx="70120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 rot="-4170820">
            <a:off x="3744278" y="2689423"/>
            <a:ext cx="87504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 rot="-4556362">
            <a:off x="3755627" y="2587350"/>
            <a:ext cx="126056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 rot="3123216">
            <a:off x="3824378" y="2545869"/>
            <a:ext cx="49803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 rot="-1181377">
            <a:off x="3863641" y="2560019"/>
            <a:ext cx="32527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 rot="4374472">
            <a:off x="3858430" y="2604315"/>
            <a:ext cx="104199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 rot="3947056">
            <a:off x="3903823" y="2688118"/>
            <a:ext cx="74664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 rot="-4111085">
            <a:off x="3929966" y="2683259"/>
            <a:ext cx="8362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 rot="-1372153">
            <a:off x="3985786" y="2637914"/>
            <a:ext cx="3323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 rot="-4173240">
            <a:off x="3989196" y="2590406"/>
            <a:ext cx="87669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 rot="-1206467">
            <a:off x="4047349" y="2543751"/>
            <a:ext cx="32613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 rot="4372710">
            <a:off x="4042268" y="2587830"/>
            <a:ext cx="104026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 rot="997990">
            <a:off x="4108924" y="2642085"/>
            <a:ext cx="31962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 rot="3606025">
            <a:off x="4124812" y="2673273"/>
            <a:ext cx="61437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 rot="-3022594">
            <a:off x="4162145" y="2681405"/>
            <a:ext cx="48021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 rot="-4457775">
            <a:off x="4160207" y="2608485"/>
            <a:ext cx="11314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 rot="1758594">
            <a:off x="4229845" y="2562642"/>
            <a:ext cx="35121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rot="-2013211">
            <a:off x="4259657" y="2561084"/>
            <a:ext cx="3674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 rot="4126055">
            <a:off x="4266374" y="2590325"/>
            <a:ext cx="84564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 rot="4370409">
            <a:off x="4287381" y="2679282"/>
            <a:ext cx="103800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 rot="-3952074">
            <a:off x="4332453" y="2694684"/>
            <a:ext cx="74907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 rot="-1288161">
            <a:off x="4384077" y="2654502"/>
            <a:ext cx="3290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 rot="-4380699">
            <a:off x="4378748" y="2598386"/>
            <a:ext cx="104817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 rot="-3601550">
            <a:off x="4431132" y="2521754"/>
            <a:ext cx="6129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 rot="4600993">
            <a:off x="4425927" y="2559877"/>
            <a:ext cx="132959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 rot="2128157">
            <a:off x="4504230" y="2635440"/>
            <a:ext cx="37603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 rot="4153548">
            <a:off x="4510484" y="2686690"/>
            <a:ext cx="86344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 rot="-1943189">
            <a:off x="4566149" y="2717327"/>
            <a:ext cx="36266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 rot="-4749802">
            <a:off x="4533461" y="2627667"/>
            <a:ext cx="162891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 rot="955923">
            <a:off x="4629607" y="2552083"/>
            <a:ext cx="3184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 rot="-2672292">
            <a:off x="4654674" y="2541392"/>
            <a:ext cx="42965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 rot="4081939">
            <a:off x="4665848" y="2564274"/>
            <a:ext cx="81867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 rot="4626417">
            <a:off x="4668781" y="2669078"/>
            <a:ext cx="137251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 rot="-3827448">
            <a:off x="4733361" y="2704848"/>
            <a:ext cx="69342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 rot="-1374582">
            <a:off x="4782033" y="2667289"/>
            <a:ext cx="3324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 rot="-4221988">
            <a:off x="4783709" y="2617920"/>
            <a:ext cx="91145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 rot="-3987648">
            <a:off x="4821566" y="2539886"/>
            <a:ext cx="76682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 rot="4400062">
            <a:off x="4837139" y="2555878"/>
            <a:ext cx="106787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rot="2230706">
            <a:off x="4901939" y="2618611"/>
            <a:ext cx="38437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 rot="3782632">
            <a:off x="4918003" y="2660313"/>
            <a:ext cx="67559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 rot="972569">
            <a:off x="4966461" y="2694856"/>
            <a:ext cx="31893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 rot="-4508322">
            <a:off x="4953330" y="2641629"/>
            <a:ext cx="119405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 rot="-672752">
            <a:off x="5028047" y="2580919"/>
            <a:ext cx="31221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 rot="-2420338">
            <a:off x="5054194" y="2564888"/>
            <a:ext cx="4017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 rot="2893816">
            <a:off x="5081921" y="2569026"/>
            <a:ext cx="45974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 rot="4483589">
            <a:off x="5077405" y="2642208"/>
            <a:ext cx="116256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 rot="-2611806">
            <a:off x="5145038" y="2683716"/>
            <a:ext cx="42241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 rot="-649871">
            <a:off x="5181193" y="2666249"/>
            <a:ext cx="31181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 rot="-3843351">
            <a:off x="5192408" y="2631863"/>
            <a:ext cx="70001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 rot="-4312633">
            <a:off x="5208805" y="2553644"/>
            <a:ext cx="98456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 rot="4185278">
            <a:off x="5244408" y="2548378"/>
            <a:ext cx="88501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 rot="2653295">
            <a:off x="5297916" y="2604768"/>
            <a:ext cx="42734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 rot="3981688">
            <a:off x="5311719" y="2654630"/>
            <a:ext cx="7637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 rot="3421151">
            <a:off x="5352404" y="2713181"/>
            <a:ext cx="56259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 rot="-4671570">
            <a:off x="5338349" y="2665621"/>
            <a:ext cx="145619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 rot="-2428893">
            <a:off x="5421652" y="2581413"/>
            <a:ext cx="40264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5384996" y="2792293"/>
            <a:ext cx="277084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时间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1" name="Text 269"/>
          <p:cNvSpPr/>
          <p:nvPr/>
        </p:nvSpPr>
        <p:spPr>
          <a:xfrm>
            <a:off x="5198971" y="2893333"/>
            <a:ext cx="320834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i="1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T_sw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2" name="Shape 270"/>
          <p:cNvSpPr/>
          <p:nvPr/>
        </p:nvSpPr>
        <p:spPr>
          <a:xfrm>
            <a:off x="1779171" y="3002652"/>
            <a:ext cx="3288549" cy="262368"/>
          </a:xfrm>
          <a:prstGeom prst="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8BA2B8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1895838" y="3031804"/>
            <a:ext cx="3055215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s_mix(t) = s_rx(t) · s_tx*(t)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4" name="Text 272"/>
          <p:cNvSpPr/>
          <p:nvPr/>
        </p:nvSpPr>
        <p:spPr>
          <a:xfrm>
            <a:off x="1341670" y="3330612"/>
            <a:ext cx="284376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幅度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5" name="Text 273"/>
          <p:cNvSpPr/>
          <p:nvPr/>
        </p:nvSpPr>
        <p:spPr>
          <a:xfrm>
            <a:off x="2887507" y="3279596"/>
            <a:ext cx="107916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差拍频率  f_beat</a:t>
            </a:r>
            <a:endParaRPr lang="en-US" sz="8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6" name="Shape 274"/>
          <p:cNvSpPr/>
          <p:nvPr/>
        </p:nvSpPr>
        <p:spPr>
          <a:xfrm>
            <a:off x="1487503" y="3877211"/>
            <a:ext cx="4119801" cy="10932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487503" y="3469084"/>
            <a:ext cx="10938" cy="415416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553129" y="3863729"/>
            <a:ext cx="838544" cy="1239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 rot="-81836">
            <a:off x="2391629" y="3860085"/>
            <a:ext cx="306338" cy="1239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 rot="-637179">
            <a:off x="2696906" y="3845509"/>
            <a:ext cx="118700" cy="1239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 rot="-2863579">
            <a:off x="2796849" y="3794493"/>
            <a:ext cx="108399" cy="1239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 rot="-4799521">
            <a:off x="2783508" y="3630513"/>
            <a:ext cx="251748" cy="1239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 rot="4799521">
            <a:off x="2827258" y="3630513"/>
            <a:ext cx="251748" cy="1239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 rot="2700000">
            <a:off x="2956885" y="3798137"/>
            <a:ext cx="123744" cy="1239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 rot="321350">
            <a:off x="3061996" y="3852797"/>
            <a:ext cx="234357" cy="1239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3791676" y="3863729"/>
            <a:ext cx="444793" cy="12390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 rot="-983372">
            <a:off x="4233843" y="3845509"/>
            <a:ext cx="129209" cy="12390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 rot="-2254116">
            <a:off x="4348027" y="3790849"/>
            <a:ext cx="119593" cy="12390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 rot="-4406576">
            <a:off x="4354592" y="3619581"/>
            <a:ext cx="281463" cy="12390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 rot="4579722">
            <a:off x="4429410" y="3619581"/>
            <a:ext cx="277659" cy="12390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 rot="2550627">
            <a:off x="4585453" y="3794493"/>
            <a:ext cx="118700" cy="12390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 rot="427501">
            <a:off x="4687645" y="3849153"/>
            <a:ext cx="235150" cy="12390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4921887" y="3863729"/>
            <a:ext cx="328126" cy="12390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2068280" y="3424692"/>
            <a:ext cx="991669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763B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目标 f_beat,tar</a:t>
            </a:r>
            <a:endParaRPr lang="en-US" sz="7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5" name="Text 293"/>
          <p:cNvSpPr/>
          <p:nvPr/>
        </p:nvSpPr>
        <p:spPr>
          <a:xfrm>
            <a:off x="4394450" y="3447552"/>
            <a:ext cx="1035419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C642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 f_beat,intf</a:t>
            </a:r>
            <a:endParaRPr lang="en-US" sz="7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6" name="Text 294"/>
          <p:cNvSpPr/>
          <p:nvPr/>
        </p:nvSpPr>
        <p:spPr>
          <a:xfrm>
            <a:off x="5360235" y="3454508"/>
            <a:ext cx="568751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LPF截断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7" name="Shape 295"/>
          <p:cNvSpPr/>
          <p:nvPr/>
        </p:nvSpPr>
        <p:spPr>
          <a:xfrm>
            <a:off x="3047924" y="349823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3047924" y="357111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3047924" y="364399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3047924" y="371687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3047924" y="378975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4076051" y="349823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4076051" y="357111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4076051" y="364399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4076051" y="371687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4076051" y="378975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307" name="Text 305"/>
          <p:cNvSpPr/>
          <p:nvPr/>
        </p:nvSpPr>
        <p:spPr>
          <a:xfrm>
            <a:off x="1516670" y="3920939"/>
            <a:ext cx="3901051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−20   −16   −12   −8   −4    0     4     8    12    16    20</a:t>
            </a:r>
            <a:endParaRPr lang="en-US" sz="69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8" name="Text 306"/>
          <p:cNvSpPr/>
          <p:nvPr/>
        </p:nvSpPr>
        <p:spPr>
          <a:xfrm>
            <a:off x="5118762" y="3920939"/>
            <a:ext cx="525001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频率 (MHz)</a:t>
            </a:r>
            <a:endParaRPr lang="en-US" sz="7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9" name="Text 307"/>
          <p:cNvSpPr/>
          <p:nvPr/>
        </p:nvSpPr>
        <p:spPr>
          <a:xfrm>
            <a:off x="1341670" y="4139579"/>
            <a:ext cx="284376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幅度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0" name="Shape 308"/>
          <p:cNvSpPr/>
          <p:nvPr/>
        </p:nvSpPr>
        <p:spPr>
          <a:xfrm>
            <a:off x="1487503" y="4533131"/>
            <a:ext cx="4119801" cy="10932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487503" y="4256187"/>
            <a:ext cx="10938" cy="284232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2741673" y="4401947"/>
            <a:ext cx="1633337" cy="131184"/>
          </a:xfrm>
          <a:prstGeom prst="rect">
            <a:avLst/>
          </a:prstGeom>
          <a:solidFill>
            <a:srgbClr val="DCEAF7">
              <a:alpha val="90000"/>
            </a:srgbClr>
          </a:solidFill>
          <a:ln w="7620">
            <a:solidFill>
              <a:srgbClr val="6D92B8"/>
            </a:solidFill>
            <a:prstDash val="solid"/>
          </a:ln>
        </p:spPr>
      </p:sp>
      <p:sp>
        <p:nvSpPr>
          <p:cNvPr id="313" name="Text 311"/>
          <p:cNvSpPr/>
          <p:nvPr/>
        </p:nvSpPr>
        <p:spPr>
          <a:xfrm>
            <a:off x="2501048" y="4197883"/>
            <a:ext cx="2136463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LPF通带：|f_beat| ≤ f_bmax</a:t>
            </a:r>
            <a:endParaRPr lang="en-US" sz="9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4" name="Text 312"/>
          <p:cNvSpPr/>
          <p:nvPr/>
        </p:nvSpPr>
        <p:spPr>
          <a:xfrm>
            <a:off x="1516670" y="4562283"/>
            <a:ext cx="3901051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−20   −16   −12   −8   −4    0     4     8    12    16    20</a:t>
            </a:r>
            <a:endParaRPr lang="en-US" sz="69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5" name="Text 313"/>
          <p:cNvSpPr/>
          <p:nvPr/>
        </p:nvSpPr>
        <p:spPr>
          <a:xfrm>
            <a:off x="5118762" y="4562283"/>
            <a:ext cx="525001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频率 (MHz)</a:t>
            </a:r>
            <a:endParaRPr lang="en-US" sz="7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6" name="Shape 314"/>
          <p:cNvSpPr/>
          <p:nvPr/>
        </p:nvSpPr>
        <p:spPr>
          <a:xfrm>
            <a:off x="284376" y="4759058"/>
            <a:ext cx="5600013" cy="655919"/>
          </a:xfrm>
          <a:prstGeom prst="roundRect">
            <a:avLst/>
          </a:prstGeom>
          <a:solidFill>
            <a:srgbClr val="FCFAF5">
              <a:alpha val="0"/>
            </a:srgbClr>
          </a:solidFill>
          <a:ln w="11430">
            <a:solidFill>
              <a:srgbClr val="12355B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342709" y="4839226"/>
            <a:ext cx="736460" cy="488295"/>
          </a:xfrm>
          <a:prstGeom prst="roundRect">
            <a:avLst/>
          </a:prstGeom>
          <a:solidFill>
            <a:srgbClr val="07345E"/>
          </a:solidFill>
          <a:ln w="12700">
            <a:solidFill>
              <a:srgbClr val="07345E">
                <a:alpha val="0"/>
              </a:srgbClr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379168" y="4868378"/>
            <a:ext cx="663543" cy="42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干扰推出</a:t>
            </a:r>
            <a:endParaRPr lang="en-US" sz="11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通带原理</a:t>
            </a:r>
            <a:endParaRPr lang="en-US" sz="11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9" name="Text 317"/>
          <p:cNvSpPr/>
          <p:nvPr/>
        </p:nvSpPr>
        <p:spPr>
          <a:xfrm>
            <a:off x="1210419" y="4912106"/>
            <a:ext cx="1385420" cy="34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86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差拍频率与时延成正比：</a:t>
            </a:r>
            <a:endParaRPr lang="en-US" sz="8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6000"/>
              </a:lnSpc>
              <a:buNone/>
            </a:pPr>
            <a:r>
              <a:rPr lang="en-US" sz="86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f_beat,intf = K × τ_intf</a:t>
            </a:r>
            <a:endParaRPr lang="en-US" sz="8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0" name="Text 318"/>
          <p:cNvSpPr/>
          <p:nvPr/>
        </p:nvSpPr>
        <p:spPr>
          <a:xfrm>
            <a:off x="2661465" y="4882954"/>
            <a:ext cx="1779171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改变载频 f_c 或发射时延 t_d</a:t>
            </a:r>
            <a:endParaRPr lang="en-US" sz="8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2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→ 等效干扰时延变化</a:t>
            </a:r>
            <a:endParaRPr lang="en-US" sz="8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2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→ 差拍频率移动</a:t>
            </a:r>
            <a:endParaRPr lang="en-US" sz="8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1" name="Shape 319"/>
          <p:cNvSpPr/>
          <p:nvPr/>
        </p:nvSpPr>
        <p:spPr>
          <a:xfrm>
            <a:off x="4498969" y="4795498"/>
            <a:ext cx="1261461" cy="575751"/>
          </a:xfrm>
          <a:prstGeom prst="roundRect">
            <a:avLst/>
          </a:prstGeom>
          <a:solidFill>
            <a:srgbClr val="FCFAF5">
              <a:alpha val="0"/>
            </a:srgbClr>
          </a:solidFill>
          <a:ln w="10160">
            <a:solidFill>
              <a:srgbClr val="7E9BB8"/>
            </a:solidFill>
            <a:prstDash val="solid"/>
          </a:ln>
        </p:spPr>
      </p:sp>
      <p:sp>
        <p:nvSpPr>
          <p:cNvPr id="322" name="Text 320"/>
          <p:cNvSpPr/>
          <p:nvPr/>
        </p:nvSpPr>
        <p:spPr>
          <a:xfrm>
            <a:off x="4564594" y="4831938"/>
            <a:ext cx="1130211" cy="4955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87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当满足：</a:t>
            </a:r>
            <a:endParaRPr lang="en-US" sz="8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2000"/>
              </a:lnSpc>
              <a:buNone/>
            </a:pPr>
            <a:r>
              <a:rPr lang="en-US" sz="87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|f_beat,intf| &gt; f_bmax</a:t>
            </a:r>
            <a:endParaRPr lang="en-US" sz="8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2000"/>
              </a:lnSpc>
              <a:buNone/>
            </a:pPr>
            <a:r>
              <a:rPr lang="en-US" sz="87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干扰被LPF滤除</a:t>
            </a:r>
            <a:endParaRPr lang="en-US" sz="8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3" name="Shape 321"/>
          <p:cNvSpPr/>
          <p:nvPr/>
        </p:nvSpPr>
        <p:spPr>
          <a:xfrm>
            <a:off x="6241681" y="1362854"/>
            <a:ext cx="3135424" cy="269656"/>
          </a:xfrm>
          <a:prstGeom prst="roundRect">
            <a:avLst/>
          </a:prstGeom>
          <a:solidFill>
            <a:srgbClr val="07345E"/>
          </a:solidFill>
          <a:ln w="12700">
            <a:solidFill>
              <a:srgbClr val="07345E">
                <a:alpha val="0"/>
              </a:srgbClr>
            </a:solidFill>
            <a:prstDash val="solid"/>
          </a:ln>
        </p:spPr>
      </p:sp>
      <p:sp>
        <p:nvSpPr>
          <p:cNvPr id="324" name="Text 322"/>
          <p:cNvSpPr/>
          <p:nvPr/>
        </p:nvSpPr>
        <p:spPr>
          <a:xfrm>
            <a:off x="6372932" y="1392006"/>
            <a:ext cx="2865632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9维联合动作空间（3 × 3 = 9 种配置）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5" name="Text 323"/>
          <p:cNvSpPr/>
          <p:nvPr/>
        </p:nvSpPr>
        <p:spPr>
          <a:xfrm>
            <a:off x="7247934" y="1785558"/>
            <a:ext cx="1356253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00" b="1" dirty="0" err="1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载波频率</a:t>
            </a:r>
            <a:r>
              <a:rPr lang="en-US" sz="10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000" b="1" i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fc</a:t>
            </a:r>
            <a:r>
              <a:rPr lang="zh-CN" altLang="zh-CN" sz="10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 (GHz)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6" name="Text 324"/>
          <p:cNvSpPr/>
          <p:nvPr/>
        </p:nvSpPr>
        <p:spPr>
          <a:xfrm>
            <a:off x="6183348" y="2390461"/>
            <a:ext cx="284376" cy="15814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发射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时延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t_d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(μs)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7" name="Text 325"/>
          <p:cNvSpPr/>
          <p:nvPr/>
        </p:nvSpPr>
        <p:spPr>
          <a:xfrm>
            <a:off x="6722932" y="2069790"/>
            <a:ext cx="794794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76.25</a:t>
            </a:r>
            <a:endParaRPr lang="en-US" sz="10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8" name="Text 326"/>
          <p:cNvSpPr/>
          <p:nvPr/>
        </p:nvSpPr>
        <p:spPr>
          <a:xfrm>
            <a:off x="7590643" y="2069790"/>
            <a:ext cx="794794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76.75</a:t>
            </a:r>
            <a:endParaRPr lang="en-US" sz="10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9" name="Text 327"/>
          <p:cNvSpPr/>
          <p:nvPr/>
        </p:nvSpPr>
        <p:spPr>
          <a:xfrm>
            <a:off x="8465645" y="2069790"/>
            <a:ext cx="794794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77.25</a:t>
            </a:r>
            <a:endParaRPr lang="en-US" sz="10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0" name="Text 328"/>
          <p:cNvSpPr/>
          <p:nvPr/>
        </p:nvSpPr>
        <p:spPr>
          <a:xfrm>
            <a:off x="6409390" y="2507069"/>
            <a:ext cx="284376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96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  <a:endParaRPr lang="en-US" sz="9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2000"/>
              </a:lnSpc>
              <a:buNone/>
            </a:pPr>
            <a:r>
              <a:rPr lang="en-US" sz="96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μs</a:t>
            </a:r>
            <a:endParaRPr lang="en-US" sz="9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1" name="Text 329"/>
          <p:cNvSpPr/>
          <p:nvPr/>
        </p:nvSpPr>
        <p:spPr>
          <a:xfrm>
            <a:off x="6409390" y="3308748"/>
            <a:ext cx="284376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96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0.8</a:t>
            </a:r>
            <a:endParaRPr lang="en-US" sz="9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2000"/>
              </a:lnSpc>
              <a:buNone/>
            </a:pPr>
            <a:r>
              <a:rPr lang="en-US" sz="96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μs</a:t>
            </a:r>
            <a:endParaRPr lang="en-US" sz="9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2" name="Text 330"/>
          <p:cNvSpPr/>
          <p:nvPr/>
        </p:nvSpPr>
        <p:spPr>
          <a:xfrm>
            <a:off x="6409390" y="4103139"/>
            <a:ext cx="284376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96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1.6</a:t>
            </a:r>
            <a:endParaRPr lang="en-US" sz="9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2000"/>
              </a:lnSpc>
              <a:buNone/>
            </a:pPr>
            <a:r>
              <a:rPr lang="en-US" sz="96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μs</a:t>
            </a:r>
            <a:endParaRPr lang="en-US" sz="9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3" name="Shape 331"/>
          <p:cNvSpPr/>
          <p:nvPr/>
        </p:nvSpPr>
        <p:spPr>
          <a:xfrm>
            <a:off x="6722932" y="2368597"/>
            <a:ext cx="794794" cy="721511"/>
          </a:xfrm>
          <a:prstGeom prst="roundRect">
            <a:avLst/>
          </a:prstGeom>
          <a:solidFill>
            <a:srgbClr val="F7F8F8">
              <a:alpha val="95000"/>
            </a:srgbClr>
          </a:solidFill>
          <a:ln w="8890">
            <a:solidFill>
              <a:srgbClr val="6E90B0"/>
            </a:solidFill>
            <a:prstDash val="solid"/>
          </a:ln>
        </p:spPr>
      </p:sp>
      <p:sp>
        <p:nvSpPr>
          <p:cNvPr id="334" name="Text 332"/>
          <p:cNvSpPr/>
          <p:nvPr/>
        </p:nvSpPr>
        <p:spPr>
          <a:xfrm>
            <a:off x="6948975" y="2463341"/>
            <a:ext cx="34270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5" name="Text 333"/>
          <p:cNvSpPr/>
          <p:nvPr/>
        </p:nvSpPr>
        <p:spPr>
          <a:xfrm>
            <a:off x="6773974" y="2725709"/>
            <a:ext cx="692710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(76.25, 0 μs)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6" name="Shape 334"/>
          <p:cNvSpPr/>
          <p:nvPr/>
        </p:nvSpPr>
        <p:spPr>
          <a:xfrm>
            <a:off x="7590643" y="2368597"/>
            <a:ext cx="794794" cy="721511"/>
          </a:xfrm>
          <a:prstGeom prst="roundRect">
            <a:avLst/>
          </a:prstGeom>
          <a:solidFill>
            <a:srgbClr val="F7F8F8">
              <a:alpha val="95000"/>
            </a:srgbClr>
          </a:solidFill>
          <a:ln w="8890">
            <a:solidFill>
              <a:srgbClr val="6E90B0"/>
            </a:solidFill>
            <a:prstDash val="solid"/>
          </a:ln>
        </p:spPr>
      </p:sp>
      <p:sp>
        <p:nvSpPr>
          <p:cNvPr id="337" name="Text 335"/>
          <p:cNvSpPr/>
          <p:nvPr/>
        </p:nvSpPr>
        <p:spPr>
          <a:xfrm>
            <a:off x="7816685" y="2463341"/>
            <a:ext cx="34270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8" name="Text 336"/>
          <p:cNvSpPr/>
          <p:nvPr/>
        </p:nvSpPr>
        <p:spPr>
          <a:xfrm>
            <a:off x="7641685" y="2725709"/>
            <a:ext cx="692710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(76.75, 0 μs)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9" name="Shape 337"/>
          <p:cNvSpPr/>
          <p:nvPr/>
        </p:nvSpPr>
        <p:spPr>
          <a:xfrm>
            <a:off x="8465645" y="2368597"/>
            <a:ext cx="794794" cy="721511"/>
          </a:xfrm>
          <a:prstGeom prst="roundRect">
            <a:avLst/>
          </a:prstGeom>
          <a:solidFill>
            <a:srgbClr val="F7F8F8">
              <a:alpha val="95000"/>
            </a:srgbClr>
          </a:solidFill>
          <a:ln w="8890">
            <a:solidFill>
              <a:srgbClr val="6E90B0"/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8691687" y="2463341"/>
            <a:ext cx="34270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1" name="Text 339"/>
          <p:cNvSpPr/>
          <p:nvPr/>
        </p:nvSpPr>
        <p:spPr>
          <a:xfrm>
            <a:off x="8516687" y="2725709"/>
            <a:ext cx="692710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(77.25, 0 μs)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2" name="Shape 340"/>
          <p:cNvSpPr/>
          <p:nvPr/>
        </p:nvSpPr>
        <p:spPr>
          <a:xfrm>
            <a:off x="6722932" y="3170276"/>
            <a:ext cx="794794" cy="721511"/>
          </a:xfrm>
          <a:prstGeom prst="roundRect">
            <a:avLst/>
          </a:prstGeom>
          <a:solidFill>
            <a:srgbClr val="F7F8F8">
              <a:alpha val="95000"/>
            </a:srgbClr>
          </a:solidFill>
          <a:ln w="8890">
            <a:solidFill>
              <a:srgbClr val="6E90B0"/>
            </a:solidFill>
            <a:prstDash val="solid"/>
          </a:ln>
        </p:spPr>
      </p:sp>
      <p:sp>
        <p:nvSpPr>
          <p:cNvPr id="343" name="Text 341"/>
          <p:cNvSpPr/>
          <p:nvPr/>
        </p:nvSpPr>
        <p:spPr>
          <a:xfrm>
            <a:off x="6948975" y="3265020"/>
            <a:ext cx="34270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4" name="Text 342"/>
          <p:cNvSpPr/>
          <p:nvPr/>
        </p:nvSpPr>
        <p:spPr>
          <a:xfrm>
            <a:off x="6773974" y="3527388"/>
            <a:ext cx="692710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(76.25, 0.8 μs)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5" name="Shape 343"/>
          <p:cNvSpPr/>
          <p:nvPr/>
        </p:nvSpPr>
        <p:spPr>
          <a:xfrm>
            <a:off x="7590643" y="3170276"/>
            <a:ext cx="794794" cy="721511"/>
          </a:xfrm>
          <a:prstGeom prst="roundRect">
            <a:avLst/>
          </a:prstGeom>
          <a:solidFill>
            <a:srgbClr val="F7F8F8">
              <a:alpha val="95000"/>
            </a:srgbClr>
          </a:solidFill>
          <a:ln w="8890">
            <a:solidFill>
              <a:srgbClr val="6E90B0"/>
            </a:solidFill>
            <a:prstDash val="solid"/>
          </a:ln>
        </p:spPr>
      </p:sp>
      <p:sp>
        <p:nvSpPr>
          <p:cNvPr id="346" name="Text 344"/>
          <p:cNvSpPr/>
          <p:nvPr/>
        </p:nvSpPr>
        <p:spPr>
          <a:xfrm>
            <a:off x="7816685" y="3265020"/>
            <a:ext cx="34270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7" name="Text 345"/>
          <p:cNvSpPr/>
          <p:nvPr/>
        </p:nvSpPr>
        <p:spPr>
          <a:xfrm>
            <a:off x="7641685" y="3527388"/>
            <a:ext cx="692710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(76.75, 0.8 μs)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8" name="Shape 346"/>
          <p:cNvSpPr/>
          <p:nvPr/>
        </p:nvSpPr>
        <p:spPr>
          <a:xfrm>
            <a:off x="8465645" y="3170276"/>
            <a:ext cx="794794" cy="721511"/>
          </a:xfrm>
          <a:prstGeom prst="roundRect">
            <a:avLst/>
          </a:prstGeom>
          <a:solidFill>
            <a:srgbClr val="F7F8F8">
              <a:alpha val="95000"/>
            </a:srgbClr>
          </a:solidFill>
          <a:ln w="8890">
            <a:solidFill>
              <a:srgbClr val="6E90B0"/>
            </a:solidFill>
            <a:prstDash val="solid"/>
          </a:ln>
        </p:spPr>
      </p:sp>
      <p:sp>
        <p:nvSpPr>
          <p:cNvPr id="349" name="Text 347"/>
          <p:cNvSpPr/>
          <p:nvPr/>
        </p:nvSpPr>
        <p:spPr>
          <a:xfrm>
            <a:off x="8691687" y="3265020"/>
            <a:ext cx="34270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0" name="Text 348"/>
          <p:cNvSpPr/>
          <p:nvPr/>
        </p:nvSpPr>
        <p:spPr>
          <a:xfrm>
            <a:off x="8516687" y="3527388"/>
            <a:ext cx="692710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(77.25, 0.8 μs)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1" name="Shape 349"/>
          <p:cNvSpPr/>
          <p:nvPr/>
        </p:nvSpPr>
        <p:spPr>
          <a:xfrm>
            <a:off x="6722932" y="3964667"/>
            <a:ext cx="794794" cy="721511"/>
          </a:xfrm>
          <a:prstGeom prst="roundRect">
            <a:avLst/>
          </a:prstGeom>
          <a:solidFill>
            <a:srgbClr val="F7F8F8">
              <a:alpha val="95000"/>
            </a:srgbClr>
          </a:solidFill>
          <a:ln w="8890">
            <a:solidFill>
              <a:srgbClr val="6E90B0"/>
            </a:solidFill>
            <a:prstDash val="solid"/>
          </a:ln>
        </p:spPr>
      </p:sp>
      <p:sp>
        <p:nvSpPr>
          <p:cNvPr id="352" name="Text 350"/>
          <p:cNvSpPr/>
          <p:nvPr/>
        </p:nvSpPr>
        <p:spPr>
          <a:xfrm>
            <a:off x="6948975" y="4059411"/>
            <a:ext cx="34270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3" name="Text 351"/>
          <p:cNvSpPr/>
          <p:nvPr/>
        </p:nvSpPr>
        <p:spPr>
          <a:xfrm>
            <a:off x="6773974" y="4321779"/>
            <a:ext cx="692710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(76.25, 1.6 μs)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4" name="Shape 352"/>
          <p:cNvSpPr/>
          <p:nvPr/>
        </p:nvSpPr>
        <p:spPr>
          <a:xfrm>
            <a:off x="7590643" y="3964667"/>
            <a:ext cx="794794" cy="721511"/>
          </a:xfrm>
          <a:prstGeom prst="roundRect">
            <a:avLst/>
          </a:prstGeom>
          <a:solidFill>
            <a:srgbClr val="F7F8F8">
              <a:alpha val="95000"/>
            </a:srgbClr>
          </a:solidFill>
          <a:ln w="8890">
            <a:solidFill>
              <a:srgbClr val="6E90B0"/>
            </a:solidFill>
            <a:prstDash val="solid"/>
          </a:ln>
        </p:spPr>
      </p:sp>
      <p:sp>
        <p:nvSpPr>
          <p:cNvPr id="355" name="Text 353"/>
          <p:cNvSpPr/>
          <p:nvPr/>
        </p:nvSpPr>
        <p:spPr>
          <a:xfrm>
            <a:off x="7816685" y="4059411"/>
            <a:ext cx="34270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6" name="Text 354"/>
          <p:cNvSpPr/>
          <p:nvPr/>
        </p:nvSpPr>
        <p:spPr>
          <a:xfrm>
            <a:off x="7641685" y="4321779"/>
            <a:ext cx="692710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(76.75, 1.6 μs)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7" name="Shape 355"/>
          <p:cNvSpPr/>
          <p:nvPr/>
        </p:nvSpPr>
        <p:spPr>
          <a:xfrm>
            <a:off x="8465645" y="3964667"/>
            <a:ext cx="794794" cy="721511"/>
          </a:xfrm>
          <a:prstGeom prst="roundRect">
            <a:avLst/>
          </a:prstGeom>
          <a:solidFill>
            <a:srgbClr val="F7F8F8">
              <a:alpha val="95000"/>
            </a:srgbClr>
          </a:solidFill>
          <a:ln w="8890">
            <a:solidFill>
              <a:srgbClr val="6E90B0"/>
            </a:solidFill>
            <a:prstDash val="solid"/>
          </a:ln>
        </p:spPr>
      </p:sp>
      <p:sp>
        <p:nvSpPr>
          <p:cNvPr id="358" name="Text 356"/>
          <p:cNvSpPr/>
          <p:nvPr/>
        </p:nvSpPr>
        <p:spPr>
          <a:xfrm>
            <a:off x="8691687" y="4059411"/>
            <a:ext cx="34270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9" name="Text 357"/>
          <p:cNvSpPr/>
          <p:nvPr/>
        </p:nvSpPr>
        <p:spPr>
          <a:xfrm>
            <a:off x="8516687" y="4321779"/>
            <a:ext cx="692710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(77.25, 1.6 μs)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0" name="Shape 358"/>
          <p:cNvSpPr/>
          <p:nvPr/>
        </p:nvSpPr>
        <p:spPr>
          <a:xfrm>
            <a:off x="6351057" y="4839226"/>
            <a:ext cx="2982299" cy="524735"/>
          </a:xfrm>
          <a:prstGeom prst="round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7E9BB8"/>
            </a:solidFill>
            <a:prstDash val="solid"/>
          </a:ln>
        </p:spPr>
      </p:sp>
      <p:pic>
        <p:nvPicPr>
          <p:cNvPr id="361" name="Image 0" descr="matrix_note_ico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307" y="4955834"/>
            <a:ext cx="306251" cy="306096"/>
          </a:xfrm>
          <a:prstGeom prst="rect">
            <a:avLst/>
          </a:prstGeom>
        </p:spPr>
      </p:pic>
      <p:sp>
        <p:nvSpPr>
          <p:cNvPr id="362" name="Text 359"/>
          <p:cNvSpPr/>
          <p:nvPr/>
        </p:nvSpPr>
        <p:spPr>
          <a:xfrm>
            <a:off x="6919808" y="4919394"/>
            <a:ext cx="2289589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82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选择不同 f_c 或 t_d，改变 τ_intf 与 f_beat,intf</a:t>
            </a:r>
            <a:endParaRPr lang="en-US" sz="8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6000"/>
              </a:lnSpc>
              <a:buNone/>
            </a:pPr>
            <a:r>
              <a:rPr lang="en-US" sz="82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动作索引 a∈{0,…,8}；76.75 GHz 为统一中间频点</a:t>
            </a:r>
            <a:endParaRPr lang="en-US" sz="8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3" name="Shape 360"/>
          <p:cNvSpPr/>
          <p:nvPr/>
        </p:nvSpPr>
        <p:spPr>
          <a:xfrm>
            <a:off x="9843773" y="1362854"/>
            <a:ext cx="1713546" cy="269656"/>
          </a:xfrm>
          <a:prstGeom prst="roundRect">
            <a:avLst/>
          </a:prstGeom>
          <a:solidFill>
            <a:srgbClr val="07345E"/>
          </a:solidFill>
          <a:ln w="12700">
            <a:solidFill>
              <a:srgbClr val="07345E">
                <a:alpha val="0"/>
              </a:srgbClr>
            </a:solidFill>
            <a:prstDash val="solid"/>
          </a:ln>
        </p:spPr>
      </p:sp>
      <p:sp>
        <p:nvSpPr>
          <p:cNvPr id="364" name="Text 361"/>
          <p:cNvSpPr/>
          <p:nvPr/>
        </p:nvSpPr>
        <p:spPr>
          <a:xfrm>
            <a:off x="10011482" y="1392006"/>
            <a:ext cx="1370837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系统关键参数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5" name="Shape 362"/>
          <p:cNvSpPr/>
          <p:nvPr/>
        </p:nvSpPr>
        <p:spPr>
          <a:xfrm>
            <a:off x="9661481" y="1719966"/>
            <a:ext cx="2107297" cy="262368"/>
          </a:xfrm>
          <a:prstGeom prst="rect">
            <a:avLst/>
          </a:prstGeom>
          <a:solidFill>
            <a:srgbClr val="FCFAF5">
              <a:alpha val="0"/>
            </a:srgbClr>
          </a:solidFill>
          <a:ln w="6350">
            <a:solidFill>
              <a:srgbClr val="A7B4C0"/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0857317" y="1719966"/>
            <a:ext cx="7292" cy="262368"/>
          </a:xfrm>
          <a:prstGeom prst="rect">
            <a:avLst/>
          </a:prstGeom>
          <a:solidFill>
            <a:srgbClr val="A7B4C0"/>
          </a:solidFill>
          <a:ln w="12700">
            <a:solidFill>
              <a:srgbClr val="A7B4C0">
                <a:alpha val="0"/>
              </a:srgbClr>
            </a:solidFill>
            <a:prstDash val="solid"/>
          </a:ln>
        </p:spPr>
      </p:sp>
      <p:sp>
        <p:nvSpPr>
          <p:cNvPr id="367" name="Text 364"/>
          <p:cNvSpPr/>
          <p:nvPr/>
        </p:nvSpPr>
        <p:spPr>
          <a:xfrm>
            <a:off x="9727106" y="1749118"/>
            <a:ext cx="1064586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调频斜率  K</a:t>
            </a:r>
            <a:endParaRPr lang="en-US" sz="8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8" name="Text 365"/>
          <p:cNvSpPr/>
          <p:nvPr/>
        </p:nvSpPr>
        <p:spPr>
          <a:xfrm>
            <a:off x="10915651" y="1749118"/>
            <a:ext cx="794794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 MHz/μs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9" name="Shape 366"/>
          <p:cNvSpPr/>
          <p:nvPr/>
        </p:nvSpPr>
        <p:spPr>
          <a:xfrm>
            <a:off x="9661481" y="1982334"/>
            <a:ext cx="2107297" cy="262368"/>
          </a:xfrm>
          <a:prstGeom prst="rect">
            <a:avLst/>
          </a:prstGeom>
          <a:solidFill>
            <a:srgbClr val="FCFAF5">
              <a:alpha val="0"/>
            </a:srgbClr>
          </a:solidFill>
          <a:ln w="6350">
            <a:solidFill>
              <a:srgbClr val="A7B4C0"/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0857317" y="1982334"/>
            <a:ext cx="7292" cy="262368"/>
          </a:xfrm>
          <a:prstGeom prst="rect">
            <a:avLst/>
          </a:prstGeom>
          <a:solidFill>
            <a:srgbClr val="A7B4C0"/>
          </a:solidFill>
          <a:ln w="12700">
            <a:solidFill>
              <a:srgbClr val="A7B4C0">
                <a:alpha val="0"/>
              </a:srgbClr>
            </a:solidFill>
            <a:prstDash val="solid"/>
          </a:ln>
        </p:spPr>
      </p:sp>
      <p:sp>
        <p:nvSpPr>
          <p:cNvPr id="371" name="Text 368"/>
          <p:cNvSpPr/>
          <p:nvPr/>
        </p:nvSpPr>
        <p:spPr>
          <a:xfrm>
            <a:off x="9727106" y="2011486"/>
            <a:ext cx="1064586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扫频时长  T_sw</a:t>
            </a:r>
            <a:endParaRPr lang="en-US" sz="8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2" name="Text 369"/>
          <p:cNvSpPr/>
          <p:nvPr/>
        </p:nvSpPr>
        <p:spPr>
          <a:xfrm>
            <a:off x="10915651" y="2011486"/>
            <a:ext cx="794794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50 μs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3" name="Shape 370"/>
          <p:cNvSpPr/>
          <p:nvPr/>
        </p:nvSpPr>
        <p:spPr>
          <a:xfrm>
            <a:off x="9661481" y="2244701"/>
            <a:ext cx="2107297" cy="262368"/>
          </a:xfrm>
          <a:prstGeom prst="rect">
            <a:avLst/>
          </a:prstGeom>
          <a:solidFill>
            <a:srgbClr val="FCFAF5">
              <a:alpha val="0"/>
            </a:srgbClr>
          </a:solidFill>
          <a:ln w="6350">
            <a:solidFill>
              <a:srgbClr val="A7B4C0"/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0857317" y="2244701"/>
            <a:ext cx="7292" cy="262368"/>
          </a:xfrm>
          <a:prstGeom prst="rect">
            <a:avLst/>
          </a:prstGeom>
          <a:solidFill>
            <a:srgbClr val="A7B4C0"/>
          </a:solidFill>
          <a:ln w="12700">
            <a:solidFill>
              <a:srgbClr val="A7B4C0">
                <a:alpha val="0"/>
              </a:srgbClr>
            </a:solidFill>
            <a:prstDash val="solid"/>
          </a:ln>
        </p:spPr>
      </p:sp>
      <p:sp>
        <p:nvSpPr>
          <p:cNvPr id="375" name="Text 372"/>
          <p:cNvSpPr/>
          <p:nvPr/>
        </p:nvSpPr>
        <p:spPr>
          <a:xfrm>
            <a:off x="9727106" y="2273853"/>
            <a:ext cx="1064586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采样频率  f_s</a:t>
            </a:r>
            <a:endParaRPr lang="en-US" sz="8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6" name="Text 373"/>
          <p:cNvSpPr/>
          <p:nvPr/>
        </p:nvSpPr>
        <p:spPr>
          <a:xfrm>
            <a:off x="10915651" y="2273853"/>
            <a:ext cx="794794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20 MHz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7" name="Shape 374"/>
          <p:cNvSpPr/>
          <p:nvPr/>
        </p:nvSpPr>
        <p:spPr>
          <a:xfrm>
            <a:off x="9661481" y="2507069"/>
            <a:ext cx="2107297" cy="262368"/>
          </a:xfrm>
          <a:prstGeom prst="rect">
            <a:avLst/>
          </a:prstGeom>
          <a:solidFill>
            <a:srgbClr val="FCFAF5">
              <a:alpha val="0"/>
            </a:srgbClr>
          </a:solidFill>
          <a:ln w="6350">
            <a:solidFill>
              <a:srgbClr val="A7B4C0"/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0857317" y="2507069"/>
            <a:ext cx="7292" cy="262368"/>
          </a:xfrm>
          <a:prstGeom prst="rect">
            <a:avLst/>
          </a:prstGeom>
          <a:solidFill>
            <a:srgbClr val="A7B4C0"/>
          </a:solidFill>
          <a:ln w="12700">
            <a:solidFill>
              <a:srgbClr val="A7B4C0">
                <a:alpha val="0"/>
              </a:srgbClr>
            </a:solidFill>
            <a:prstDash val="solid"/>
          </a:ln>
        </p:spPr>
      </p:sp>
      <p:sp>
        <p:nvSpPr>
          <p:cNvPr id="379" name="Text 376"/>
          <p:cNvSpPr/>
          <p:nvPr/>
        </p:nvSpPr>
        <p:spPr>
          <a:xfrm>
            <a:off x="9727106" y="2536221"/>
            <a:ext cx="1064586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最大探测距离  d_max</a:t>
            </a:r>
            <a:endParaRPr lang="en-US" sz="8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0" name="Text 377"/>
          <p:cNvSpPr/>
          <p:nvPr/>
        </p:nvSpPr>
        <p:spPr>
          <a:xfrm>
            <a:off x="10915651" y="2536221"/>
            <a:ext cx="794794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120 m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1" name="Shape 378"/>
          <p:cNvSpPr/>
          <p:nvPr/>
        </p:nvSpPr>
        <p:spPr>
          <a:xfrm>
            <a:off x="9661481" y="2769437"/>
            <a:ext cx="2107297" cy="262368"/>
          </a:xfrm>
          <a:prstGeom prst="rect">
            <a:avLst/>
          </a:prstGeom>
          <a:solidFill>
            <a:srgbClr val="FCFAF5">
              <a:alpha val="0"/>
            </a:srgbClr>
          </a:solidFill>
          <a:ln w="6350">
            <a:solidFill>
              <a:srgbClr val="A7B4C0"/>
            </a:solidFill>
            <a:prstDash val="solid"/>
          </a:ln>
        </p:spPr>
      </p:sp>
      <p:sp>
        <p:nvSpPr>
          <p:cNvPr id="382" name="Shape 379"/>
          <p:cNvSpPr/>
          <p:nvPr/>
        </p:nvSpPr>
        <p:spPr>
          <a:xfrm>
            <a:off x="10857317" y="2769437"/>
            <a:ext cx="7292" cy="262368"/>
          </a:xfrm>
          <a:prstGeom prst="rect">
            <a:avLst/>
          </a:prstGeom>
          <a:solidFill>
            <a:srgbClr val="A7B4C0"/>
          </a:solidFill>
          <a:ln w="12700">
            <a:solidFill>
              <a:srgbClr val="A7B4C0">
                <a:alpha val="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9727106" y="2798589"/>
            <a:ext cx="1064586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接收通带半宽  f_bmax</a:t>
            </a:r>
            <a:endParaRPr lang="en-US" sz="8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Text 381"/>
          <p:cNvSpPr/>
          <p:nvPr/>
        </p:nvSpPr>
        <p:spPr>
          <a:xfrm>
            <a:off x="10915651" y="2798589"/>
            <a:ext cx="794794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 MHz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Shape 382"/>
          <p:cNvSpPr/>
          <p:nvPr/>
        </p:nvSpPr>
        <p:spPr>
          <a:xfrm>
            <a:off x="9858356" y="3308748"/>
            <a:ext cx="1691671" cy="269656"/>
          </a:xfrm>
          <a:prstGeom prst="roundRect">
            <a:avLst/>
          </a:prstGeom>
          <a:solidFill>
            <a:srgbClr val="07345E"/>
          </a:solidFill>
          <a:ln w="12700">
            <a:solidFill>
              <a:srgbClr val="07345E">
                <a:alpha val="0"/>
              </a:srgbClr>
            </a:solidFill>
            <a:prstDash val="solid"/>
          </a:ln>
        </p:spPr>
      </p:sp>
      <p:sp>
        <p:nvSpPr>
          <p:cNvPr id="386" name="Text 383"/>
          <p:cNvSpPr/>
          <p:nvPr/>
        </p:nvSpPr>
        <p:spPr>
          <a:xfrm>
            <a:off x="9902107" y="3337900"/>
            <a:ext cx="1604170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联合决策建模（MDP）</a:t>
            </a:r>
            <a:endParaRPr lang="en-US" sz="10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Text 384"/>
          <p:cNvSpPr/>
          <p:nvPr/>
        </p:nvSpPr>
        <p:spPr>
          <a:xfrm>
            <a:off x="9676064" y="3636708"/>
            <a:ext cx="816669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状态向量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Shape 385"/>
          <p:cNvSpPr/>
          <p:nvPr/>
        </p:nvSpPr>
        <p:spPr>
          <a:xfrm>
            <a:off x="9785440" y="3811620"/>
            <a:ext cx="1917713" cy="422704"/>
          </a:xfrm>
          <a:prstGeom prst="round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7E9BB8"/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9843773" y="3840772"/>
            <a:ext cx="1801046" cy="2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i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s_t = [a(t−1), r(t−1), SINR(t)]</a:t>
            </a:r>
            <a:endParaRPr lang="en-US" sz="9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Text 387"/>
          <p:cNvSpPr/>
          <p:nvPr/>
        </p:nvSpPr>
        <p:spPr>
          <a:xfrm>
            <a:off x="9880231" y="4037547"/>
            <a:ext cx="1720837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历史动作    接收特征    信干噪比</a:t>
            </a:r>
            <a:endParaRPr lang="en-US" sz="7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1" name="Text 388"/>
          <p:cNvSpPr/>
          <p:nvPr/>
        </p:nvSpPr>
        <p:spPr>
          <a:xfrm>
            <a:off x="9676064" y="4358219"/>
            <a:ext cx="816669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动作空间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Shape 389"/>
          <p:cNvSpPr/>
          <p:nvPr/>
        </p:nvSpPr>
        <p:spPr>
          <a:xfrm>
            <a:off x="9785440" y="4533131"/>
            <a:ext cx="1917713" cy="422704"/>
          </a:xfrm>
          <a:prstGeom prst="round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7E9BB8"/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9843773" y="4569571"/>
            <a:ext cx="1801046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A={(f_c,i, t_d,j)}, i,j∈{1,2,3}, |A|=9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Text 391"/>
          <p:cNvSpPr/>
          <p:nvPr/>
        </p:nvSpPr>
        <p:spPr>
          <a:xfrm>
            <a:off x="9676064" y="5043290"/>
            <a:ext cx="1006252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奖励与规划深度</a:t>
            </a:r>
            <a:endParaRPr lang="en-US" sz="9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5" name="Shape 392"/>
          <p:cNvSpPr/>
          <p:nvPr/>
        </p:nvSpPr>
        <p:spPr>
          <a:xfrm>
            <a:off x="9785440" y="5203626"/>
            <a:ext cx="1917713" cy="225928"/>
          </a:xfrm>
          <a:prstGeom prst="round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7E9BB8"/>
            </a:solidFill>
            <a:prstDash val="solid"/>
          </a:ln>
        </p:spPr>
      </p:sp>
      <p:sp>
        <p:nvSpPr>
          <p:cNvPr id="396" name="Text 393"/>
          <p:cNvSpPr/>
          <p:nvPr/>
        </p:nvSpPr>
        <p:spPr>
          <a:xfrm>
            <a:off x="9843773" y="5225490"/>
            <a:ext cx="1801046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 = r_s + r_AC；k = 20</a:t>
            </a:r>
            <a:endParaRPr lang="en-US" sz="9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Shape 394"/>
          <p:cNvSpPr/>
          <p:nvPr/>
        </p:nvSpPr>
        <p:spPr>
          <a:xfrm>
            <a:off x="211459" y="5604465"/>
            <a:ext cx="11754194" cy="852695"/>
          </a:xfrm>
          <a:prstGeom prst="roundRect">
            <a:avLst/>
          </a:prstGeom>
          <a:solidFill>
            <a:srgbClr val="07345E"/>
          </a:solidFill>
          <a:ln w="12700">
            <a:solidFill>
              <a:srgbClr val="07345E">
                <a:alpha val="0"/>
              </a:srgbClr>
            </a:solidFill>
            <a:prstDash val="solid"/>
          </a:ln>
        </p:spPr>
      </p:sp>
      <p:pic>
        <p:nvPicPr>
          <p:cNvPr id="398" name="Image 1" descr="so_what_icon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1043" y="5728361"/>
            <a:ext cx="481251" cy="481007"/>
          </a:xfrm>
          <a:prstGeom prst="rect">
            <a:avLst/>
          </a:prstGeom>
        </p:spPr>
      </p:pic>
      <p:sp>
        <p:nvSpPr>
          <p:cNvPr id="399" name="Text 395"/>
          <p:cNvSpPr/>
          <p:nvPr/>
        </p:nvSpPr>
        <p:spPr>
          <a:xfrm>
            <a:off x="926044" y="5772089"/>
            <a:ext cx="488543" cy="4518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SO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WHAT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Shape 396"/>
          <p:cNvSpPr/>
          <p:nvPr/>
        </p:nvSpPr>
        <p:spPr>
          <a:xfrm>
            <a:off x="1575004" y="5735649"/>
            <a:ext cx="14583" cy="568463"/>
          </a:xfrm>
          <a:prstGeom prst="rect">
            <a:avLst/>
          </a:prstGeom>
          <a:solidFill>
            <a:srgbClr val="D4E3EF"/>
          </a:solidFill>
          <a:ln w="12700">
            <a:solidFill>
              <a:srgbClr val="D4E3EF">
                <a:alpha val="0"/>
              </a:srgbClr>
            </a:solidFill>
            <a:prstDash val="solid"/>
          </a:ln>
        </p:spPr>
      </p:sp>
      <p:pic>
        <p:nvPicPr>
          <p:cNvPr id="401" name="Image 2" descr="conclusion_bulb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06254" y="5801241"/>
            <a:ext cx="437501" cy="437279"/>
          </a:xfrm>
          <a:prstGeom prst="rect">
            <a:avLst/>
          </a:prstGeom>
        </p:spPr>
      </p:pic>
      <p:sp>
        <p:nvSpPr>
          <p:cNvPr id="402" name="Text 397"/>
          <p:cNvSpPr/>
          <p:nvPr/>
        </p:nvSpPr>
        <p:spPr>
          <a:xfrm>
            <a:off x="2180213" y="5895985"/>
            <a:ext cx="5002095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联合空间扩大避干扰机会，也把探索负担由3维提高到9维</a:t>
            </a:r>
            <a:endParaRPr lang="en-US" sz="15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3" name="Shape 398"/>
          <p:cNvSpPr/>
          <p:nvPr/>
        </p:nvSpPr>
        <p:spPr>
          <a:xfrm rot="2601805">
            <a:off x="7361834" y="5983441"/>
            <a:ext cx="180534" cy="3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4" name="Shape 399"/>
          <p:cNvSpPr/>
          <p:nvPr/>
        </p:nvSpPr>
        <p:spPr>
          <a:xfrm rot="-2601805">
            <a:off x="7361834" y="6107337"/>
            <a:ext cx="180534" cy="3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5" name="Shape 400"/>
          <p:cNvSpPr/>
          <p:nvPr/>
        </p:nvSpPr>
        <p:spPr>
          <a:xfrm rot="2601805">
            <a:off x="7493084" y="5983441"/>
            <a:ext cx="180534" cy="3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6" name="Shape 401"/>
          <p:cNvSpPr/>
          <p:nvPr/>
        </p:nvSpPr>
        <p:spPr>
          <a:xfrm rot="-2601805">
            <a:off x="7493084" y="6107337"/>
            <a:ext cx="180534" cy="3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7" name="Image 3" descr="implication_success_icon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9185" y="5779377"/>
            <a:ext cx="401043" cy="400840"/>
          </a:xfrm>
          <a:prstGeom prst="rect">
            <a:avLst/>
          </a:prstGeom>
        </p:spPr>
      </p:pic>
      <p:sp>
        <p:nvSpPr>
          <p:cNvPr id="408" name="Text 402"/>
          <p:cNvSpPr/>
          <p:nvPr/>
        </p:nvSpPr>
        <p:spPr>
          <a:xfrm>
            <a:off x="8195853" y="5808529"/>
            <a:ext cx="845835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8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更高</a:t>
            </a:r>
            <a:endParaRPr lang="en-US" sz="9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8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避干扰成功率</a:t>
            </a:r>
            <a:endParaRPr lang="en-US" sz="9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09" name="Image 4" descr="implication_adaptation_icon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02105" y="5779377"/>
            <a:ext cx="401043" cy="400840"/>
          </a:xfrm>
          <a:prstGeom prst="rect">
            <a:avLst/>
          </a:prstGeom>
        </p:spPr>
      </p:pic>
      <p:sp>
        <p:nvSpPr>
          <p:cNvPr id="410" name="Text 403"/>
          <p:cNvSpPr/>
          <p:nvPr/>
        </p:nvSpPr>
        <p:spPr>
          <a:xfrm>
            <a:off x="9668773" y="5808529"/>
            <a:ext cx="845835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8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更强</a:t>
            </a:r>
            <a:endParaRPr lang="en-US" sz="9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8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环境适应性</a:t>
            </a:r>
            <a:endParaRPr lang="en-US" sz="9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11" name="Image 5" descr="implication_burden_icon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87525" y="5779377"/>
            <a:ext cx="401043" cy="400840"/>
          </a:xfrm>
          <a:prstGeom prst="rect">
            <a:avLst/>
          </a:prstGeom>
        </p:spPr>
      </p:pic>
      <p:sp>
        <p:nvSpPr>
          <p:cNvPr id="412" name="Text 404"/>
          <p:cNvSpPr/>
          <p:nvPr/>
        </p:nvSpPr>
        <p:spPr>
          <a:xfrm>
            <a:off x="11054193" y="5808529"/>
            <a:ext cx="845835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8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更重</a:t>
            </a:r>
            <a:endParaRPr lang="en-US" sz="9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8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探索负担</a:t>
            </a:r>
            <a:endParaRPr lang="en-US" sz="9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3" name="Text 405"/>
          <p:cNvSpPr/>
          <p:nvPr/>
        </p:nvSpPr>
        <p:spPr>
          <a:xfrm>
            <a:off x="8531270" y="6325977"/>
            <a:ext cx="3135424" cy="87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BFD0D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来源：E02、E03、S2:p3-p6、S2:p14-p15</a:t>
            </a:r>
            <a:endParaRPr lang="en-US" sz="6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462</Words>
  <Application>Microsoft Macintosh PowerPoint</Application>
  <PresentationFormat>宽屏</PresentationFormat>
  <Paragraphs>112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基于分层强化学习的FMCW雷达抗干扰策略优化</dc:title>
  <dc:subject>研究生中期答辩</dc:subject>
  <dc:creator>林渠</dc:creator>
  <cp:lastModifiedBy>linqu</cp:lastModifiedBy>
  <cp:revision>2</cp:revision>
  <dcterms:created xsi:type="dcterms:W3CDTF">2026-07-23T08:03:23Z</dcterms:created>
  <dcterms:modified xsi:type="dcterms:W3CDTF">2026-07-23T09:41:47Z</dcterms:modified>
</cp:coreProperties>
</file>