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IVORY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792" y="0"/>
            <a:ext cx="802085" cy="444567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94792" y="378976"/>
            <a:ext cx="802085" cy="225928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2501" y="72880"/>
            <a:ext cx="422918" cy="33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091674" y="102032"/>
            <a:ext cx="5738555" cy="30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基于分层强化学习的FMCW雷达抗干扰策略优化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02107" y="145760"/>
            <a:ext cx="2129172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工作成果｜阶段性验证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47919" y="444567"/>
            <a:ext cx="11214610" cy="291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21880" y="685071"/>
            <a:ext cx="7984394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联合执行策略和机会驱动特征已得到阶段性验证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916673" y="1195231"/>
            <a:ext cx="6467723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65B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联合时频策略兼顾性能与稳定性，元控制器主要依赖维度机会特征做判断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9375" y="1523190"/>
            <a:ext cx="6438557" cy="3192140"/>
          </a:xfrm>
          <a:prstGeom prst="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6D8C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50016" y="1523190"/>
            <a:ext cx="5381263" cy="2091654"/>
          </a:xfrm>
          <a:prstGeom prst="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6D8C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50016" y="3680436"/>
            <a:ext cx="5381263" cy="1034895"/>
          </a:xfrm>
          <a:prstGeom prst="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6D8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79172" y="1596070"/>
            <a:ext cx="2588548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四策略平均SINR对比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35435" y="1603358"/>
            <a:ext cx="284375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特征重要性（元控制器）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0419" y="4321779"/>
            <a:ext cx="5490638" cy="3644"/>
          </a:xfrm>
          <a:prstGeom prst="line">
            <a:avLst/>
          </a:prstGeom>
          <a:noFill/>
          <a:ln w="8255">
            <a:solidFill>
              <a:srgbClr val="B3C1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001" y="4234323"/>
            <a:ext cx="240626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60419" y="3845144"/>
            <a:ext cx="5490638" cy="3644"/>
          </a:xfrm>
          <a:prstGeom prst="line">
            <a:avLst/>
          </a:prstGeom>
          <a:noFill/>
          <a:ln w="8255">
            <a:solidFill>
              <a:srgbClr val="B3C1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001" y="3757688"/>
            <a:ext cx="240626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60419" y="3368510"/>
            <a:ext cx="5490638" cy="3644"/>
          </a:xfrm>
          <a:prstGeom prst="line">
            <a:avLst/>
          </a:prstGeom>
          <a:noFill/>
          <a:ln w="8255">
            <a:solidFill>
              <a:srgbClr val="B3C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001" y="3281054"/>
            <a:ext cx="240626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60419" y="2891875"/>
            <a:ext cx="5490638" cy="3644"/>
          </a:xfrm>
          <a:prstGeom prst="line">
            <a:avLst/>
          </a:prstGeom>
          <a:noFill/>
          <a:ln w="8255">
            <a:solidFill>
              <a:srgbClr val="B3C1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001" y="2804419"/>
            <a:ext cx="240626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60419" y="2415240"/>
            <a:ext cx="5490638" cy="3644"/>
          </a:xfrm>
          <a:prstGeom prst="line">
            <a:avLst/>
          </a:prstGeom>
          <a:noFill/>
          <a:ln w="8255">
            <a:solidFill>
              <a:srgbClr val="B3C1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001" y="2327784"/>
            <a:ext cx="240626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60419" y="1938606"/>
            <a:ext cx="5490638" cy="3644"/>
          </a:xfrm>
          <a:prstGeom prst="line">
            <a:avLst/>
          </a:prstGeom>
          <a:noFill/>
          <a:ln w="8255">
            <a:solidFill>
              <a:srgbClr val="B3C1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001" y="1851150"/>
            <a:ext cx="240626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60419" y="1938606"/>
            <a:ext cx="3646" cy="2383173"/>
          </a:xfrm>
          <a:prstGeom prst="line">
            <a:avLst/>
          </a:prstGeom>
          <a:noFill/>
          <a:ln w="10795">
            <a:solidFill>
              <a:srgbClr val="1018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0419" y="4321779"/>
            <a:ext cx="5490638" cy="3644"/>
          </a:xfrm>
          <a:prstGeom prst="line">
            <a:avLst/>
          </a:prstGeom>
          <a:noFill/>
          <a:ln w="10795">
            <a:solidFill>
              <a:srgbClr val="1018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 rot="16200000">
            <a:off x="0" y="2966213"/>
            <a:ext cx="70000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平均SINR（dB）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130211" y="3598248"/>
            <a:ext cx="780210" cy="723531"/>
          </a:xfrm>
          <a:prstGeom prst="rect">
            <a:avLst/>
          </a:prstGeom>
          <a:solidFill>
            <a:srgbClr val="A7B8CC"/>
          </a:solidFill>
          <a:ln w="12700">
            <a:solidFill>
              <a:srgbClr val="A7B8C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20316" y="2659277"/>
            <a:ext cx="3646" cy="1662502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69274" y="2659277"/>
            <a:ext cx="102084" cy="3644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69274" y="4321779"/>
            <a:ext cx="102084" cy="3644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86461" y="2565373"/>
            <a:ext cx="867710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2.59±9.85 dB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06252" y="4372795"/>
            <a:ext cx="102812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Baseline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59381" y="3059650"/>
            <a:ext cx="780210" cy="1262129"/>
          </a:xfrm>
          <a:prstGeom prst="rect">
            <a:avLst/>
          </a:prstGeom>
          <a:solidFill>
            <a:srgbClr val="8097B3"/>
          </a:solidFill>
          <a:ln w="12700">
            <a:solidFill>
              <a:srgbClr val="8097B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49486" y="2754604"/>
            <a:ext cx="3646" cy="610092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98444" y="2754604"/>
            <a:ext cx="102084" cy="3644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98444" y="3364697"/>
            <a:ext cx="102084" cy="3644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5631" y="2565373"/>
            <a:ext cx="867710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8.24±3.20 dB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435422" y="4372795"/>
            <a:ext cx="102812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freq_only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988551" y="3103501"/>
            <a:ext cx="780210" cy="1218278"/>
          </a:xfrm>
          <a:prstGeom prst="rect">
            <a:avLst/>
          </a:prstGeom>
          <a:solidFill>
            <a:srgbClr val="8097B3"/>
          </a:solidFill>
          <a:ln w="12700">
            <a:solidFill>
              <a:srgbClr val="8097B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78656" y="2663090"/>
            <a:ext cx="3646" cy="880821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27614" y="2663090"/>
            <a:ext cx="102084" cy="3644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27614" y="3543911"/>
            <a:ext cx="102084" cy="3644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44801" y="2565373"/>
            <a:ext cx="867710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7.78±4.62 dB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864592" y="4372795"/>
            <a:ext cx="102812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time_only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417721" y="2939538"/>
            <a:ext cx="780210" cy="1382240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07826" y="2885202"/>
            <a:ext cx="3646" cy="108673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56784" y="2885202"/>
            <a:ext cx="102084" cy="3644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56784" y="2993875"/>
            <a:ext cx="102084" cy="3644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73971" y="2681138"/>
            <a:ext cx="867710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9.50±0.57 dB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293762" y="4372795"/>
            <a:ext cx="102812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joint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670851" y="1909454"/>
            <a:ext cx="3646" cy="1610646"/>
          </a:xfrm>
          <a:prstGeom prst="line">
            <a:avLst/>
          </a:prstGeom>
          <a:noFill/>
          <a:ln w="8890">
            <a:solidFill>
              <a:srgbClr val="10182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70851" y="1938606"/>
            <a:ext cx="3682300" cy="218640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39599" y="1924030"/>
            <a:ext cx="74375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fc_td_ratio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1426068" y="1924030"/>
            <a:ext cx="546876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0.3184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670851" y="2266565"/>
            <a:ext cx="2486464" cy="218640"/>
          </a:xfrm>
          <a:prstGeom prst="rect">
            <a:avLst/>
          </a:prstGeom>
          <a:solidFill>
            <a:srgbClr val="8097B3"/>
          </a:solidFill>
          <a:ln w="12700">
            <a:solidFill>
              <a:srgbClr val="8097B3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39599" y="2251989"/>
            <a:ext cx="74375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td_gap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0230232" y="2251989"/>
            <a:ext cx="546876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0.2247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670851" y="2594525"/>
            <a:ext cx="2413547" cy="218640"/>
          </a:xfrm>
          <a:prstGeom prst="rect">
            <a:avLst/>
          </a:prstGeom>
          <a:solidFill>
            <a:srgbClr val="8097B3"/>
          </a:solidFill>
          <a:ln w="12700">
            <a:solidFill>
              <a:srgbClr val="8097B3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39599" y="2579949"/>
            <a:ext cx="74375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fc_gap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10157315" y="2579949"/>
            <a:ext cx="546876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0.2202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670851" y="2929773"/>
            <a:ext cx="896877" cy="218640"/>
          </a:xfrm>
          <a:prstGeom prst="rect">
            <a:avLst/>
          </a:prstGeom>
          <a:solidFill>
            <a:srgbClr val="A7B8CC"/>
          </a:solidFill>
          <a:ln w="12700">
            <a:solidFill>
              <a:srgbClr val="A7B8CC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39599" y="2915197"/>
            <a:ext cx="74375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r_avoid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640645" y="2915197"/>
            <a:ext cx="546876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0.0724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670851" y="3257732"/>
            <a:ext cx="678127" cy="218640"/>
          </a:xfrm>
          <a:prstGeom prst="rect">
            <a:avLst/>
          </a:prstGeom>
          <a:solidFill>
            <a:srgbClr val="A7B8CC"/>
          </a:solidFill>
          <a:ln w="12700">
            <a:solidFill>
              <a:srgbClr val="A7B8CC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39599" y="3243156"/>
            <a:ext cx="74375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H_action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421895" y="3243156"/>
            <a:ext cx="546876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0.0518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9282313" y="3811620"/>
            <a:ext cx="3646" cy="772527"/>
          </a:xfrm>
          <a:prstGeom prst="line">
            <a:avLst/>
          </a:prstGeom>
          <a:noFill/>
          <a:ln w="8255">
            <a:solidFill>
              <a:srgbClr val="8FA3B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92725" y="3848060"/>
            <a:ext cx="2078130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+6.91 dB</a:t>
            </a:r>
            <a:endParaRPr lang="en-US" sz="2800" dirty="0"/>
          </a:p>
        </p:txBody>
      </p:sp>
      <p:sp>
        <p:nvSpPr>
          <p:cNvPr id="72" name="Text 70"/>
          <p:cNvSpPr/>
          <p:nvPr/>
        </p:nvSpPr>
        <p:spPr>
          <a:xfrm>
            <a:off x="7094808" y="4372795"/>
            <a:ext cx="1917713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joint相对Baseline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9697939" y="3848060"/>
            <a:ext cx="1997921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+2.3 dB</a:t>
            </a:r>
            <a:endParaRPr lang="en-US" sz="2800" dirty="0"/>
          </a:p>
        </p:txBody>
      </p:sp>
      <p:sp>
        <p:nvSpPr>
          <p:cNvPr id="74" name="Text 72"/>
          <p:cNvSpPr/>
          <p:nvPr/>
        </p:nvSpPr>
        <p:spPr>
          <a:xfrm>
            <a:off x="9916690" y="4372795"/>
            <a:ext cx="1662504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GRU组件贡献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109375" y="4788210"/>
            <a:ext cx="11929195" cy="663207"/>
          </a:xfrm>
          <a:prstGeom prst="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6D8CB0"/>
            </a:solidFill>
            <a:prstDash val="solid"/>
          </a:ln>
        </p:spPr>
      </p:sp>
      <p:pic>
        <p:nvPicPr>
          <p:cNvPr id="76" name="Image 0" descr="finding_check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501" y="4868378"/>
            <a:ext cx="561460" cy="524735"/>
          </a:xfrm>
          <a:prstGeom prst="rect">
            <a:avLst/>
          </a:prstGeom>
        </p:spPr>
      </p:pic>
      <p:pic>
        <p:nvPicPr>
          <p:cNvPr id="77" name="Image 1" descr="finding_check_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052" y="4868378"/>
            <a:ext cx="561460" cy="524735"/>
          </a:xfrm>
          <a:prstGeom prst="rect">
            <a:avLst/>
          </a:prstGeom>
        </p:spPr>
      </p:pic>
      <p:pic>
        <p:nvPicPr>
          <p:cNvPr id="78" name="Image 2" descr="finding_check_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810" y="4868378"/>
            <a:ext cx="561460" cy="524735"/>
          </a:xfrm>
          <a:prstGeom prst="rect">
            <a:avLst/>
          </a:prstGeom>
        </p:spPr>
      </p:pic>
      <p:sp>
        <p:nvSpPr>
          <p:cNvPr id="79" name="Shape 74"/>
          <p:cNvSpPr/>
          <p:nvPr/>
        </p:nvSpPr>
        <p:spPr>
          <a:xfrm>
            <a:off x="3871884" y="4963122"/>
            <a:ext cx="3646" cy="349824"/>
          </a:xfrm>
          <a:prstGeom prst="line">
            <a:avLst/>
          </a:prstGeom>
          <a:noFill/>
          <a:ln w="8255">
            <a:solidFill>
              <a:srgbClr val="9BA8B5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7386476" y="4963122"/>
            <a:ext cx="3646" cy="349824"/>
          </a:xfrm>
          <a:prstGeom prst="line">
            <a:avLst/>
          </a:prstGeom>
          <a:noFill/>
          <a:ln w="8255">
            <a:solidFill>
              <a:srgbClr val="9BA8B5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1363545" y="4875666"/>
            <a:ext cx="2347922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joint最终SINR最高</a:t>
            </a:r>
            <a:endParaRPr lang="en-US" sz="1300" dirty="0"/>
          </a:p>
        </p:txBody>
      </p:sp>
      <p:sp>
        <p:nvSpPr>
          <p:cNvPr id="82" name="Text 77"/>
          <p:cNvSpPr/>
          <p:nvPr/>
        </p:nvSpPr>
        <p:spPr>
          <a:xfrm>
            <a:off x="1363545" y="5138034"/>
            <a:ext cx="2347922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平均SINR达到9.50 dB</a:t>
            </a:r>
            <a:endParaRPr lang="en-US" sz="1050" dirty="0"/>
          </a:p>
        </p:txBody>
      </p:sp>
      <p:sp>
        <p:nvSpPr>
          <p:cNvPr id="83" name="Text 78"/>
          <p:cNvSpPr/>
          <p:nvPr/>
        </p:nvSpPr>
        <p:spPr>
          <a:xfrm>
            <a:off x="5096887" y="4875666"/>
            <a:ext cx="2238547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joint标准差最低</a:t>
            </a:r>
            <a:endParaRPr lang="en-US" sz="1300" dirty="0"/>
          </a:p>
        </p:txBody>
      </p:sp>
      <p:sp>
        <p:nvSpPr>
          <p:cNvPr id="84" name="Text 79"/>
          <p:cNvSpPr/>
          <p:nvPr/>
        </p:nvSpPr>
        <p:spPr>
          <a:xfrm>
            <a:off x="5096887" y="5138034"/>
            <a:ext cx="2238547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标准差仅为0.57 dB</a:t>
            </a:r>
            <a:endParaRPr lang="en-US" sz="1050" dirty="0"/>
          </a:p>
        </p:txBody>
      </p:sp>
      <p:sp>
        <p:nvSpPr>
          <p:cNvPr id="85" name="Text 80"/>
          <p:cNvSpPr/>
          <p:nvPr/>
        </p:nvSpPr>
        <p:spPr>
          <a:xfrm>
            <a:off x="8677104" y="4875666"/>
            <a:ext cx="3040632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前三项特征均刻画维度优化机会</a:t>
            </a:r>
            <a:endParaRPr lang="en-US" sz="1220" dirty="0"/>
          </a:p>
        </p:txBody>
      </p:sp>
      <p:sp>
        <p:nvSpPr>
          <p:cNvPr id="86" name="Text 81"/>
          <p:cNvSpPr/>
          <p:nvPr/>
        </p:nvSpPr>
        <p:spPr>
          <a:xfrm>
            <a:off x="8677104" y="5138034"/>
            <a:ext cx="3040632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均为机会相关度量，支持机理设计</a:t>
            </a:r>
            <a:endParaRPr lang="en-US" sz="1050" dirty="0"/>
          </a:p>
        </p:txBody>
      </p:sp>
      <p:sp>
        <p:nvSpPr>
          <p:cNvPr id="87" name="Shape 82"/>
          <p:cNvSpPr/>
          <p:nvPr/>
        </p:nvSpPr>
        <p:spPr>
          <a:xfrm>
            <a:off x="109375" y="5538874"/>
            <a:ext cx="11929195" cy="488295"/>
          </a:xfrm>
          <a:prstGeom prst="rect">
            <a:avLst/>
          </a:prstGeom>
          <a:solidFill>
            <a:srgbClr val="FCFAF5">
              <a:alpha val="0"/>
            </a:srgbClr>
          </a:solidFill>
          <a:ln w="10160">
            <a:solidFill>
              <a:srgbClr val="062B50"/>
            </a:solidFill>
            <a:prstDash val="solid"/>
          </a:ln>
        </p:spPr>
      </p:sp>
      <p:pic>
        <p:nvPicPr>
          <p:cNvPr id="88" name="Image 3" descr="caveat_warn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2923" y="5589889"/>
            <a:ext cx="437501" cy="400840"/>
          </a:xfrm>
          <a:prstGeom prst="rect">
            <a:avLst/>
          </a:prstGeom>
        </p:spPr>
      </p:pic>
      <p:sp>
        <p:nvSpPr>
          <p:cNvPr id="89" name="Text 83"/>
          <p:cNvSpPr/>
          <p:nvPr/>
        </p:nvSpPr>
        <p:spPr>
          <a:xfrm>
            <a:off x="3470841" y="5633617"/>
            <a:ext cx="6059389" cy="30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执行层结果与系统级Meta-RF结果属于不同实验层次</a:t>
            </a:r>
            <a:endParaRPr lang="en-US" sz="1350" dirty="0"/>
          </a:p>
        </p:txBody>
      </p:sp>
      <p:sp>
        <p:nvSpPr>
          <p:cNvPr id="90" name="Shape 84"/>
          <p:cNvSpPr/>
          <p:nvPr/>
        </p:nvSpPr>
        <p:spPr>
          <a:xfrm>
            <a:off x="109375" y="6100049"/>
            <a:ext cx="11929195" cy="641343"/>
          </a:xfrm>
          <a:prstGeom prst="round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pic>
        <p:nvPicPr>
          <p:cNvPr id="91" name="Image 4" descr="conclusion_troph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170" y="6121913"/>
            <a:ext cx="612501" cy="597615"/>
          </a:xfrm>
          <a:prstGeom prst="rect">
            <a:avLst/>
          </a:prstGeom>
        </p:spPr>
      </p:pic>
      <p:sp>
        <p:nvSpPr>
          <p:cNvPr id="92" name="Text 85"/>
          <p:cNvSpPr/>
          <p:nvPr/>
        </p:nvSpPr>
        <p:spPr>
          <a:xfrm>
            <a:off x="2114588" y="6209369"/>
            <a:ext cx="8137519" cy="39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底层证明联合搜索有效，上层进一步学习何时缩小搜索范围</a:t>
            </a:r>
            <a:endParaRPr lang="en-US" sz="1800" dirty="0"/>
          </a:p>
        </p:txBody>
      </p:sp>
      <p:sp>
        <p:nvSpPr>
          <p:cNvPr id="93" name="Text 86"/>
          <p:cNvSpPr/>
          <p:nvPr/>
        </p:nvSpPr>
        <p:spPr>
          <a:xfrm>
            <a:off x="9625023" y="6602920"/>
            <a:ext cx="2078130" cy="94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C5D7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来源：E07 / E09；S1:p10–12；S2:p12,p17,p20；S3:p3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基于分层强化学习的FMCW雷达抗干扰策略优化</dc:title>
  <dc:subject>研究生中期答辩</dc:subject>
  <dc:creator>林渠</dc:creator>
  <cp:lastModifiedBy>林渠</cp:lastModifiedBy>
  <cp:revision>1</cp:revision>
  <dcterms:created xsi:type="dcterms:W3CDTF">2026-07-23T09:22:46Z</dcterms:created>
  <dcterms:modified xsi:type="dcterms:W3CDTF">2026-07-23T09:22:46Z</dcterms:modified>
</cp:coreProperties>
</file>